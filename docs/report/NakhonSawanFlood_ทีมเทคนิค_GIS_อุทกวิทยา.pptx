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แม่วงก์-สะแกกรัง (Ct.5A) — ค่าตรวจวัด 7 วันและพยากรณ์ 72 ชม.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ค่าตรวจวัด</c:v>
                </c:pt>
              </c:strCache>
            </c:strRef>
          </c:tx>
          <c:spPr>
            <a:solidFill>
              <a:srgbClr val="0B3C5D"/>
            </a:solidFill>
            <a:ln w="2540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90</c:v>
                </c:pt>
                <c:pt idx="1">
                  <c:v>76</c:v>
                </c:pt>
                <c:pt idx="2">
                  <c:v>66</c:v>
                </c:pt>
                <c:pt idx="3">
                  <c:v>58</c:v>
                </c:pt>
                <c:pt idx="4">
                  <c:v>53</c:v>
                </c:pt>
                <c:pt idx="5">
                  <c:v>51</c:v>
                </c:pt>
                <c:pt idx="6">
                  <c:v>51</c:v>
                </c:pt>
                <c:pt idx="7">
                  <c:v>52</c:v>
                </c:pt>
                <c:pt idx="8">
                  <c:v>55</c:v>
                </c:pt>
                <c:pt idx="9">
                  <c:v>55</c:v>
                </c:pt>
                <c:pt idx="10">
                  <c:v>58</c:v>
                </c:pt>
                <c:pt idx="11">
                  <c:v>54</c:v>
                </c:pt>
                <c:pt idx="12">
                  <c:v>47</c:v>
                </c:pt>
                <c:pt idx="13">
                  <c:v>42</c:v>
                </c:pt>
                <c:pt idx="14">
                  <c:v>39</c:v>
                </c:pt>
                <c:pt idx="15">
                  <c:v>36</c:v>
                </c:pt>
                <c:pt idx="16">
                  <c:v>34</c:v>
                </c:pt>
                <c:pt idx="17">
                  <c:v>33</c:v>
                </c:pt>
                <c:pt idx="18">
                  <c:v>33</c:v>
                </c:pt>
                <c:pt idx="19">
                  <c:v>33</c:v>
                </c:pt>
                <c:pt idx="20">
                  <c:v>38</c:v>
                </c:pt>
                <c:pt idx="21">
                  <c:v>46</c:v>
                </c:pt>
                <c:pt idx="22">
                  <c:v>58</c:v>
                </c:pt>
                <c:pt idx="23">
                  <c:v>74</c:v>
                </c:pt>
                <c:pt idx="24">
                  <c:v>83</c:v>
                </c:pt>
                <c:pt idx="25">
                  <c:v>80</c:v>
                </c:pt>
                <c:pt idx="26">
                  <c:v>78</c:v>
                </c:pt>
                <c:pt idx="27">
                  <c:v>85</c:v>
                </c:pt>
                <c:pt idx="28">
                  <c:v>91</c:v>
                </c:pt>
                <c:pt idx="29">
                  <c:v>101</c:v>
                </c:pt>
                <c:pt idx="30">
                  <c:v>120</c:v>
                </c:pt>
                <c:pt idx="31">
                  <c:v>145</c:v>
                </c:pt>
                <c:pt idx="32">
                  <c:v>169</c:v>
                </c:pt>
                <c:pt idx="33">
                  <c:v>185</c:v>
                </c:pt>
                <c:pt idx="34">
                  <c:v>182</c:v>
                </c:pt>
                <c:pt idx="35">
                  <c:v>178</c:v>
                </c:pt>
                <c:pt idx="36">
                  <c:v>181</c:v>
                </c:pt>
                <c:pt idx="37">
                  <c:v>195</c:v>
                </c:pt>
                <c:pt idx="38">
                  <c:v>193</c:v>
                </c:pt>
                <c:pt idx="39">
                  <c:v>197</c:v>
                </c:pt>
                <c:pt idx="40">
                  <c:v>202</c:v>
                </c:pt>
                <c:pt idx="41">
                  <c:v>209</c:v>
                </c:pt>
                <c:pt idx="42">
                  <c:v>220</c:v>
                </c:pt>
                <c:pt idx="43">
                  <c:v>241</c:v>
                </c:pt>
                <c:pt idx="44">
                  <c:v>288</c:v>
                </c:pt>
                <c:pt idx="45">
                  <c:v>317</c:v>
                </c:pt>
                <c:pt idx="46">
                  <c:v>330</c:v>
                </c:pt>
                <c:pt idx="47">
                  <c:v>331</c:v>
                </c:pt>
                <c:pt idx="48">
                  <c:v>351</c:v>
                </c:pt>
                <c:pt idx="49">
                  <c:v>362</c:v>
                </c:pt>
                <c:pt idx="50">
                  <c:v>362</c:v>
                </c:pt>
                <c:pt idx="51">
                  <c:v>358</c:v>
                </c:pt>
                <c:pt idx="52">
                  <c:v>355</c:v>
                </c:pt>
                <c:pt idx="53">
                  <c:v>349</c:v>
                </c:pt>
                <c:pt idx="54">
                  <c:v>344</c:v>
                </c:pt>
                <c:pt idx="55">
                  <c:v>358</c:v>
                </c:pt>
                <c:pt idx="56">
                  <c:v>386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พยากรณ์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Sheet1!$C$2:$C$82</c:f>
              <c:numCache>
                <c:formatCode>General</c:formatCode>
                <c:ptCount val="81"/>
                <c:pt idx="56">
                  <c:v>386</c:v>
                </c:pt>
                <c:pt idx="57">
                  <c:v>404</c:v>
                </c:pt>
                <c:pt idx="58">
                  <c:v>418</c:v>
                </c:pt>
                <c:pt idx="59">
                  <c:v>429</c:v>
                </c:pt>
                <c:pt idx="60">
                  <c:v>437</c:v>
                </c:pt>
                <c:pt idx="61">
                  <c:v>398</c:v>
                </c:pt>
                <c:pt idx="62">
                  <c:v>362</c:v>
                </c:pt>
                <c:pt idx="63">
                  <c:v>329</c:v>
                </c:pt>
                <c:pt idx="64">
                  <c:v>300</c:v>
                </c:pt>
                <c:pt idx="65">
                  <c:v>273</c:v>
                </c:pt>
                <c:pt idx="66">
                  <c:v>249</c:v>
                </c:pt>
                <c:pt idx="67">
                  <c:v>226</c:v>
                </c:pt>
                <c:pt idx="68">
                  <c:v>206</c:v>
                </c:pt>
                <c:pt idx="69">
                  <c:v>188</c:v>
                </c:pt>
                <c:pt idx="70">
                  <c:v>172</c:v>
                </c:pt>
                <c:pt idx="71">
                  <c:v>157</c:v>
                </c:pt>
                <c:pt idx="72">
                  <c:v>143</c:v>
                </c:pt>
                <c:pt idx="73">
                  <c:v>131</c:v>
                </c:pt>
                <c:pt idx="74">
                  <c:v>119</c:v>
                </c:pt>
                <c:pt idx="75">
                  <c:v>109</c:v>
                </c:pt>
                <c:pt idx="76">
                  <c:v>100</c:v>
                </c:pt>
                <c:pt idx="77">
                  <c:v>91</c:v>
                </c:pt>
                <c:pt idx="78">
                  <c:v>84</c:v>
                </c:pt>
                <c:pt idx="79">
                  <c:v>77</c:v>
                </c:pt>
                <c:pt idx="80">
                  <c:v>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ความจุลำน้ำ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Sheet1!$A$2:$A$82</c:f>
              <c:multiLvlStrCache>
                <c:ptCount val="81"/>
                <c:lvl>
                  <c:pt idx="0">
                    <c:v>21/9 20:00</c:v>
                  </c:pt>
                  <c:pt idx="1">
                    <c:v>21/9 23:00</c:v>
                  </c:pt>
                  <c:pt idx="2">
                    <c:v>22/9 02:00</c:v>
                  </c:pt>
                  <c:pt idx="3">
                    <c:v>22/9 05:00</c:v>
                  </c:pt>
                  <c:pt idx="4">
                    <c:v>22/9 08:00</c:v>
                  </c:pt>
                  <c:pt idx="5">
                    <c:v>22/9 11:00</c:v>
                  </c:pt>
                  <c:pt idx="6">
                    <c:v>22/9 14:00</c:v>
                  </c:pt>
                  <c:pt idx="7">
                    <c:v>22/9 17:00</c:v>
                  </c:pt>
                  <c:pt idx="8">
                    <c:v>22/9 20:00</c:v>
                  </c:pt>
                  <c:pt idx="9">
                    <c:v>22/9 23:00</c:v>
                  </c:pt>
                  <c:pt idx="10">
                    <c:v>23/9 02:00</c:v>
                  </c:pt>
                  <c:pt idx="11">
                    <c:v>23/9 05:00</c:v>
                  </c:pt>
                  <c:pt idx="12">
                    <c:v>23/9 08:00</c:v>
                  </c:pt>
                  <c:pt idx="13">
                    <c:v>23/9 11:00</c:v>
                  </c:pt>
                  <c:pt idx="14">
                    <c:v>23/9 14:00</c:v>
                  </c:pt>
                  <c:pt idx="15">
                    <c:v>23/9 17:00</c:v>
                  </c:pt>
                  <c:pt idx="16">
                    <c:v>23/9 20:00</c:v>
                  </c:pt>
                  <c:pt idx="17">
                    <c:v>23/9 23:00</c:v>
                  </c:pt>
                  <c:pt idx="18">
                    <c:v>24/9 02:00</c:v>
                  </c:pt>
                  <c:pt idx="19">
                    <c:v>24/9 05:00</c:v>
                  </c:pt>
                  <c:pt idx="20">
                    <c:v>24/9 08:00</c:v>
                  </c:pt>
                  <c:pt idx="21">
                    <c:v>24/9 11:00</c:v>
                  </c:pt>
                  <c:pt idx="22">
                    <c:v>24/9 14:00</c:v>
                  </c:pt>
                  <c:pt idx="23">
                    <c:v>24/9 17:00</c:v>
                  </c:pt>
                  <c:pt idx="24">
                    <c:v>24/9 20:00</c:v>
                  </c:pt>
                  <c:pt idx="25">
                    <c:v>24/9 23:00</c:v>
                  </c:pt>
                  <c:pt idx="26">
                    <c:v>25/9 02:00</c:v>
                  </c:pt>
                  <c:pt idx="27">
                    <c:v>25/9 05:00</c:v>
                  </c:pt>
                  <c:pt idx="28">
                    <c:v>25/9 08:00</c:v>
                  </c:pt>
                  <c:pt idx="29">
                    <c:v>25/9 11:00</c:v>
                  </c:pt>
                  <c:pt idx="30">
                    <c:v>25/9 14:00</c:v>
                  </c:pt>
                  <c:pt idx="31">
                    <c:v>25/9 17:00</c:v>
                  </c:pt>
                  <c:pt idx="32">
                    <c:v>25/9 20:00</c:v>
                  </c:pt>
                  <c:pt idx="33">
                    <c:v>25/9 23:00</c:v>
                  </c:pt>
                  <c:pt idx="34">
                    <c:v>26/9 02:00</c:v>
                  </c:pt>
                  <c:pt idx="35">
                    <c:v>26/9 05:00</c:v>
                  </c:pt>
                  <c:pt idx="36">
                    <c:v>26/9 08:00</c:v>
                  </c:pt>
                  <c:pt idx="37">
                    <c:v>26/9 11:00</c:v>
                  </c:pt>
                  <c:pt idx="38">
                    <c:v>26/9 14:00</c:v>
                  </c:pt>
                  <c:pt idx="39">
                    <c:v>26/9 17:00</c:v>
                  </c:pt>
                  <c:pt idx="40">
                    <c:v>26/9 20:00</c:v>
                  </c:pt>
                  <c:pt idx="41">
                    <c:v>26/9 23:00</c:v>
                  </c:pt>
                  <c:pt idx="42">
                    <c:v>27/9 02:00</c:v>
                  </c:pt>
                  <c:pt idx="43">
                    <c:v>27/9 05:00</c:v>
                  </c:pt>
                  <c:pt idx="44">
                    <c:v>27/9 08:00</c:v>
                  </c:pt>
                  <c:pt idx="45">
                    <c:v>27/9 11:00</c:v>
                  </c:pt>
                  <c:pt idx="46">
                    <c:v>27/9 14:00</c:v>
                  </c:pt>
                  <c:pt idx="47">
                    <c:v>27/9 17:00</c:v>
                  </c:pt>
                  <c:pt idx="48">
                    <c:v>27/9 20:00</c:v>
                  </c:pt>
                  <c:pt idx="49">
                    <c:v>27/9 23:00</c:v>
                  </c:pt>
                  <c:pt idx="50">
                    <c:v>28/9 02:00</c:v>
                  </c:pt>
                  <c:pt idx="51">
                    <c:v>28/9 05:00</c:v>
                  </c:pt>
                  <c:pt idx="52">
                    <c:v>28/9 08:00</c:v>
                  </c:pt>
                  <c:pt idx="53">
                    <c:v>28/9 11:00</c:v>
                  </c:pt>
                  <c:pt idx="54">
                    <c:v>28/9 14:00</c:v>
                  </c:pt>
                  <c:pt idx="55">
                    <c:v>28/9 17:00</c:v>
                  </c:pt>
                  <c:pt idx="56">
                    <c:v>28/9 20:00</c:v>
                  </c:pt>
                  <c:pt idx="57">
                    <c:v>28/9 23:00</c:v>
                  </c:pt>
                  <c:pt idx="58">
                    <c:v>29/9 02:00</c:v>
                  </c:pt>
                  <c:pt idx="59">
                    <c:v>29/9 05:00</c:v>
                  </c:pt>
                  <c:pt idx="60">
                    <c:v>29/9 08:00</c:v>
                  </c:pt>
                  <c:pt idx="61">
                    <c:v>29/9 11:00</c:v>
                  </c:pt>
                  <c:pt idx="62">
                    <c:v>29/9 14:00</c:v>
                  </c:pt>
                  <c:pt idx="63">
                    <c:v>29/9 17:00</c:v>
                  </c:pt>
                  <c:pt idx="64">
                    <c:v>29/9 20:00</c:v>
                  </c:pt>
                  <c:pt idx="65">
                    <c:v>29/9 23:00</c:v>
                  </c:pt>
                  <c:pt idx="66">
                    <c:v>30/9 02:00</c:v>
                  </c:pt>
                  <c:pt idx="67">
                    <c:v>30/9 05:00</c:v>
                  </c:pt>
                  <c:pt idx="68">
                    <c:v>30/9 08:00</c:v>
                  </c:pt>
                  <c:pt idx="69">
                    <c:v>30/9 11:00</c:v>
                  </c:pt>
                  <c:pt idx="70">
                    <c:v>30/9 14:00</c:v>
                  </c:pt>
                  <c:pt idx="71">
                    <c:v>30/9 17:00</c:v>
                  </c:pt>
                  <c:pt idx="72">
                    <c:v>30/9 20:00</c:v>
                  </c:pt>
                  <c:pt idx="73">
                    <c:v>30/9 23:00</c:v>
                  </c:pt>
                  <c:pt idx="74">
                    <c:v>1/10 02:00</c:v>
                  </c:pt>
                  <c:pt idx="75">
                    <c:v>1/10 05:00</c:v>
                  </c:pt>
                  <c:pt idx="76">
                    <c:v>1/10 08:00</c:v>
                  </c:pt>
                  <c:pt idx="77">
                    <c:v>1/10 11:00</c:v>
                  </c:pt>
                  <c:pt idx="78">
                    <c:v>1/10 14:00</c:v>
                  </c:pt>
                  <c:pt idx="79">
                    <c:v>1/10 17:00</c:v>
                  </c:pt>
                  <c:pt idx="80">
                    <c:v>1/10 20:00</c:v>
                  </c:pt>
                </c:lvl>
              </c:multiLvlStrCache>
            </c:multiLvl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232</c:v>
                </c:pt>
                <c:pt idx="1">
                  <c:v>232</c:v>
                </c:pt>
                <c:pt idx="2">
                  <c:v>232</c:v>
                </c:pt>
                <c:pt idx="3">
                  <c:v>232</c:v>
                </c:pt>
                <c:pt idx="4">
                  <c:v>232</c:v>
                </c:pt>
                <c:pt idx="5">
                  <c:v>232</c:v>
                </c:pt>
                <c:pt idx="6">
                  <c:v>232</c:v>
                </c:pt>
                <c:pt idx="7">
                  <c:v>232</c:v>
                </c:pt>
                <c:pt idx="8">
                  <c:v>232</c:v>
                </c:pt>
                <c:pt idx="9">
                  <c:v>232</c:v>
                </c:pt>
                <c:pt idx="10">
                  <c:v>232</c:v>
                </c:pt>
                <c:pt idx="11">
                  <c:v>232</c:v>
                </c:pt>
                <c:pt idx="12">
                  <c:v>232</c:v>
                </c:pt>
                <c:pt idx="13">
                  <c:v>232</c:v>
                </c:pt>
                <c:pt idx="14">
                  <c:v>232</c:v>
                </c:pt>
                <c:pt idx="15">
                  <c:v>232</c:v>
                </c:pt>
                <c:pt idx="16">
                  <c:v>232</c:v>
                </c:pt>
                <c:pt idx="17">
                  <c:v>232</c:v>
                </c:pt>
                <c:pt idx="18">
                  <c:v>232</c:v>
                </c:pt>
                <c:pt idx="19">
                  <c:v>232</c:v>
                </c:pt>
                <c:pt idx="20">
                  <c:v>232</c:v>
                </c:pt>
                <c:pt idx="21">
                  <c:v>232</c:v>
                </c:pt>
                <c:pt idx="22">
                  <c:v>232</c:v>
                </c:pt>
                <c:pt idx="23">
                  <c:v>232</c:v>
                </c:pt>
                <c:pt idx="24">
                  <c:v>232</c:v>
                </c:pt>
                <c:pt idx="25">
                  <c:v>232</c:v>
                </c:pt>
                <c:pt idx="26">
                  <c:v>232</c:v>
                </c:pt>
                <c:pt idx="27">
                  <c:v>232</c:v>
                </c:pt>
                <c:pt idx="28">
                  <c:v>232</c:v>
                </c:pt>
                <c:pt idx="29">
                  <c:v>232</c:v>
                </c:pt>
                <c:pt idx="30">
                  <c:v>232</c:v>
                </c:pt>
                <c:pt idx="31">
                  <c:v>232</c:v>
                </c:pt>
                <c:pt idx="32">
                  <c:v>232</c:v>
                </c:pt>
                <c:pt idx="33">
                  <c:v>232</c:v>
                </c:pt>
                <c:pt idx="34">
                  <c:v>232</c:v>
                </c:pt>
                <c:pt idx="35">
                  <c:v>232</c:v>
                </c:pt>
                <c:pt idx="36">
                  <c:v>232</c:v>
                </c:pt>
                <c:pt idx="37">
                  <c:v>232</c:v>
                </c:pt>
                <c:pt idx="38">
                  <c:v>232</c:v>
                </c:pt>
                <c:pt idx="39">
                  <c:v>232</c:v>
                </c:pt>
                <c:pt idx="40">
                  <c:v>232</c:v>
                </c:pt>
                <c:pt idx="41">
                  <c:v>232</c:v>
                </c:pt>
                <c:pt idx="42">
                  <c:v>232</c:v>
                </c:pt>
                <c:pt idx="43">
                  <c:v>232</c:v>
                </c:pt>
                <c:pt idx="44">
                  <c:v>232</c:v>
                </c:pt>
                <c:pt idx="45">
                  <c:v>232</c:v>
                </c:pt>
                <c:pt idx="46">
                  <c:v>232</c:v>
                </c:pt>
                <c:pt idx="47">
                  <c:v>232</c:v>
                </c:pt>
                <c:pt idx="48">
                  <c:v>232</c:v>
                </c:pt>
                <c:pt idx="49">
                  <c:v>232</c:v>
                </c:pt>
                <c:pt idx="50">
                  <c:v>232</c:v>
                </c:pt>
                <c:pt idx="51">
                  <c:v>232</c:v>
                </c:pt>
                <c:pt idx="52">
                  <c:v>232</c:v>
                </c:pt>
                <c:pt idx="53">
                  <c:v>232</c:v>
                </c:pt>
                <c:pt idx="54">
                  <c:v>232</c:v>
                </c:pt>
                <c:pt idx="55">
                  <c:v>232</c:v>
                </c:pt>
                <c:pt idx="56">
                  <c:v>232</c:v>
                </c:pt>
                <c:pt idx="57">
                  <c:v>232</c:v>
                </c:pt>
                <c:pt idx="58">
                  <c:v>232</c:v>
                </c:pt>
                <c:pt idx="59">
                  <c:v>232</c:v>
                </c:pt>
                <c:pt idx="60">
                  <c:v>232</c:v>
                </c:pt>
                <c:pt idx="61">
                  <c:v>232</c:v>
                </c:pt>
                <c:pt idx="62">
                  <c:v>232</c:v>
                </c:pt>
                <c:pt idx="63">
                  <c:v>232</c:v>
                </c:pt>
                <c:pt idx="64">
                  <c:v>232</c:v>
                </c:pt>
                <c:pt idx="65">
                  <c:v>232</c:v>
                </c:pt>
                <c:pt idx="66">
                  <c:v>232</c:v>
                </c:pt>
                <c:pt idx="67">
                  <c:v>232</c:v>
                </c:pt>
                <c:pt idx="68">
                  <c:v>232</c:v>
                </c:pt>
                <c:pt idx="69">
                  <c:v>232</c:v>
                </c:pt>
                <c:pt idx="70">
                  <c:v>232</c:v>
                </c:pt>
                <c:pt idx="71">
                  <c:v>232</c:v>
                </c:pt>
                <c:pt idx="72">
                  <c:v>232</c:v>
                </c:pt>
                <c:pt idx="73">
                  <c:v>232</c:v>
                </c:pt>
                <c:pt idx="74">
                  <c:v>232</c:v>
                </c:pt>
                <c:pt idx="75">
                  <c:v>232</c:v>
                </c:pt>
                <c:pt idx="76">
                  <c:v>232</c:v>
                </c:pt>
                <c:pt idx="77">
                  <c:v>232</c:v>
                </c:pt>
                <c:pt idx="78">
                  <c:v>232</c:v>
                </c:pt>
                <c:pt idx="79">
                  <c:v>232</c:v>
                </c:pt>
                <c:pt idx="80">
                  <c:v>232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ลบ.ม./วิ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พื้นที่ลึก 10 ซม. ขึ้นไป แยกตามเวลาที่คาดว่าน้ำจะลด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1 วัน</c:v>
                </c:pt>
              </c:strCache>
            </c:strRef>
          </c:tx>
          <c:spPr>
            <a:solidFill>
              <a:srgbClr val="86EF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1.3</c:v>
                </c:pt>
                <c:pt idx="1">
                  <c:v>0.4</c:v>
                </c:pt>
                <c:pt idx="2">
                  <c:v>2</c:v>
                </c:pt>
                <c:pt idx="3">
                  <c:v>0.6</c:v>
                </c:pt>
                <c:pt idx="4">
                  <c:v>0.3</c:v>
                </c:pt>
                <c:pt idx="5">
                  <c:v>0.8</c:v>
                </c:pt>
                <c:pt idx="6">
                  <c:v>0.5</c:v>
                </c:pt>
                <c:pt idx="7">
                  <c:v>0.6</c:v>
                </c:pt>
                <c:pt idx="8">
                  <c:v>9.9</c:v>
                </c:pt>
                <c:pt idx="9">
                  <c:v>2.7</c:v>
                </c:pt>
                <c:pt idx="10">
                  <c:v>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1–3 วัน</c:v>
                </c:pt>
              </c:strCache>
            </c:strRef>
          </c:tx>
          <c:spPr>
            <a:solidFill>
              <a:srgbClr val="FDE0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</c:v>
                </c:pt>
                <c:pt idx="1">
                  <c:v>0.4</c:v>
                </c:pt>
                <c:pt idx="2">
                  <c:v>0.5</c:v>
                </c:pt>
                <c:pt idx="3">
                  <c:v>0.5</c:v>
                </c:pt>
                <c:pt idx="4">
                  <c:v>0.2</c:v>
                </c:pt>
                <c:pt idx="5">
                  <c:v>0.4</c:v>
                </c:pt>
                <c:pt idx="6">
                  <c:v>0</c:v>
                </c:pt>
                <c:pt idx="7">
                  <c:v>1.2</c:v>
                </c:pt>
                <c:pt idx="8">
                  <c:v>7.8</c:v>
                </c:pt>
                <c:pt idx="9">
                  <c:v>8.3</c:v>
                </c:pt>
                <c:pt idx="10">
                  <c:v>17.6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3–7 วัน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21.6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7–14 วัน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&gt; 14 วัน</c:v>
                </c:pt>
              </c:strCache>
            </c:strRef>
          </c:tx>
          <c:spPr>
            <a:solidFill>
              <a:srgbClr val="7F1D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ตาคลี</c:v>
                  </c:pt>
                  <c:pt idx="1">
                    <c:v>ท่าตะโก</c:v>
                  </c:pt>
                  <c:pt idx="2">
                    <c:v>โกรกพระ</c:v>
                  </c:pt>
                  <c:pt idx="3">
                    <c:v>พยุหะคีรี</c:v>
                  </c:pt>
                  <c:pt idx="4">
                    <c:v>แม่เปิน</c:v>
                  </c:pt>
                  <c:pt idx="5">
                    <c:v>เมืองนครสวรรค์</c:v>
                  </c:pt>
                  <c:pt idx="6">
                    <c:v>ชุมแสง</c:v>
                  </c:pt>
                  <c:pt idx="7">
                    <c:v>ชุมตาบง</c:v>
                  </c:pt>
                  <c:pt idx="8">
                    <c:v>บรรพตพิสัย</c:v>
                  </c:pt>
                  <c:pt idx="9">
                    <c:v>แม่วงก์</c:v>
                  </c:pt>
                  <c:pt idx="10">
                    <c:v>ลาดยาว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ตร.กม.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พื้นที่ท่วมรายชั่วโมงในโดเมน 2D (−48 ถึง +72 ชม. จากปัจจุบัน)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ลาดยาว–แม่วงก์</c:v>
                </c:pt>
              </c:strCache>
            </c:strRef>
          </c:tx>
          <c:spPr>
            <a:solidFill>
              <a:srgbClr val="0B3C5D"/>
            </a:solidFill>
            <a:ln w="25400" cap="flat">
              <a:solidFill>
                <a:srgbClr val="0B3C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5D"/>
              </a:solidFill>
              <a:ln w="9525" cap="flat">
                <a:solidFill>
                  <a:srgbClr val="0B3C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-48 ชม.</c:v>
                  </c:pt>
                  <c:pt idx="1">
                    <c:v>-45 ชม.</c:v>
                  </c:pt>
                  <c:pt idx="2">
                    <c:v>-42 ชม.</c:v>
                  </c:pt>
                  <c:pt idx="3">
                    <c:v>-39 ชม.</c:v>
                  </c:pt>
                  <c:pt idx="4">
                    <c:v>-36 ชม.</c:v>
                  </c:pt>
                  <c:pt idx="5">
                    <c:v>-33 ชม.</c:v>
                  </c:pt>
                  <c:pt idx="6">
                    <c:v>-30 ชม.</c:v>
                  </c:pt>
                  <c:pt idx="7">
                    <c:v>-27 ชม.</c:v>
                  </c:pt>
                  <c:pt idx="8">
                    <c:v>-24 ชม.</c:v>
                  </c:pt>
                  <c:pt idx="9">
                    <c:v>-21 ชม.</c:v>
                  </c:pt>
                  <c:pt idx="10">
                    <c:v>-18 ชม.</c:v>
                  </c:pt>
                  <c:pt idx="11">
                    <c:v>-15 ชม.</c:v>
                  </c:pt>
                  <c:pt idx="12">
                    <c:v>-12 ชม.</c:v>
                  </c:pt>
                  <c:pt idx="13">
                    <c:v>-9 ชม.</c:v>
                  </c:pt>
                  <c:pt idx="14">
                    <c:v>-6 ชม.</c:v>
                  </c:pt>
                  <c:pt idx="15">
                    <c:v>-3 ชม.</c:v>
                  </c:pt>
                  <c:pt idx="16">
                    <c:v>0 ชม.</c:v>
                  </c:pt>
                  <c:pt idx="17">
                    <c:v>+3 ชม.</c:v>
                  </c:pt>
                  <c:pt idx="18">
                    <c:v>+6 ชม.</c:v>
                  </c:pt>
                  <c:pt idx="19">
                    <c:v>+9 ชม.</c:v>
                  </c:pt>
                  <c:pt idx="20">
                    <c:v>+12 ชม.</c:v>
                  </c:pt>
                  <c:pt idx="21">
                    <c:v>+15 ชม.</c:v>
                  </c:pt>
                  <c:pt idx="22">
                    <c:v>+18 ชม.</c:v>
                  </c:pt>
                  <c:pt idx="23">
                    <c:v>+21 ชม.</c:v>
                  </c:pt>
                  <c:pt idx="24">
                    <c:v>+24 ชม.</c:v>
                  </c:pt>
                  <c:pt idx="25">
                    <c:v>+27 ชม.</c:v>
                  </c:pt>
                  <c:pt idx="26">
                    <c:v>+30 ชม.</c:v>
                  </c:pt>
                  <c:pt idx="27">
                    <c:v>+33 ชม.</c:v>
                  </c:pt>
                  <c:pt idx="28">
                    <c:v>+36 ชม.</c:v>
                  </c:pt>
                  <c:pt idx="29">
                    <c:v>+39 ชม.</c:v>
                  </c:pt>
                  <c:pt idx="30">
                    <c:v>+42 ชม.</c:v>
                  </c:pt>
                  <c:pt idx="31">
                    <c:v>+45 ชม.</c:v>
                  </c:pt>
                  <c:pt idx="32">
                    <c:v>+48 ชม.</c:v>
                  </c:pt>
                  <c:pt idx="33">
                    <c:v>+51 ชม.</c:v>
                  </c:pt>
                  <c:pt idx="34">
                    <c:v>+54 ชม.</c:v>
                  </c:pt>
                  <c:pt idx="35">
                    <c:v>+57 ชม.</c:v>
                  </c:pt>
                  <c:pt idx="36">
                    <c:v>+60 ชม.</c:v>
                  </c:pt>
                  <c:pt idx="37">
                    <c:v>+63 ชม.</c:v>
                  </c:pt>
                  <c:pt idx="38">
                    <c:v>+66 ชม.</c:v>
                  </c:pt>
                  <c:pt idx="39">
                    <c:v>+69 ชม.</c:v>
                  </c:pt>
                  <c:pt idx="40">
                    <c:v>+72 ชม.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17.9</c:v>
                </c:pt>
                <c:pt idx="1">
                  <c:v>13.7</c:v>
                </c:pt>
                <c:pt idx="2">
                  <c:v>13.1</c:v>
                </c:pt>
                <c:pt idx="3">
                  <c:v>12.5</c:v>
                </c:pt>
                <c:pt idx="4">
                  <c:v>18.1</c:v>
                </c:pt>
                <c:pt idx="5">
                  <c:v>21.7</c:v>
                </c:pt>
                <c:pt idx="6">
                  <c:v>22.3</c:v>
                </c:pt>
                <c:pt idx="7">
                  <c:v>21.8</c:v>
                </c:pt>
                <c:pt idx="8">
                  <c:v>22.7</c:v>
                </c:pt>
                <c:pt idx="9">
                  <c:v>24.3</c:v>
                </c:pt>
                <c:pt idx="10">
                  <c:v>25.9</c:v>
                </c:pt>
                <c:pt idx="11">
                  <c:v>27.5</c:v>
                </c:pt>
                <c:pt idx="12">
                  <c:v>29.7</c:v>
                </c:pt>
                <c:pt idx="13">
                  <c:v>36.5</c:v>
                </c:pt>
                <c:pt idx="14">
                  <c:v>45.5</c:v>
                </c:pt>
                <c:pt idx="15">
                  <c:v>50.7</c:v>
                </c:pt>
                <c:pt idx="16">
                  <c:v>52.7</c:v>
                </c:pt>
                <c:pt idx="17">
                  <c:v>54.3</c:v>
                </c:pt>
                <c:pt idx="18">
                  <c:v>56.8</c:v>
                </c:pt>
                <c:pt idx="19">
                  <c:v>59.9</c:v>
                </c:pt>
                <c:pt idx="20">
                  <c:v>61.2</c:v>
                </c:pt>
                <c:pt idx="21">
                  <c:v>61</c:v>
                </c:pt>
                <c:pt idx="22">
                  <c:v>59.8</c:v>
                </c:pt>
                <c:pt idx="23">
                  <c:v>57.6</c:v>
                </c:pt>
                <c:pt idx="24">
                  <c:v>56.2</c:v>
                </c:pt>
                <c:pt idx="25">
                  <c:v>53.4</c:v>
                </c:pt>
                <c:pt idx="26">
                  <c:v>50.9</c:v>
                </c:pt>
                <c:pt idx="27">
                  <c:v>47.6</c:v>
                </c:pt>
                <c:pt idx="28">
                  <c:v>43.8</c:v>
                </c:pt>
                <c:pt idx="29">
                  <c:v>40.8</c:v>
                </c:pt>
                <c:pt idx="30">
                  <c:v>37.3</c:v>
                </c:pt>
                <c:pt idx="31">
                  <c:v>34.7</c:v>
                </c:pt>
                <c:pt idx="32">
                  <c:v>32.5</c:v>
                </c:pt>
                <c:pt idx="33">
                  <c:v>30.5</c:v>
                </c:pt>
                <c:pt idx="34">
                  <c:v>28.6</c:v>
                </c:pt>
                <c:pt idx="35">
                  <c:v>26.9</c:v>
                </c:pt>
                <c:pt idx="36">
                  <c:v>25.7</c:v>
                </c:pt>
                <c:pt idx="37">
                  <c:v>24.3</c:v>
                </c:pt>
                <c:pt idx="38">
                  <c:v>23.1</c:v>
                </c:pt>
                <c:pt idx="39">
                  <c:v>22.2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เมืองนครสวรรค์</c:v>
                </c:pt>
              </c:strCache>
            </c:strRef>
          </c:tx>
          <c:spPr>
            <a:solidFill>
              <a:srgbClr val="1B998B"/>
            </a:solidFill>
            <a:ln w="254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-48 ชม.</c:v>
                  </c:pt>
                  <c:pt idx="1">
                    <c:v>-45 ชม.</c:v>
                  </c:pt>
                  <c:pt idx="2">
                    <c:v>-42 ชม.</c:v>
                  </c:pt>
                  <c:pt idx="3">
                    <c:v>-39 ชม.</c:v>
                  </c:pt>
                  <c:pt idx="4">
                    <c:v>-36 ชม.</c:v>
                  </c:pt>
                  <c:pt idx="5">
                    <c:v>-33 ชม.</c:v>
                  </c:pt>
                  <c:pt idx="6">
                    <c:v>-30 ชม.</c:v>
                  </c:pt>
                  <c:pt idx="7">
                    <c:v>-27 ชม.</c:v>
                  </c:pt>
                  <c:pt idx="8">
                    <c:v>-24 ชม.</c:v>
                  </c:pt>
                  <c:pt idx="9">
                    <c:v>-21 ชม.</c:v>
                  </c:pt>
                  <c:pt idx="10">
                    <c:v>-18 ชม.</c:v>
                  </c:pt>
                  <c:pt idx="11">
                    <c:v>-15 ชม.</c:v>
                  </c:pt>
                  <c:pt idx="12">
                    <c:v>-12 ชม.</c:v>
                  </c:pt>
                  <c:pt idx="13">
                    <c:v>-9 ชม.</c:v>
                  </c:pt>
                  <c:pt idx="14">
                    <c:v>-6 ชม.</c:v>
                  </c:pt>
                  <c:pt idx="15">
                    <c:v>-3 ชม.</c:v>
                  </c:pt>
                  <c:pt idx="16">
                    <c:v>0 ชม.</c:v>
                  </c:pt>
                  <c:pt idx="17">
                    <c:v>+3 ชม.</c:v>
                  </c:pt>
                  <c:pt idx="18">
                    <c:v>+6 ชม.</c:v>
                  </c:pt>
                  <c:pt idx="19">
                    <c:v>+9 ชม.</c:v>
                  </c:pt>
                  <c:pt idx="20">
                    <c:v>+12 ชม.</c:v>
                  </c:pt>
                  <c:pt idx="21">
                    <c:v>+15 ชม.</c:v>
                  </c:pt>
                  <c:pt idx="22">
                    <c:v>+18 ชม.</c:v>
                  </c:pt>
                  <c:pt idx="23">
                    <c:v>+21 ชม.</c:v>
                  </c:pt>
                  <c:pt idx="24">
                    <c:v>+24 ชม.</c:v>
                  </c:pt>
                  <c:pt idx="25">
                    <c:v>+27 ชม.</c:v>
                  </c:pt>
                  <c:pt idx="26">
                    <c:v>+30 ชม.</c:v>
                  </c:pt>
                  <c:pt idx="27">
                    <c:v>+33 ชม.</c:v>
                  </c:pt>
                  <c:pt idx="28">
                    <c:v>+36 ชม.</c:v>
                  </c:pt>
                  <c:pt idx="29">
                    <c:v>+39 ชม.</c:v>
                  </c:pt>
                  <c:pt idx="30">
                    <c:v>+42 ชม.</c:v>
                  </c:pt>
                  <c:pt idx="31">
                    <c:v>+45 ชม.</c:v>
                  </c:pt>
                  <c:pt idx="32">
                    <c:v>+48 ชม.</c:v>
                  </c:pt>
                  <c:pt idx="33">
                    <c:v>+51 ชม.</c:v>
                  </c:pt>
                  <c:pt idx="34">
                    <c:v>+54 ชม.</c:v>
                  </c:pt>
                  <c:pt idx="35">
                    <c:v>+57 ชม.</c:v>
                  </c:pt>
                  <c:pt idx="36">
                    <c:v>+60 ชม.</c:v>
                  </c:pt>
                  <c:pt idx="37">
                    <c:v>+63 ชม.</c:v>
                  </c:pt>
                  <c:pt idx="38">
                    <c:v>+66 ชม.</c:v>
                  </c:pt>
                  <c:pt idx="39">
                    <c:v>+69 ชม.</c:v>
                  </c:pt>
                  <c:pt idx="40">
                    <c:v>+72 ชม.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5</c:v>
                </c:pt>
                <c:pt idx="1">
                  <c:v>4.5</c:v>
                </c:pt>
                <c:pt idx="2">
                  <c:v>4.3</c:v>
                </c:pt>
                <c:pt idx="3">
                  <c:v>4.2</c:v>
                </c:pt>
                <c:pt idx="4">
                  <c:v>4.1</c:v>
                </c:pt>
                <c:pt idx="5">
                  <c:v>4.1</c:v>
                </c:pt>
                <c:pt idx="6">
                  <c:v>4.3</c:v>
                </c:pt>
                <c:pt idx="7">
                  <c:v>4.4</c:v>
                </c:pt>
                <c:pt idx="8">
                  <c:v>5.1</c:v>
                </c:pt>
                <c:pt idx="9">
                  <c:v>5.2</c:v>
                </c:pt>
                <c:pt idx="10">
                  <c:v>5.2</c:v>
                </c:pt>
                <c:pt idx="11">
                  <c:v>5.2</c:v>
                </c:pt>
                <c:pt idx="12">
                  <c:v>5.2</c:v>
                </c:pt>
                <c:pt idx="13">
                  <c:v>5.3</c:v>
                </c:pt>
                <c:pt idx="14">
                  <c:v>5.8</c:v>
                </c:pt>
                <c:pt idx="15">
                  <c:v>6.9</c:v>
                </c:pt>
                <c:pt idx="16">
                  <c:v>7.9</c:v>
                </c:pt>
                <c:pt idx="17">
                  <c:v>8.2</c:v>
                </c:pt>
                <c:pt idx="18">
                  <c:v>8.2</c:v>
                </c:pt>
                <c:pt idx="19">
                  <c:v>8.2</c:v>
                </c:pt>
                <c:pt idx="20">
                  <c:v>8.2</c:v>
                </c:pt>
                <c:pt idx="21">
                  <c:v>8.2</c:v>
                </c:pt>
                <c:pt idx="22">
                  <c:v>8.1</c:v>
                </c:pt>
                <c:pt idx="23">
                  <c:v>8</c:v>
                </c:pt>
                <c:pt idx="24">
                  <c:v>8</c:v>
                </c:pt>
                <c:pt idx="25">
                  <c:v>7.9</c:v>
                </c:pt>
                <c:pt idx="26">
                  <c:v>7.8</c:v>
                </c:pt>
                <c:pt idx="27">
                  <c:v>7.7</c:v>
                </c:pt>
                <c:pt idx="28">
                  <c:v>7.6</c:v>
                </c:pt>
                <c:pt idx="29">
                  <c:v>7.5</c:v>
                </c:pt>
                <c:pt idx="30">
                  <c:v>7.5</c:v>
                </c:pt>
                <c:pt idx="31">
                  <c:v>7.5</c:v>
                </c:pt>
                <c:pt idx="32">
                  <c:v>7.5</c:v>
                </c:pt>
                <c:pt idx="33">
                  <c:v>7.4</c:v>
                </c:pt>
                <c:pt idx="34">
                  <c:v>7.3</c:v>
                </c:pt>
                <c:pt idx="35">
                  <c:v>7.3</c:v>
                </c:pt>
                <c:pt idx="36">
                  <c:v>7.2</c:v>
                </c:pt>
                <c:pt idx="37">
                  <c:v>6.9</c:v>
                </c:pt>
                <c:pt idx="38">
                  <c:v>6.9</c:v>
                </c:pt>
                <c:pt idx="39">
                  <c:v>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ชุมแสง</c:v>
                </c:pt>
              </c:strCache>
            </c:strRef>
          </c:tx>
          <c:spPr>
            <a:solidFill>
              <a:srgbClr val="F2A541"/>
            </a:solidFill>
            <a:ln w="254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Promp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-48 ชม.</c:v>
                  </c:pt>
                  <c:pt idx="1">
                    <c:v>-45 ชม.</c:v>
                  </c:pt>
                  <c:pt idx="2">
                    <c:v>-42 ชม.</c:v>
                  </c:pt>
                  <c:pt idx="3">
                    <c:v>-39 ชม.</c:v>
                  </c:pt>
                  <c:pt idx="4">
                    <c:v>-36 ชม.</c:v>
                  </c:pt>
                  <c:pt idx="5">
                    <c:v>-33 ชม.</c:v>
                  </c:pt>
                  <c:pt idx="6">
                    <c:v>-30 ชม.</c:v>
                  </c:pt>
                  <c:pt idx="7">
                    <c:v>-27 ชม.</c:v>
                  </c:pt>
                  <c:pt idx="8">
                    <c:v>-24 ชม.</c:v>
                  </c:pt>
                  <c:pt idx="9">
                    <c:v>-21 ชม.</c:v>
                  </c:pt>
                  <c:pt idx="10">
                    <c:v>-18 ชม.</c:v>
                  </c:pt>
                  <c:pt idx="11">
                    <c:v>-15 ชม.</c:v>
                  </c:pt>
                  <c:pt idx="12">
                    <c:v>-12 ชม.</c:v>
                  </c:pt>
                  <c:pt idx="13">
                    <c:v>-9 ชม.</c:v>
                  </c:pt>
                  <c:pt idx="14">
                    <c:v>-6 ชม.</c:v>
                  </c:pt>
                  <c:pt idx="15">
                    <c:v>-3 ชม.</c:v>
                  </c:pt>
                  <c:pt idx="16">
                    <c:v>0 ชม.</c:v>
                  </c:pt>
                  <c:pt idx="17">
                    <c:v>+3 ชม.</c:v>
                  </c:pt>
                  <c:pt idx="18">
                    <c:v>+6 ชม.</c:v>
                  </c:pt>
                  <c:pt idx="19">
                    <c:v>+9 ชม.</c:v>
                  </c:pt>
                  <c:pt idx="20">
                    <c:v>+12 ชม.</c:v>
                  </c:pt>
                  <c:pt idx="21">
                    <c:v>+15 ชม.</c:v>
                  </c:pt>
                  <c:pt idx="22">
                    <c:v>+18 ชม.</c:v>
                  </c:pt>
                  <c:pt idx="23">
                    <c:v>+21 ชม.</c:v>
                  </c:pt>
                  <c:pt idx="24">
                    <c:v>+24 ชม.</c:v>
                  </c:pt>
                  <c:pt idx="25">
                    <c:v>+27 ชม.</c:v>
                  </c:pt>
                  <c:pt idx="26">
                    <c:v>+30 ชม.</c:v>
                  </c:pt>
                  <c:pt idx="27">
                    <c:v>+33 ชม.</c:v>
                  </c:pt>
                  <c:pt idx="28">
                    <c:v>+36 ชม.</c:v>
                  </c:pt>
                  <c:pt idx="29">
                    <c:v>+39 ชม.</c:v>
                  </c:pt>
                  <c:pt idx="30">
                    <c:v>+42 ชม.</c:v>
                  </c:pt>
                  <c:pt idx="31">
                    <c:v>+45 ชม.</c:v>
                  </c:pt>
                  <c:pt idx="32">
                    <c:v>+48 ชม.</c:v>
                  </c:pt>
                  <c:pt idx="33">
                    <c:v>+51 ชม.</c:v>
                  </c:pt>
                  <c:pt idx="34">
                    <c:v>+54 ชม.</c:v>
                  </c:pt>
                  <c:pt idx="35">
                    <c:v>+57 ชม.</c:v>
                  </c:pt>
                  <c:pt idx="36">
                    <c:v>+60 ชม.</c:v>
                  </c:pt>
                  <c:pt idx="37">
                    <c:v>+63 ชม.</c:v>
                  </c:pt>
                  <c:pt idx="38">
                    <c:v>+66 ชม.</c:v>
                  </c:pt>
                  <c:pt idx="39">
                    <c:v>+69 ชม.</c:v>
                  </c:pt>
                  <c:pt idx="40">
                    <c:v>+72 ชม.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0.3</c:v>
                </c:pt>
                <c:pt idx="11">
                  <c:v>0.3</c:v>
                </c:pt>
                <c:pt idx="12">
                  <c:v>0.3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  <c:pt idx="32">
                  <c:v>0.5</c:v>
                </c:pt>
                <c:pt idx="33">
                  <c:v>0.5</c:v>
                </c:pt>
                <c:pt idx="34">
                  <c:v>0.5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Promp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Promp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Prompt"/>
                  </a:rPr>
                  <a:t>ตร.กม. (ลึก 10 ซม. ขึ้นไป)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ompt"/>
              <a:cs typeface="Promp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5D"/>
                </a:solidFill>
                <a:latin typeface="Prompt"/>
              </a:defRPr>
            </a:pPr>
            <a:r>
              <a:rPr sz="1300" b="0" i="0" u="none" strike="noStrike">
                <a:solidFill>
                  <a:srgbClr val="0B3C5D"/>
                </a:solidFill>
                <a:latin typeface="Prompt"/>
              </a:rPr>
              <a:t>คะแนนความคลาดเคลื่อนเทียบแบบจำลอง 2D (ต่ำ = ดี)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คะแนน</c:v>
                </c:pt>
              </c:strCache>
            </c:strRef>
          </c:tx>
          <c:spPr>
            <a:solidFill>
              <a:srgbClr val="A3B3C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B3C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D3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ค่าเริ่มต้น</c:v>
                  </c:pt>
                  <c:pt idx="1">
                    <c:v>รอบ 1</c:v>
                  </c:pt>
                  <c:pt idx="2">
                    <c:v>รอบ 2 (ใช้งาน)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0.8571</c:v>
                </c:pt>
                <c:pt idx="1">
                  <c:v>0.6443</c:v>
                </c:pt>
                <c:pt idx="2">
                  <c:v>0.4887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omp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TECHNICAL DEEP-DIVE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Nakhon Sawan Flood Watch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วิธีวิเคราะห์ แบบจำลอง และการสอบเทียบ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E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 terrain processing · hex network model v3 · upstream routing · gauge recession · 2D local-inertial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3D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สำหรับทีม GIS / อุทกวิทยา · ข้อมูล ณ 28 ก.ย. 2569 เวลา 20:57 น.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68896" y="768096"/>
            <a:ext cx="4544568" cy="532180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rpt/img/crop_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822960"/>
            <a:ext cx="44348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หัวข้อ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270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สถาปัตยกรรมและข้อมูล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static vs dynamic · แหล่งข้อมูล · data contract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8541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DEM conditioning · HAND · CN · hex network · upstream basins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420624" cy="42062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825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8437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แบบจำลองรายชั่วโมง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ฝน · SCS-CN · hex v3 · fill-spill · โครงสร้างระบายน้ำ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483864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50215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แม่น้ำและต้นน้ำ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routing · rating curve · recession · overbank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420624" cy="42062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ระยะเวลาท่วม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อัลกอริทึม · สรุปรายอำเภอ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8188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2D และการสอบเทียบ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local-inertial · ขอบเขตแม่น้ำ · grid search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5458968"/>
            <a:ext cx="420624" cy="42062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4772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ผลลัพธ์ ข้อจำกัด แผนพัฒนา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· สถาปัตยกรรม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สถาปัตยกรรม: แยก static (แม่นเชิงพื้นที่) ออกจาก dynamic (เร็ว เบา)</a:t>
            </a:r>
            <a:endParaRPr lang="en-US" sz="2500" dirty="0"/>
          </a:p>
        </p:txBody>
      </p:sp>
      <p:pic>
        <p:nvPicPr>
          <p:cNvPr id="4" name="Image 0" descr="/home/claude/rpt/fig/d_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1417320"/>
            <a:ext cx="10149840" cy="3694176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0368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675120"/>
                <a:gridCol w="222199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รอบ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งาน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เวลา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ครั้งเดียว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ArcGIS Pro tool 0 → 1, 1b, 1c, 1d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30–60 นาที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ทุก 1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run_update.py (hex v3 + upstream + duration)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12–30 วินาที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ทุก 6 ชม. / สัปดาห์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run_hotspots.py (2D) / calibrate.py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~1–2.7 นาที/โดเมน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· ARCGIS PRO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 DEM ให้ทิศการไหลบนที่ราบถูกต้อง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7335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FABDEM V1-2 (30 ม.)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03704"/>
            <a:ext cx="4992624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Copernicus GLO-30 ที่ตัดอาคารและต้นไม้ออก (Hawker et al. 2022) → ลด bias ในเมืองและป่า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ดึงเฉพาะ tile ที่ใช้จาก zip ของ Univ. of Bristol ด้วย HTTP Range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ProjectRaster → UTM 47N 30 ม. (bilinear) · env.pyramid = NONE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ใบอนุญาต CC BY-NC-SA 4.0 — ใช้เชิงพาณิชย์ต้องกลับไปใช้ Copernicus DEM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55448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วัตถุจาก OpenStreetMap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การปรับ DEM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เหตุผล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waterway = river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-3.0 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บังคับการไหลลงแม่น้ำ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canal / stream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-1.5 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คลองชลประทาน/ลำห้วย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drain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-1.0 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คูระบายน้ำ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ditch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-0.5 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คูน้ำขนาดเล็ก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dyke / embankment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+1.0 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คันกั้นน้ำเป็นจุดล้นสูง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45352" y="44348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459943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Overpass API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5129784"/>
            <a:ext cx="499262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แบ่ง tile · สลับ endpoint เมื่อ 504/SSL error · คืนค่าว่างเมื่อไม่สำเร็จ (pipeline ไม่ล้ม) · สถานีสูบดึงครั้งเดียวทั้ง bbox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· ARCGIS PRO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อุทกวิทยาภูมิประเทศและชั้นข้อมูลราย hex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ขั้น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เครื่องมือ ArcGIS Pro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ผลลัพธ์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อุทกวิทยา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Fill → Flow Direction (D8) → Flow Accumulation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fill, fdir, facc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ลำน้ำ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Con(facc &gt; 5 ตร.กม.), Con(facc &gt; 1,000 ตร.กม.)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stream, major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HAND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Flow Distance (VERTICAL) ถึง stream / major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hand, hand_major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แอ่ง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Fill - DEM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sink (มม.)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ความลาดชัน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Slope (percent rise)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slope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Curve Number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WorldCover → Reclassify (HSG D ถ้า HAND &lt; 5 ม.)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cn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Hex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Generate Tessellation 1 ตร.กม. · Spatial Join อำเภอ · Polygon to Raster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9,721 hex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Zonal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numpy mean / P5–P75 / sum ราย hex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params.json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Station ref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min(fill) รัศมี 300 ม. รอบสถานีระดับน้ำ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z_ref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463040"/>
          <a:ext cx="3227832" cy="914400"/>
        </p:xfrm>
        <a:graphic>
          <a:graphicData uri="http://schemas.openxmlformats.org/drawingml/2006/table">
            <a:tbl>
              <a:tblPr/>
              <a:tblGrid>
                <a:gridCol w="1581912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สิ่งปกคลุมดิน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HSG C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HSG D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ป่า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70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77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ไม้พุ่ม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77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83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ทุ่งหญ้า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74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80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นา/เกษตร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82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86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เมือง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90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93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ดินโล่ง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86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89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พื้นที่ชุ่มน้ำ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85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88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น้ำ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98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98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 Curve Number (AMC II) ที่ใช้ · AMC I/III ปรับจากฝน 5 วันก่อนเหตุการณ์ (35 / 53 มม.)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· ARCGIS PRO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เครือข่าย hex: การไหลหลายทิศ จุดล้น และ hypsometry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347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22677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28,542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00046"/>
            <a:ext cx="2267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ขอบเชื่อม hex ข้างเคียง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508760"/>
            <a:ext cx="263347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73352"/>
            <a:ext cx="22677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24,016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200046"/>
            <a:ext cx="2267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เส้นทางการไหลหลายทิศ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3347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9944" y="1673352"/>
            <a:ext cx="22677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501 กม.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9944" y="2200046"/>
            <a:ext cx="2267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คลอง/คูระบาย (OSM)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508760"/>
            <a:ext cx="2633472" cy="1234440"/>
          </a:xfrm>
          <a:prstGeom prst="roundRect">
            <a:avLst>
              <a:gd name="adj" fmla="val 7407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6296" y="1673352"/>
            <a:ext cx="226771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 / 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200046"/>
            <a:ext cx="2267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ประตูน้ำ / สถานีสูบใน OSM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องค์ประกอบ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วิธีคำนวณ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ขอบเชื่อม (edge)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ทุกคู่ cell 30 ม. ที่ติดกันแต่อยู่คนละ hex → คู่ hex ข้างเคียงและความยาวขอบ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ระดับจุดล้น (sill)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P5 ของ max(z₁, z₂) ตามแนวขอบ = ระดับต่ำสุดที่น้ำข้าม hex ได้ (ถนน/คันกั้นทำให้ sill สูง)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การไหลหลายทิศ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cell ที่เส้นทาง D8 ข้ามขอบ hex → สัดส่วนการไหลไปแต่ละ hex ปลายทาง ถ่วงด้วย flow accumulation (ตั้งแต่ 2%)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Hypsometry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ความสูง P0, P2, P5, P10, P25, P50, P75, P90, P100 ใน hex → ตาราง ระดับ–พื้นที่–ปริมาตร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โครงสร้างระบายน้ำ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คลอง (PairwiseIntersect) · สถานีสูบ/ประตูน้ำจาก OSM + drainage_assets_user.csv · ทางออก = hex แม่น้ำใกล้สุด ≤ 5 กม.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· แบบจำลองรายชั่วโมง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ฝน: แบบจำลองต่อเนื่อง + ปรับแก้ด้วยสถานีโทรมาตร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P(hex, t) = IDW 4 จุดจาก lattice 0.2° (Open-Meteo, 16 คอลัมน์)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ratio = (G + 2) / (M + 2)   จำกัด 0.2–5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log-ratio → IDW · น้ำหนักเต็มใน 10 กม. ลดเป็น 0 ที่ 40 กม.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ใช้กับฝน 24 ชม. ล่าสุดเท่านั้น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2432304" cy="1097280"/>
          </a:xfrm>
          <a:prstGeom prst="roundRect">
            <a:avLst>
              <a:gd name="adj" fmla="val 8333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167335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798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สถานี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2123237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 ThaiWater ที่ใช้ปรับแก้รอบนี้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08008" y="1508760"/>
            <a:ext cx="2432304" cy="1097280"/>
          </a:xfrm>
          <a:prstGeom prst="roundRect">
            <a:avLst>
              <a:gd name="adj" fmla="val 8333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36608" y="1673352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0.57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436608" y="2123237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มัธยฐาน สถานี / แบบจำลอง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0" y="2724912"/>
            <a:ext cx="5056632" cy="1069848"/>
          </a:xfrm>
          <a:prstGeom prst="roundRect">
            <a:avLst>
              <a:gd name="adj" fmla="val 8547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84848" y="2907792"/>
            <a:ext cx="46542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แบบจำลองอากาศให้ฝนสูงกว่าสถานีราว 1.8 เท่าในรอบนี้ → การปรับแก้สำคัญมาก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18795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Cache ฝน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718304"/>
            <a:ext cx="508406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ครั้งแรก past_days = 30 แล้วเก็บ rain_cache.json (0.1 มม.)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รอบถัดไปดึงแค่ past_days = 2 + พยากรณ์ 72 ชม. (batch 80 จุด)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ครอบคลุม 5 จังหวัด (98.9–101.9°E, 14.9–18.0°N)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245352" y="40233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418795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ทำไมไม่ใช้ Windy ในการคำนวณ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718304"/>
            <a:ext cx="49926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Point Forecast API ของ Windy เป็นบริการเสียเงิน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Windy embed เป็นภาพประกอบ (ฝน ฝนสะสม เรดาร์ เมฆ)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ขยายต่อได้: TMD API, GSMaP_NOW, GPM IMERG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· แบบจำลองรายชั่วโมง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น้ำท่า SCS-CN และการเก็บน้ำในคันนา/แอ่ง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212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 = 25400 / CN - 254   ·   Ia = 0.2 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 = (P - Ia)² / (P - Ia + S)   เมื่อ P &gt; Ia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เหตุการณ์ใหม่เมื่อฝนหยุดตั้งแต่ 12 ชม.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CN ปรับ AMC I/III จากฝน 5 วันก่อนเหตุการณ์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28232" y="1508760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56832" y="1673352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น้ำปกติในคันนา  N = 100·f_นา + 10  (มม.)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ความจุกักเก็บ  D_cap = N + 0.3·sink·dcap_mult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ความลึก = ปริมาตรน้ำอิสระ (W - N) / สัดส่วนพื้นที่ใต้ระดับผิวน้ำ η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สัดส่วนท่วม &lt; 5% = น้ำในร่องน้ำ (ไม่นับ)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94415" cy="1600200"/>
          </a:xfrm>
          <a:prstGeom prst="roundRect">
            <a:avLst>
              <a:gd name="adj" fmla="val 5714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736592"/>
            <a:ext cx="107103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ผลของการใส่น้ำในคันนา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5266944"/>
            <a:ext cx="106920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รุ่นแรกไม่แยกน้ำในนา ทำให้ได้พื้นที่เฝ้าระวังเกินจริง (~3,400 ตร.กม.) · หลังแยกน้ำปกติในนาและสอบเทียบ dcap_mult = 1.7 ผลเหลือ 83 ตร.กม. ซึ่งสอดคล้องกับแบบจำลอง 2D มากขึ้น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· แบบจำลองรายชั่วโมง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โมเดล hex v3: ระบาย · fill-spill · โครงสร้างระบายน้ำ (substep 15 นาที)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67335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ระบายตามแรงโน้มถ่วง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03704"/>
            <a:ext cx="50200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Out = max(W - D_cap, 0)·(1 - e^(-1/T))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 = clip(8/√S%, 2, 96)·t_mult / (1 + กม.คลอง)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แบ่งไป hex ท้ายน้ำตามสัดส่วนการไหลหลายทิศ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91640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67144" y="167335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Fill-spill (weir)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203704"/>
            <a:ext cx="50200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 = 1.7·weir_c·w_eff·(η_สูง - max(η_ต่ำ, sill))^1.5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w_eff = 0.1 × ความยาวขอบ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จำกัดไม่เกินครึ่งหนึ่งของผลต่างที่ทำให้ระดับเท่ากัน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3904488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08736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406908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เมือง / สูบ / ประตูน้ำ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599432"/>
            <a:ext cx="50200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ท่อเมือง 20·f_เมือง มม./ชม. (ลด 1/3 เมื่อน้ำเท้อ)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สถานีสูบ ≤ ความจุ × 3.6 มม./ชม. → hex แม่น้ำ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ประตูน้ำปิดเมื่อแม่น้ำต่ำกว่าตลิ่งไม่ถึง 1 ม.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153912" y="3904488"/>
            <a:ext cx="5422392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087368"/>
            <a:ext cx="384048" cy="38404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406908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น้ำล้นตลิ่ง / backwater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599432"/>
            <a:ext cx="502005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(Q_fc - Q_cap)·3600 ม³/ชม. ฉีดเข้า hex ลำน้ำหลัก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backwater: แม่น้ำ &gt; ตลิ่ง - 1 ม. และ HAND &lt; 6 ม. → T×3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รัน 2 รอบ (มี/ไม่มีล้นตลิ่ง) แยกสาเหตุ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· แม่น้ำและต้นน้ำ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น้ำหลากจาก 4 จังหวัดต้นน้ำ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3858768" cy="4773168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rpt/img/crop_up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3749040" cy="4663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508760"/>
            <a:ext cx="2124456" cy="1874520"/>
          </a:xfrm>
          <a:prstGeom prst="roundRect">
            <a:avLst>
              <a:gd name="adj" fmla="val 487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36592" y="167335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36592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175504" y="1655064"/>
            <a:ext cx="1392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Zones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167128"/>
            <a:ext cx="179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D8 pointer-jumping จาก DEM 90 ม. → 794 zones (จุดน้ำเข้า × จังหวัด × จุดฝน × lag 6 ชม.)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760464" y="23271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3928" y="1508760"/>
            <a:ext cx="2124456" cy="1874520"/>
          </a:xfrm>
          <a:prstGeom prst="roundRect">
            <a:avLst>
              <a:gd name="adj" fmla="val 487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08520" y="167335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085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47432" y="1655064"/>
            <a:ext cx="1392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น้ำท่า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226808" y="2167128"/>
            <a:ext cx="179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SCS-CN + bucket 50 มม. · Q = q·A/3.6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232392" y="23271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15856" y="1508760"/>
            <a:ext cx="2124456" cy="1874520"/>
          </a:xfrm>
          <a:prstGeom prst="roundRect">
            <a:avLst>
              <a:gd name="adj" fmla="val 487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80448" y="167335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80448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119360" y="1655064"/>
            <a:ext cx="1392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Routing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698736" y="2167128"/>
            <a:ext cx="1795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lag = ระยะทาง/0.7 ม./วิ + linear reservoir K = max(6, 0.5·lag) (FFT)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611880"/>
          <a:ext cx="70683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99032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จังหวัด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พื้นที่ไหลเข้า นว.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 7 วัน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เข้า นว. 72 ชม.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กำแพงเพชร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7,184 ตร.กม.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152 มม.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91.4 ล้าน ลบ.ม.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พิษณุโลก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9,722 ตร.กม.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48 มม.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18.2 ล้าน ลบ.ม.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พิจิตร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4,246 ตร.กม.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89 มม.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17.4 ล้าน ลบ.ม.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เพชรบูรณ์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2,921 ตร.กม.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81 มม.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5.1 ล้าน ลบ.ม.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548640" y="6400800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ปรับขนาดด้วยปริมาณน้ำจริง β = 0.6: กลุ่มปิง (กำแพงเพชร) ×0.344 เทียบ P.17 · กลุ่มน่าน-ยม (พิษณุโลก พิจิตร เพชรบูรณ์) ×1.0 เทียบ N.67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· แม่น้ำและต้นน้ำ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แม่น้ำสายหลัก: ปริมาณน้ำไม่คงที่ แต่ลดตาม recession ของสถานี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Q_fc(t) = Q_rec(t) + max(Q_model(t) - Q_model(now), 0)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ขึ้น:  Q0 + r·τ(1 - e^(-t/τ)),  τ = 12 ชม.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ลด:  Qb + (Qpk - Qb)·e^(-(t-τ)/k)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 = -1 / median Δln(Q - Qb)  (ช่วงน้ำลดต่อเนื่องตั้งแต่ 6 ชม.)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Rating:  Q = a(WL - z0)^b  (เหนือค่าสูงสุดที่เคยวัด b ≤ 5/3)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08760"/>
          <a:ext cx="5056632" cy="914400"/>
        </p:xfrm>
        <a:graphic>
          <a:graphicData uri="http://schemas.openxmlformats.org/drawingml/2006/table">
            <a:tbl>
              <a:tblPr/>
              <a:tblGrid>
                <a:gridCol w="2496312"/>
                <a:gridCol w="822960"/>
                <a:gridCol w="73152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สถานี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k (ชม.)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Qb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แนวโน้ม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P.17 แม่น้ำปิง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141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70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+10.0 /ชม.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N.67 แม่น้ำน่าน-ยม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208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407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+0.2 /ชม.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C.2 แม่น้ำเจ้าพระยา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192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521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+5.5 /ชม.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Ct.5A แม่วงก์-สะแกกรัง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31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+6.8 /ชม.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3977640"/>
            <a:ext cx="5056632" cy="822960"/>
          </a:xfrm>
          <a:prstGeom prst="roundRect">
            <a:avLst>
              <a:gd name="adj" fmla="val 11111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84848" y="4160520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C.2 (เจ้าพระยา) = Q_obs + ΔQ ปิง + ΔQ น่าน หน่วง 12 ชม. โดยใช้ค่าตรวจวัดจริงย้อนหลังต่อด้วยค่าพยากรณ์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5852160" cy="1691640"/>
          </a:xfrm>
          <a:prstGeom prst="roundRect">
            <a:avLst>
              <a:gd name="adj" fmla="val 5405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645152"/>
            <a:ext cx="5468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ประวัติสถานี (gauges.py)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175504"/>
            <a:ext cx="5449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ThaiWater waterlevel_graph รายชั่วโมง 30 วัน 28 สถานี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ครั้งแรกดึงย้อนหลังทั้งหมด · ขาดช่วง &gt; 90 นาทีจึงดึงเพิ่ม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4937760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84848" y="512064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ผลต่อระยะเวลาท่วม: hex ที่ไม่รู้ว่าท่วมมาแล้วกี่ชั่วโมง 57 → 0 · hex ที่คาดว่าท่วมเกิน 14 วัน 25 →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· แม่น้ำและต้นน้ำ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ตัวอย่าง: Ct.5A แม่วงก์ — rating curve + recession k = 31 ชม.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5895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54480"/>
            <a:ext cx="3273552" cy="4572000"/>
          </a:xfrm>
          <a:prstGeom prst="roundRect">
            <a:avLst>
              <a:gd name="adj" fmla="val 2793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67928" y="1719072"/>
            <a:ext cx="2889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ตัวเลขสำคัญ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67928" y="2249424"/>
            <a:ext cx="287121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ตอนนี้ 385 ลบ.ม./วิ (rating, 265 คู่)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ความจุ qmax 232 ลบ.ม./วิ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ล้นตลิ่ง 1.11 ม. มาแล้ว 39 ชม.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ยอดคาด 437 ลบ.ม./วิ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ต่ำกว่าความจุใน ~33 ชม.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ที่ราบล้นตลิ่ง 36.8 → 42.3 ตร.กม. (hex model)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· แม่น้ำและต้นน้ำ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น้ำล้นตลิ่งเข้าที่ราบ: ปริมาตร → กระจายด้วย fill-spill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3000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ปริมาตรส่วนเกิน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2183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V(t) = max(Q_fc - Q_cap, 0)·3600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Q_cap = qmax สถานี RID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5648" y="24871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9112" y="1554480"/>
            <a:ext cx="2513000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3704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12616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ปริมาตรเริ่มต้น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212848"/>
            <a:ext cx="2183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S₀ = ปริมาตรใต้ระดับ (WL - z_ref) บน hex ของช่วงลำน้ำ เมื่อสถานีล้นตลิ่ง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6120" y="24871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9584" y="1554480"/>
            <a:ext cx="2513000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417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3088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ฉีดเข้า hex ลำน้ำ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2464" y="2212848"/>
            <a:ext cx="2183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ที่ facc ตั้งแต่ 1,000 ตร.กม. ถ่วงด้วย f_low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46591" y="248716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0055" y="1554480"/>
            <a:ext cx="2513000" cy="2103120"/>
          </a:xfrm>
          <a:prstGeom prst="roundRect">
            <a:avLst>
              <a:gd name="adj" fmla="val 4348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4647" y="171907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4647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3559" y="170078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กระจาย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12935" y="2212848"/>
            <a:ext cx="2183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fill-spill ตามระดับผิวน้ำ · คันกั้นน้ำ/ถนนกั้นได้ตามจริง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5486400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09651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ของช่วงลำน้ำ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626864"/>
            <a:ext cx="50840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ใกล้สถานีในช่วงนั้น ≤ 15 กม. และ HAND_major P10 &lt; 10 ม.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bank_hand = ตลิ่ง - z_ref ของสถานีหลัก (0.5–10 ม.)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ปิง 591 · น่าน 495 · เจ้าพระยา 619 · แม่วงก์ 112 hex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45352" y="393192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09651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ทำไมไม่ใช้ HAND ตรง ๆ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626864"/>
            <a:ext cx="499262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HAND อย่างเดียวให้ที่ราบท่วมเกินจริง (ไม่อนุรักษ์มวล)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ปริมาตรจำกัดด้วยส่วนที่เกินความจุลำน้ำจริง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คันกั้นน้ำใน DEM (+1 ม.) กั้นการแผ่ได้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 · ระยะเวลาท่วม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อัลกอริทึมระยะเวลาท่วม (เกณฑ์ 10 ซม.)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 (ท่วมมาแล้ว) = จำนวนชั่วโมงต่อเนื่องที่ d ตั้งแต่ 10 ซม. จนถึงปัจจุบัน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จากการจำลองฝนอย่างเดียว 30 วัน (cold start)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 (คาดลดใน) = ชั่วโมงแรกในอนาคตที่ d &lt; 10 ซม.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จากการจำลองรวมฝนพยากรณ์ + น้ำล้นตลิ่ง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ถ้ายังท่วมที่ +72 ชม. → ต่อด้วยอัตราลดใน 12 ชม. สุดท้าย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เพดาน 336 ชม. (999 = เกิน 14 วัน)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5056632" cy="2743200"/>
          </a:xfrm>
          <a:prstGeom prst="roundRect">
            <a:avLst>
              <a:gd name="adj" fmla="val 2667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167335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hex ที่ท่วมจากน้ำล้นตลิ่งอย่างเดียว: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 = ชม. ตั้งแต่สถานีหลักของลำน้ำที่ใกล้ที่สุด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(≤ 10 กม.) ขึ้นเหนือตลิ่งครั้งล่าสุด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สรุปรายอำเภอ: มัธยฐานถ่วงพื้นที่ท่วมจริง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+ ค่าสูงสุด + พื้นที่แยก 5 ช่วงเวลา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2633472" cy="1645920"/>
          </a:xfrm>
          <a:prstGeom prst="roundRect">
            <a:avLst>
              <a:gd name="adj" fmla="val 555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9087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82.9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447995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ตร.กม. ที่ลึก 10 ซม. ขึ้นไป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64992" y="4526280"/>
            <a:ext cx="2633472" cy="1645920"/>
          </a:xfrm>
          <a:prstGeom prst="roundRect">
            <a:avLst>
              <a:gd name="adj" fmla="val 555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469087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42 / 160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5447995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ชม. ท่วมมาแล้ว (มัธยฐาน / สูงสุด)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4526280"/>
            <a:ext cx="2633472" cy="1645920"/>
          </a:xfrm>
          <a:prstGeom prst="roundRect">
            <a:avLst>
              <a:gd name="adj" fmla="val 555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9944" y="469087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37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5447995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ชม. คาดลดใน (มัธยฐาน)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97696" y="4526280"/>
            <a:ext cx="2633472" cy="1645920"/>
          </a:xfrm>
          <a:prstGeom prst="roundRect">
            <a:avLst>
              <a:gd name="adj" fmla="val 555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4690872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 · 37 · 22 · 0 · 3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5447995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ตร.กม. &lt; 1 / 1–3 / 3–7 / 7–14 / &gt; 14 วัน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 · ระยะเวลาท่วม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ผลระยะเวลาท่วมรายอำเภอ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1323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508760"/>
          <a:ext cx="368503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68680"/>
                <a:gridCol w="667512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อำเภอ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ท่วมมาแล้ว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ลดใน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สูงสุด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ลาดยาว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40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82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&gt; 14 วัน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แม่วงก์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39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29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49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บรรพตพิสัย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56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20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77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ชุมตาบง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32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25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38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เมืองนครสวรรค์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53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96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พยุหะคีรี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71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33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128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โกรกพระ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74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8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60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ตาคลี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38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13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60 ชม.</a:t>
                      </a:r>
                      <a:endParaRPr lang="en-US" sz="11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 · 2D และการสอบเทียบ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แบบจำลอง 2D local-inertial สำหรับจุดวิกฤต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q ← (q - g·h_f·Δt·∂η/∂x) / (1 + g·Δt·n²·|q| / h_f^(7/3))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∂h/∂t = -∇·q + น้ำท่าจากฝน - การสูญเสีย   ·   Δt จาก CFL (α = 0.7)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201168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โดเมน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กริด 120 ม.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สถานีขอบเขต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เวลารัน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ลาดยาว–แม่วงก์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278 × 356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Ct.5A, Ct.4, SKG007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159 วิ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เมืองนครสวรรค์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204 × 214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C.2, CPY001, PIN005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53 วิ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ชุมแสง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185 × 240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N.67, NAN008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53 วิ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5852160" cy="1325880"/>
          </a:xfrm>
          <a:prstGeom prst="roundRect">
            <a:avLst>
              <a:gd name="adj" fmla="val 6897"/>
            </a:avLst>
          </a:prstGeom>
          <a:solidFill>
            <a:srgbClr val="E3F1EE"/>
          </a:solidFill>
          <a:ln w="9525">
            <a:solidFill>
              <a:srgbClr val="E3F1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5029200"/>
            <a:ext cx="544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Manning n จาก WorldCover · ฝน SCS-CN ต่อ cell + คันนา 100 มม. · เริ่มจากระดับผิวน้ำ hex เมื่อ 48 ชม.ก่อน (ปรับปริมาตรให้ไม่เกินน้ำอิสระ) · ขอบโดเมนเปิด (normal depth 0.001)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0" y="1508760"/>
            <a:ext cx="5056632" cy="4663440"/>
          </a:xfrm>
          <a:prstGeom prst="roundRect">
            <a:avLst>
              <a:gd name="adj" fmla="val 1961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84848" y="1673352"/>
            <a:ext cx="4672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ขอบเขตแม่น้ำ (สิ่งที่แก้จนผลสมจริง)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84848" y="2203704"/>
            <a:ext cx="4654296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ระดับน้ำ = zbed ของ cell + ความลึกเหนือท้องน้ำของสถานี (WL - z_ref) interpolate ตามลำน้ำ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zbed = ค่าต่ำสุดของ DEM 30 ม. ใน cell 120 ม.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ตลิ่ง: ห้ามน้ำไหลจากแม่น้ำขึ้นที่ราบเมื่อระดับยังไม่ถึงตลิ่ง (ตลิ่งแคบกว่า 120 ม. จึงหายจาก DEM)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อนุรักษ์มวล: flux แม่น้ำ → ที่ราบ ≤ Σ max(Q - ความจุ, 0)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ผล: พื้นที่ท่วมในโดเมน 2D จาก 210–499 ตร.กม. (ก่อนแก้) → ลาดยาว 53–70 ตร.กม.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 · 2D และการสอบเทียบ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ผลแบบจำลอง 2D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" y="1453896"/>
            <a:ext cx="5047488" cy="4727448"/>
          </a:xfrm>
          <a:prstGeom prst="roundRect">
            <a:avLst>
              <a:gd name="adj" fmla="val 1547"/>
            </a:avLst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rpt/img/crop_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4937760" cy="4617720"/>
          </a:xfrm>
          <a:prstGeom prst="rect">
            <a:avLst/>
          </a:prstGeom>
        </p:spPr>
      </p:pic>
      <p:graphicFrame>
        <p:nvGraphicFramePr>
          <p:cNvPr id="6" name="Chart 0" descr=""/>
          <p:cNvGraphicFramePr/>
          <p:nvPr/>
        </p:nvGraphicFramePr>
        <p:xfrm>
          <a:off x="5760720" y="1417320"/>
          <a:ext cx="5879592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 · 2D และการสอบเทียบ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การสอบเทียบโมเดล hex กับแบบจำลอง 2D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7335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score = RMSE สัมพัทธ์ของพื้นที่ตั้งแต่ 10 ซม. รายชั่วโมง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      + 0.5 × MAE ของสัดส่วนท่วมราย hex (สูงสุด 72 ชม.)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852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1005840"/>
                <a:gridCol w="822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ชุดพารามิเตอร์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t_mult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weir_c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dcap_mult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score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ค่าเริ่มต้น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1.0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1.0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1.0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0.857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รอบ 1 (grid ×0.5/1/2)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0.5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0.3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1.3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0.644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รอบ 2 — ใช้งาน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0.5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0.05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1.7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0.489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5852160" cy="128016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9525">
            <a:solidFill>
              <a:srgbClr val="FFF4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5074920"/>
            <a:ext cx="5449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weir_c และ dcap_mult ยังอยู่ที่ขอบ grid · สอบเทียบรายสัปดาห์ใช้ grid ×0.5/1/2 รอบค่าปัจจุบันจึงขยับต่อได้ · เป้าหมายเป็นแบบจำลอง 2D ไม่ใช่น้ำท่วมจริง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583680" y="1417320"/>
          <a:ext cx="5056632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· การใช้งาน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การทำงานอัตโนมัติและ data contract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2120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ไฟล์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เนื้อหา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status.json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ราย hex: d (ซม.), c (ชั้น), s (1 ฝน / 2 ล้นตลิ่ง / 3 ทั้งคู่), h, r (ชม.), f (%), wse (ม.), ฝน p24/p72/p7d/f72, m72, u72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frames.json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ชั้นความลึกทุก 3 ชม. -7 วัน ถึง +72 ชม.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districts.json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รายอำเภอ: พื้นที่ ฝน dur_km2, h_med/h_max, r_med/r_max, r_km2[5]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upstream.json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hydrograph + พยากรณ์ recession rating overbank_since h_below_bank รายจังหวัด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gauges_hist.json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[t, Q, WL] รายชั่วโมง 30 วัน 28 สถานี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hotspots_live.json + PNG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ผล 2D: ความลึก now/+24/+48/+72/max, พื้นที่รายชั่วโมง, สัดส่วนท่วมราย hex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meta.json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เวลา สถานะแหล่งข้อมูล สรุป calibration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08760"/>
            <a:ext cx="3502152" cy="4663440"/>
          </a:xfrm>
          <a:prstGeom prst="roundRect">
            <a:avLst>
              <a:gd name="adj" fmla="val 2611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39328" y="167335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39328" y="2203704"/>
            <a:ext cx="3099816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cron ทุกชั่วโมง → run_update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6 ชม. → run_hotspots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อาทิตย์ 07:00 → calibrate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restore data/live ล่าสุดจาก Pages ก่อนรัน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keepalive กัน workflow ถูกปิดหลัง 60 วัน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Pro tool 2 รันบนเครื่อง → hex_status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 · คุณภาพผลลัพธ์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สถานะการตรวจสอบความถูกต้อง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7872" cy="461772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1907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ทำแล้ว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49424"/>
            <a:ext cx="314553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ทดสอบความไวต่อฝน ×1.5/×2 (ตอบสนองไม่เชิงเส้นตามคาด)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ปรับขนาดน้ำท่าต้นน้ำกับ P.17 / N.67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สอบเทียบ hex กับ 2D 3 โดเมน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ตรวจ hydrograph พยากรณ์กับประวัติ 30 วัน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547872" cy="461772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71907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ยังไม่ได้ทำ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49424"/>
            <a:ext cx="314553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เทียบพื้นที่ท่วมกับ GISTDA (ต้องมี API key)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ข้อมูลภาคสนาม/รายงาน ปภ. ราย ต.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เหตุการณ์ในอดีต 2554 / 2565 / 2567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ทดสอบ HEC-RAS 2D กับชุดข้อมูลที่ส่งออก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10144" y="1554480"/>
            <a:ext cx="3547872" cy="4617720"/>
          </a:xfrm>
          <a:prstGeom prst="roundRect">
            <a:avLst>
              <a:gd name="adj" fmla="val 2577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11312" y="1719072"/>
            <a:ext cx="3163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ตัวชี้วัดที่แนะนำ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2249424"/>
            <a:ext cx="314553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Hit rate / False alarm ratio / CSI ราย hex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ความคลาดเคลื่อนเวลาเริ่มท่วม–น้ำลด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RMSE ระดับน้ำที่สถานีที่ไม่ใช้สอบเทียบ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 · คุณภาพผลลัพธ์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ข้อจำกัดทางเทคนิค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0"/>
                <a:gridCol w="405079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ด้าน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ข้อจำกัด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ผลกระทบ / แนวทาง</a:t>
                      </a:r>
                      <a:endParaRPr lang="en-US" sz="12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ความละเอียด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hex 1 ตร.กม. · 2D 120 ม. เฉพาะ 3 จุด · DEM 30 ม. ไม่เห็นคันดินแคบ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ใช้จัดลำดับพื้นที่ ไม่ใช่ความลึกรายหลังคาเรือน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ฝน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Open-Meteo ต่างจากสถานีมาก · ปรับแก้เฉพาะ 24 ชม. ล่าสุด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เพิ่มฝนเรดาร์/ดาวเทียมย้อนหลัง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แม่น้ำ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ไม่พยากรณ์การระบายเขื่อน · recession exponential เดียว · τ = 12 ชม. สมมติ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เพิ่มข้อมูลเขื่อน · recession 2 ช่วง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ต้นน้ำ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ความเร็วเดียว 0.7 ม./วิ · ไม่แยกบึงสีไฟ/ทุ่งบางระกำ · เพชรบูรณ์นับเฉพาะส่วนที่ไหลเข้า นว.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calibrate lag รายลุ่มน้ำ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ระบายน้ำ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OSM ไม่มีสถานีสูบ · ประตูน้ำ 20 แห่ง · ไม่มีกฎการเปิด-ปิดจริง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นำเข้าข้อมูล ชป./อปท.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สอบเทียบ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เหตุการณ์เดียว เทียบกับ 2D · weir_c จากที่ราบ → ที่ลาดระบายช้า (2.8 ตร.กม. &gt; 14 วัน)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เพิ่มโดเมน 2D ที่ลาด + GISTDA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การเข้าถึงข้อมูล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GitHub runner ต่างประเทศอาจดึง ThaiWater ไม่ได้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self-hosted runner / รันจาก ArcGIS Pro</a:t>
                      </a:r>
                      <a:endParaRPr lang="en-US" sz="12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 ·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แผนพัฒนาต่อ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3000" cy="2377440"/>
          </a:xfrm>
          <a:prstGeom prst="roundRect">
            <a:avLst>
              <a:gd name="adj" fmla="val 384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6479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74650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Validate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58568"/>
            <a:ext cx="2183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GISTDA flood extent เป็นเป้าหมายการสอบเทียบ · เหตุการณ์ 2554/2565/2567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25648" y="26700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9112" y="1600200"/>
            <a:ext cx="2513000" cy="2377440"/>
          </a:xfrm>
          <a:prstGeom prst="roundRect">
            <a:avLst>
              <a:gd name="adj" fmla="val 384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3704" y="176479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012616" y="174650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ข้อมูลระบายน้ำ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258568"/>
            <a:ext cx="2183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ความจุสถานีสูบ ประตูน้ำ กฎการเดินเครื่องจาก ชป./อปท.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86120" y="26700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9584" y="1600200"/>
            <a:ext cx="2513000" cy="2377440"/>
          </a:xfrm>
          <a:prstGeom prst="roundRect">
            <a:avLst>
              <a:gd name="adj" fmla="val 384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4176" y="176479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4176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73088" y="174650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 + เขื่อน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52464" y="2258568"/>
            <a:ext cx="2183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GSMaP/IMERG/เรดาร์ TMD · การระบายภูมิพล/สิริกิติ์/นเรศวร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846591" y="2670048"/>
            <a:ext cx="219456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0055" y="1600200"/>
            <a:ext cx="2513000" cy="2377440"/>
          </a:xfrm>
          <a:prstGeom prst="roundRect">
            <a:avLst>
              <a:gd name="adj" fmla="val 3846"/>
            </a:avLst>
          </a:prstGeom>
          <a:solidFill>
            <a:srgbClr val="EEF5F9"/>
          </a:solidFill>
          <a:ln w="12700">
            <a:solidFill>
              <a:srgbClr val="EE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94647" y="1764792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4647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33559" y="1746504"/>
            <a:ext cx="178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ผลกระทบ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12935" y="2258568"/>
            <a:ext cx="2183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ประชากร ถนน โรงเรียน โรงพยาบาล รายตำบล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416552"/>
            <a:ext cx="5102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DEM ละเอียด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946904"/>
            <a:ext cx="50840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DEM 5 ม. (พด.) หรือ LiDAR ในจุดวิกฤต → 2D 30–60 ม. และคันดินแคบที่ DEM 30 ม. มองไม่เห็น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45352" y="4251960"/>
            <a:ext cx="5394960" cy="1920240"/>
          </a:xfrm>
          <a:prstGeom prst="roundRect">
            <a:avLst>
              <a:gd name="adj" fmla="val 4762"/>
            </a:avLst>
          </a:prstGeom>
          <a:solidFill>
            <a:srgbClr val="EEF5F9"/>
          </a:solidFill>
          <a:ln w="9525">
            <a:solidFill>
              <a:srgbClr val="EEF5F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4416552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ArcGIS Online / Enterprise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946904"/>
            <a:ext cx="49926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publish hex_status เป็น hosted feature layer → Dashboards / Experience Builder โดยใช้ pipeline เดิม + arcgis API edit_features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99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เอกสารอ้างอิงหลัก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Bates, P.D., Horritt, M.S., Fewtrell, T.J. (2010). A simple inertial formulation of the shallow water equations for efficient two-dimensional flood inundation modelling. J. Hydrology 387, 33–45.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de Almeida, G.A.M., Bates, P., Freer, J.E., Souvignet, M. (2012). Improving the stability of a simple formulation of the shallow water equations for 2-D flood modeling. Water Resources Research 48, W05528.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Hawker, L. et al. (2022). A 30 m global map of elevation with forests and buildings removed. Environmental Research Letters 17, 024016. (FABDEM)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Nobre, A.D. et al. (2011). Height Above the Nearest Drainage – a hydrologically relevant new terrain model. J. Hydrology 404, 13–29.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USDA-NRCS (1986). Urban Hydrology for Small Watersheds, TR-55 · NEH Part 630 Ch. 10 (SCS Curve Number).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O'Callaghan, J.F., Mark, D.M. (1984). The extraction of drainage networks from digital elevation data. CVGIP 28, 323–344. (D8)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Tallaksen, L.M. (1995). A review of baseflow recession analysis. J. Hydrology 165, 349–370.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Zanaga, D. et al. (2022). ESA WorldCover 10 m 2021 v200. Zenodo. · Copernicus DEM GLO-30 (ESA) · OpenStreetMap (ODbL) · geoBoundaries (Runfola et al. 2020)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ข้อมูลเวลาจริง: Open-Meteo (Zippenfenig 2023) · ThaiWater / สถาบันสารสนเทศทรัพยากรน้ำ (สสน.) · กรมชลประทาน · GISTDA Disaster API · Windy.com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Prompt"/>
                <a:ea typeface="Prompt"/>
                <a:cs typeface="Promp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omp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omp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Nakhon Sawan Flood Watch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Nakhon Sawan Flood Watch — รายละเอียดทางเทคนิค</dc:title>
  <dc:subject>PptxGenJS Presentation</dc:subject>
  <dc:creator>Att</dc:creator>
  <cp:lastModifiedBy>Att</cp:lastModifiedBy>
  <cp:revision>1</cp:revision>
  <dcterms:created xsi:type="dcterms:W3CDTF">2026-09-28T15:01:25Z</dcterms:created>
  <dcterms:modified xsi:type="dcterms:W3CDTF">2026-09-28T15:01:25Z</dcterms:modified>
</cp:coreProperties>
</file>