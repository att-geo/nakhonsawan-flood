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5.xml"/><Relationship Id="rId21" Type="http://schemas.openxmlformats.org/officeDocument/2006/relationships/slide" Target="slides/slide26.xml"/><Relationship Id="rId22" Type="http://schemas.openxmlformats.org/officeDocument/2006/relationships/slide" Target="slides/slide27.xml"/><Relationship Id="rId23" Type="http://schemas.openxmlformats.org/officeDocument/2006/relationships/slide" Target="slides/slide28.xml"/><Relationship Id="rId24" Type="http://schemas.openxmlformats.org/officeDocument/2006/relationships/slide" Target="slides/slide29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แม่วงก์-สะแกกรัง (Ct.5A) — ค่าตรวจวัด 7 วันและพยากรณ์ 72 ชม.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ค่าตรวจวัด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90</c:v>
                </c:pt>
                <c:pt idx="1">
                  <c:v>76</c:v>
                </c:pt>
                <c:pt idx="2">
                  <c:v>66</c:v>
                </c:pt>
                <c:pt idx="3">
                  <c:v>58</c:v>
                </c:pt>
                <c:pt idx="4">
                  <c:v>53</c:v>
                </c:pt>
                <c:pt idx="5">
                  <c:v>51</c:v>
                </c:pt>
                <c:pt idx="6">
                  <c:v>51</c:v>
                </c:pt>
                <c:pt idx="7">
                  <c:v>52</c:v>
                </c:pt>
                <c:pt idx="8">
                  <c:v>55</c:v>
                </c:pt>
                <c:pt idx="9">
                  <c:v>55</c:v>
                </c:pt>
                <c:pt idx="10">
                  <c:v>58</c:v>
                </c:pt>
                <c:pt idx="11">
                  <c:v>54</c:v>
                </c:pt>
                <c:pt idx="12">
                  <c:v>47</c:v>
                </c:pt>
                <c:pt idx="13">
                  <c:v>42</c:v>
                </c:pt>
                <c:pt idx="14">
                  <c:v>39</c:v>
                </c:pt>
                <c:pt idx="15">
                  <c:v>36</c:v>
                </c:pt>
                <c:pt idx="16">
                  <c:v>34</c:v>
                </c:pt>
                <c:pt idx="17">
                  <c:v>33</c:v>
                </c:pt>
                <c:pt idx="18">
                  <c:v>33</c:v>
                </c:pt>
                <c:pt idx="19">
                  <c:v>33</c:v>
                </c:pt>
                <c:pt idx="20">
                  <c:v>38</c:v>
                </c:pt>
                <c:pt idx="21">
                  <c:v>46</c:v>
                </c:pt>
                <c:pt idx="22">
                  <c:v>58</c:v>
                </c:pt>
                <c:pt idx="23">
                  <c:v>74</c:v>
                </c:pt>
                <c:pt idx="24">
                  <c:v>83</c:v>
                </c:pt>
                <c:pt idx="25">
                  <c:v>80</c:v>
                </c:pt>
                <c:pt idx="26">
                  <c:v>78</c:v>
                </c:pt>
                <c:pt idx="27">
                  <c:v>85</c:v>
                </c:pt>
                <c:pt idx="28">
                  <c:v>91</c:v>
                </c:pt>
                <c:pt idx="29">
                  <c:v>101</c:v>
                </c:pt>
                <c:pt idx="30">
                  <c:v>120</c:v>
                </c:pt>
                <c:pt idx="31">
                  <c:v>145</c:v>
                </c:pt>
                <c:pt idx="32">
                  <c:v>169</c:v>
                </c:pt>
                <c:pt idx="33">
                  <c:v>185</c:v>
                </c:pt>
                <c:pt idx="34">
                  <c:v>182</c:v>
                </c:pt>
                <c:pt idx="35">
                  <c:v>178</c:v>
                </c:pt>
                <c:pt idx="36">
                  <c:v>181</c:v>
                </c:pt>
                <c:pt idx="37">
                  <c:v>195</c:v>
                </c:pt>
                <c:pt idx="38">
                  <c:v>193</c:v>
                </c:pt>
                <c:pt idx="39">
                  <c:v>197</c:v>
                </c:pt>
                <c:pt idx="40">
                  <c:v>202</c:v>
                </c:pt>
                <c:pt idx="41">
                  <c:v>209</c:v>
                </c:pt>
                <c:pt idx="42">
                  <c:v>220</c:v>
                </c:pt>
                <c:pt idx="43">
                  <c:v>241</c:v>
                </c:pt>
                <c:pt idx="44">
                  <c:v>288</c:v>
                </c:pt>
                <c:pt idx="45">
                  <c:v>317</c:v>
                </c:pt>
                <c:pt idx="46">
                  <c:v>330</c:v>
                </c:pt>
                <c:pt idx="47">
                  <c:v>331</c:v>
                </c:pt>
                <c:pt idx="48">
                  <c:v>351</c:v>
                </c:pt>
                <c:pt idx="49">
                  <c:v>362</c:v>
                </c:pt>
                <c:pt idx="50">
                  <c:v>362</c:v>
                </c:pt>
                <c:pt idx="51">
                  <c:v>358</c:v>
                </c:pt>
                <c:pt idx="52">
                  <c:v>355</c:v>
                </c:pt>
                <c:pt idx="53">
                  <c:v>349</c:v>
                </c:pt>
                <c:pt idx="54">
                  <c:v>344</c:v>
                </c:pt>
                <c:pt idx="55">
                  <c:v>358</c:v>
                </c:pt>
                <c:pt idx="56">
                  <c:v>386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พยากรณ์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Sheet1!$C$2:$C$82</c:f>
              <c:numCache>
                <c:formatCode>General</c:formatCode>
                <c:ptCount val="81"/>
                <c:pt idx="56">
                  <c:v>386</c:v>
                </c:pt>
                <c:pt idx="57">
                  <c:v>404</c:v>
                </c:pt>
                <c:pt idx="58">
                  <c:v>418</c:v>
                </c:pt>
                <c:pt idx="59">
                  <c:v>429</c:v>
                </c:pt>
                <c:pt idx="60">
                  <c:v>437</c:v>
                </c:pt>
                <c:pt idx="61">
                  <c:v>398</c:v>
                </c:pt>
                <c:pt idx="62">
                  <c:v>362</c:v>
                </c:pt>
                <c:pt idx="63">
                  <c:v>329</c:v>
                </c:pt>
                <c:pt idx="64">
                  <c:v>300</c:v>
                </c:pt>
                <c:pt idx="65">
                  <c:v>273</c:v>
                </c:pt>
                <c:pt idx="66">
                  <c:v>249</c:v>
                </c:pt>
                <c:pt idx="67">
                  <c:v>226</c:v>
                </c:pt>
                <c:pt idx="68">
                  <c:v>206</c:v>
                </c:pt>
                <c:pt idx="69">
                  <c:v>188</c:v>
                </c:pt>
                <c:pt idx="70">
                  <c:v>172</c:v>
                </c:pt>
                <c:pt idx="71">
                  <c:v>157</c:v>
                </c:pt>
                <c:pt idx="72">
                  <c:v>143</c:v>
                </c:pt>
                <c:pt idx="73">
                  <c:v>131</c:v>
                </c:pt>
                <c:pt idx="74">
                  <c:v>119</c:v>
                </c:pt>
                <c:pt idx="75">
                  <c:v>109</c:v>
                </c:pt>
                <c:pt idx="76">
                  <c:v>100</c:v>
                </c:pt>
                <c:pt idx="77">
                  <c:v>91</c:v>
                </c:pt>
                <c:pt idx="78">
                  <c:v>84</c:v>
                </c:pt>
                <c:pt idx="79">
                  <c:v>77</c:v>
                </c:pt>
                <c:pt idx="80">
                  <c:v>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ความจุลำน้ำ</c:v>
                </c:pt>
              </c:strCache>
            </c:strRef>
          </c:tx>
          <c:spPr>
            <a:solidFill>
              <a:srgbClr val="D64545"/>
            </a:solidFill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232</c:v>
                </c:pt>
                <c:pt idx="1">
                  <c:v>232</c:v>
                </c:pt>
                <c:pt idx="2">
                  <c:v>232</c:v>
                </c:pt>
                <c:pt idx="3">
                  <c:v>232</c:v>
                </c:pt>
                <c:pt idx="4">
                  <c:v>232</c:v>
                </c:pt>
                <c:pt idx="5">
                  <c:v>232</c:v>
                </c:pt>
                <c:pt idx="6">
                  <c:v>232</c:v>
                </c:pt>
                <c:pt idx="7">
                  <c:v>232</c:v>
                </c:pt>
                <c:pt idx="8">
                  <c:v>232</c:v>
                </c:pt>
                <c:pt idx="9">
                  <c:v>232</c:v>
                </c:pt>
                <c:pt idx="10">
                  <c:v>232</c:v>
                </c:pt>
                <c:pt idx="11">
                  <c:v>232</c:v>
                </c:pt>
                <c:pt idx="12">
                  <c:v>232</c:v>
                </c:pt>
                <c:pt idx="13">
                  <c:v>232</c:v>
                </c:pt>
                <c:pt idx="14">
                  <c:v>232</c:v>
                </c:pt>
                <c:pt idx="15">
                  <c:v>232</c:v>
                </c:pt>
                <c:pt idx="16">
                  <c:v>232</c:v>
                </c:pt>
                <c:pt idx="17">
                  <c:v>232</c:v>
                </c:pt>
                <c:pt idx="18">
                  <c:v>232</c:v>
                </c:pt>
                <c:pt idx="19">
                  <c:v>232</c:v>
                </c:pt>
                <c:pt idx="20">
                  <c:v>232</c:v>
                </c:pt>
                <c:pt idx="21">
                  <c:v>232</c:v>
                </c:pt>
                <c:pt idx="22">
                  <c:v>232</c:v>
                </c:pt>
                <c:pt idx="23">
                  <c:v>232</c:v>
                </c:pt>
                <c:pt idx="24">
                  <c:v>232</c:v>
                </c:pt>
                <c:pt idx="25">
                  <c:v>232</c:v>
                </c:pt>
                <c:pt idx="26">
                  <c:v>232</c:v>
                </c:pt>
                <c:pt idx="27">
                  <c:v>232</c:v>
                </c:pt>
                <c:pt idx="28">
                  <c:v>232</c:v>
                </c:pt>
                <c:pt idx="29">
                  <c:v>232</c:v>
                </c:pt>
                <c:pt idx="30">
                  <c:v>232</c:v>
                </c:pt>
                <c:pt idx="31">
                  <c:v>232</c:v>
                </c:pt>
                <c:pt idx="32">
                  <c:v>232</c:v>
                </c:pt>
                <c:pt idx="33">
                  <c:v>232</c:v>
                </c:pt>
                <c:pt idx="34">
                  <c:v>232</c:v>
                </c:pt>
                <c:pt idx="35">
                  <c:v>232</c:v>
                </c:pt>
                <c:pt idx="36">
                  <c:v>232</c:v>
                </c:pt>
                <c:pt idx="37">
                  <c:v>232</c:v>
                </c:pt>
                <c:pt idx="38">
                  <c:v>232</c:v>
                </c:pt>
                <c:pt idx="39">
                  <c:v>232</c:v>
                </c:pt>
                <c:pt idx="40">
                  <c:v>232</c:v>
                </c:pt>
                <c:pt idx="41">
                  <c:v>232</c:v>
                </c:pt>
                <c:pt idx="42">
                  <c:v>232</c:v>
                </c:pt>
                <c:pt idx="43">
                  <c:v>232</c:v>
                </c:pt>
                <c:pt idx="44">
                  <c:v>232</c:v>
                </c:pt>
                <c:pt idx="45">
                  <c:v>232</c:v>
                </c:pt>
                <c:pt idx="46">
                  <c:v>232</c:v>
                </c:pt>
                <c:pt idx="47">
                  <c:v>232</c:v>
                </c:pt>
                <c:pt idx="48">
                  <c:v>232</c:v>
                </c:pt>
                <c:pt idx="49">
                  <c:v>232</c:v>
                </c:pt>
                <c:pt idx="50">
                  <c:v>232</c:v>
                </c:pt>
                <c:pt idx="51">
                  <c:v>232</c:v>
                </c:pt>
                <c:pt idx="52">
                  <c:v>232</c:v>
                </c:pt>
                <c:pt idx="53">
                  <c:v>232</c:v>
                </c:pt>
                <c:pt idx="54">
                  <c:v>232</c:v>
                </c:pt>
                <c:pt idx="55">
                  <c:v>232</c:v>
                </c:pt>
                <c:pt idx="56">
                  <c:v>232</c:v>
                </c:pt>
                <c:pt idx="57">
                  <c:v>232</c:v>
                </c:pt>
                <c:pt idx="58">
                  <c:v>232</c:v>
                </c:pt>
                <c:pt idx="59">
                  <c:v>232</c:v>
                </c:pt>
                <c:pt idx="60">
                  <c:v>232</c:v>
                </c:pt>
                <c:pt idx="61">
                  <c:v>232</c:v>
                </c:pt>
                <c:pt idx="62">
                  <c:v>232</c:v>
                </c:pt>
                <c:pt idx="63">
                  <c:v>232</c:v>
                </c:pt>
                <c:pt idx="64">
                  <c:v>232</c:v>
                </c:pt>
                <c:pt idx="65">
                  <c:v>232</c:v>
                </c:pt>
                <c:pt idx="66">
                  <c:v>232</c:v>
                </c:pt>
                <c:pt idx="67">
                  <c:v>232</c:v>
                </c:pt>
                <c:pt idx="68">
                  <c:v>232</c:v>
                </c:pt>
                <c:pt idx="69">
                  <c:v>232</c:v>
                </c:pt>
                <c:pt idx="70">
                  <c:v>232</c:v>
                </c:pt>
                <c:pt idx="71">
                  <c:v>232</c:v>
                </c:pt>
                <c:pt idx="72">
                  <c:v>232</c:v>
                </c:pt>
                <c:pt idx="73">
                  <c:v>232</c:v>
                </c:pt>
                <c:pt idx="74">
                  <c:v>232</c:v>
                </c:pt>
                <c:pt idx="75">
                  <c:v>232</c:v>
                </c:pt>
                <c:pt idx="76">
                  <c:v>232</c:v>
                </c:pt>
                <c:pt idx="77">
                  <c:v>232</c:v>
                </c:pt>
                <c:pt idx="78">
                  <c:v>232</c:v>
                </c:pt>
                <c:pt idx="79">
                  <c:v>232</c:v>
                </c:pt>
                <c:pt idx="80">
                  <c:v>232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ลบ.ม./วิ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พื้นที่ท่วมรายชั่วโมงในโดเมน 2D (−48 ถึง +72 ชม. จากปัจจุบัน)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ลาดยาว–แม่วงก์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17.9</c:v>
                </c:pt>
                <c:pt idx="1">
                  <c:v>13.7</c:v>
                </c:pt>
                <c:pt idx="2">
                  <c:v>13.1</c:v>
                </c:pt>
                <c:pt idx="3">
                  <c:v>12.5</c:v>
                </c:pt>
                <c:pt idx="4">
                  <c:v>18.1</c:v>
                </c:pt>
                <c:pt idx="5">
                  <c:v>21.7</c:v>
                </c:pt>
                <c:pt idx="6">
                  <c:v>22.3</c:v>
                </c:pt>
                <c:pt idx="7">
                  <c:v>21.8</c:v>
                </c:pt>
                <c:pt idx="8">
                  <c:v>22.7</c:v>
                </c:pt>
                <c:pt idx="9">
                  <c:v>24.3</c:v>
                </c:pt>
                <c:pt idx="10">
                  <c:v>25.9</c:v>
                </c:pt>
                <c:pt idx="11">
                  <c:v>27.5</c:v>
                </c:pt>
                <c:pt idx="12">
                  <c:v>29.7</c:v>
                </c:pt>
                <c:pt idx="13">
                  <c:v>36.5</c:v>
                </c:pt>
                <c:pt idx="14">
                  <c:v>45.5</c:v>
                </c:pt>
                <c:pt idx="15">
                  <c:v>50.7</c:v>
                </c:pt>
                <c:pt idx="16">
                  <c:v>52.7</c:v>
                </c:pt>
                <c:pt idx="17">
                  <c:v>54.3</c:v>
                </c:pt>
                <c:pt idx="18">
                  <c:v>56.8</c:v>
                </c:pt>
                <c:pt idx="19">
                  <c:v>59.9</c:v>
                </c:pt>
                <c:pt idx="20">
                  <c:v>61.2</c:v>
                </c:pt>
                <c:pt idx="21">
                  <c:v>61</c:v>
                </c:pt>
                <c:pt idx="22">
                  <c:v>59.8</c:v>
                </c:pt>
                <c:pt idx="23">
                  <c:v>57.6</c:v>
                </c:pt>
                <c:pt idx="24">
                  <c:v>56.2</c:v>
                </c:pt>
                <c:pt idx="25">
                  <c:v>53.4</c:v>
                </c:pt>
                <c:pt idx="26">
                  <c:v>50.9</c:v>
                </c:pt>
                <c:pt idx="27">
                  <c:v>47.6</c:v>
                </c:pt>
                <c:pt idx="28">
                  <c:v>43.8</c:v>
                </c:pt>
                <c:pt idx="29">
                  <c:v>40.8</c:v>
                </c:pt>
                <c:pt idx="30">
                  <c:v>37.3</c:v>
                </c:pt>
                <c:pt idx="31">
                  <c:v>34.7</c:v>
                </c:pt>
                <c:pt idx="32">
                  <c:v>32.5</c:v>
                </c:pt>
                <c:pt idx="33">
                  <c:v>30.5</c:v>
                </c:pt>
                <c:pt idx="34">
                  <c:v>28.6</c:v>
                </c:pt>
                <c:pt idx="35">
                  <c:v>26.9</c:v>
                </c:pt>
                <c:pt idx="36">
                  <c:v>25.7</c:v>
                </c:pt>
                <c:pt idx="37">
                  <c:v>24.3</c:v>
                </c:pt>
                <c:pt idx="38">
                  <c:v>23.1</c:v>
                </c:pt>
                <c:pt idx="39">
                  <c:v>22.2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เมืองนครสวรรค์</c:v>
                </c:pt>
              </c:strCache>
            </c:strRef>
          </c:tx>
          <c:spPr>
            <a:solidFill>
              <a:srgbClr val="1B998B"/>
            </a:solidFill>
            <a:ln w="25400" cap="flat">
              <a:solidFill>
                <a:srgbClr val="1B99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5</c:v>
                </c:pt>
                <c:pt idx="1">
                  <c:v>4.5</c:v>
                </c:pt>
                <c:pt idx="2">
                  <c:v>4.3</c:v>
                </c:pt>
                <c:pt idx="3">
                  <c:v>4.2</c:v>
                </c:pt>
                <c:pt idx="4">
                  <c:v>4.1</c:v>
                </c:pt>
                <c:pt idx="5">
                  <c:v>4.1</c:v>
                </c:pt>
                <c:pt idx="6">
                  <c:v>4.3</c:v>
                </c:pt>
                <c:pt idx="7">
                  <c:v>4.4</c:v>
                </c:pt>
                <c:pt idx="8">
                  <c:v>5.1</c:v>
                </c:pt>
                <c:pt idx="9">
                  <c:v>5.2</c:v>
                </c:pt>
                <c:pt idx="10">
                  <c:v>5.2</c:v>
                </c:pt>
                <c:pt idx="11">
                  <c:v>5.2</c:v>
                </c:pt>
                <c:pt idx="12">
                  <c:v>5.2</c:v>
                </c:pt>
                <c:pt idx="13">
                  <c:v>5.3</c:v>
                </c:pt>
                <c:pt idx="14">
                  <c:v>5.8</c:v>
                </c:pt>
                <c:pt idx="15">
                  <c:v>6.9</c:v>
                </c:pt>
                <c:pt idx="16">
                  <c:v>7.9</c:v>
                </c:pt>
                <c:pt idx="17">
                  <c:v>8.2</c:v>
                </c:pt>
                <c:pt idx="18">
                  <c:v>8.2</c:v>
                </c:pt>
                <c:pt idx="19">
                  <c:v>8.2</c:v>
                </c:pt>
                <c:pt idx="20">
                  <c:v>8.2</c:v>
                </c:pt>
                <c:pt idx="21">
                  <c:v>8.2</c:v>
                </c:pt>
                <c:pt idx="22">
                  <c:v>8.1</c:v>
                </c:pt>
                <c:pt idx="23">
                  <c:v>8</c:v>
                </c:pt>
                <c:pt idx="24">
                  <c:v>8</c:v>
                </c:pt>
                <c:pt idx="25">
                  <c:v>7.9</c:v>
                </c:pt>
                <c:pt idx="26">
                  <c:v>7.8</c:v>
                </c:pt>
                <c:pt idx="27">
                  <c:v>7.7</c:v>
                </c:pt>
                <c:pt idx="28">
                  <c:v>7.6</c:v>
                </c:pt>
                <c:pt idx="29">
                  <c:v>7.5</c:v>
                </c:pt>
                <c:pt idx="30">
                  <c:v>7.5</c:v>
                </c:pt>
                <c:pt idx="31">
                  <c:v>7.5</c:v>
                </c:pt>
                <c:pt idx="32">
                  <c:v>7.5</c:v>
                </c:pt>
                <c:pt idx="33">
                  <c:v>7.4</c:v>
                </c:pt>
                <c:pt idx="34">
                  <c:v>7.3</c:v>
                </c:pt>
                <c:pt idx="35">
                  <c:v>7.3</c:v>
                </c:pt>
                <c:pt idx="36">
                  <c:v>7.2</c:v>
                </c:pt>
                <c:pt idx="37">
                  <c:v>6.9</c:v>
                </c:pt>
                <c:pt idx="38">
                  <c:v>6.9</c:v>
                </c:pt>
                <c:pt idx="39">
                  <c:v>6.8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ชุมแสง</c:v>
                </c:pt>
              </c:strCache>
            </c:strRef>
          </c:tx>
          <c:spPr>
            <a:solidFill>
              <a:srgbClr val="F2A541"/>
            </a:solidFill>
            <a:ln w="254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Sheet1!$A$2:$A$42</c:f>
              <c:multiLvlStrCache>
                <c:ptCount val="41"/>
                <c:lvl>
                  <c:pt idx="0">
                    <c:v>-48 ชม.</c:v>
                  </c:pt>
                  <c:pt idx="1">
                    <c:v>-45 ชม.</c:v>
                  </c:pt>
                  <c:pt idx="2">
                    <c:v>-42 ชม.</c:v>
                  </c:pt>
                  <c:pt idx="3">
                    <c:v>-39 ชม.</c:v>
                  </c:pt>
                  <c:pt idx="4">
                    <c:v>-36 ชม.</c:v>
                  </c:pt>
                  <c:pt idx="5">
                    <c:v>-33 ชม.</c:v>
                  </c:pt>
                  <c:pt idx="6">
                    <c:v>-30 ชม.</c:v>
                  </c:pt>
                  <c:pt idx="7">
                    <c:v>-27 ชม.</c:v>
                  </c:pt>
                  <c:pt idx="8">
                    <c:v>-24 ชม.</c:v>
                  </c:pt>
                  <c:pt idx="9">
                    <c:v>-21 ชม.</c:v>
                  </c:pt>
                  <c:pt idx="10">
                    <c:v>-18 ชม.</c:v>
                  </c:pt>
                  <c:pt idx="11">
                    <c:v>-15 ชม.</c:v>
                  </c:pt>
                  <c:pt idx="12">
                    <c:v>-12 ชม.</c:v>
                  </c:pt>
                  <c:pt idx="13">
                    <c:v>-9 ชม.</c:v>
                  </c:pt>
                  <c:pt idx="14">
                    <c:v>-6 ชม.</c:v>
                  </c:pt>
                  <c:pt idx="15">
                    <c:v>-3 ชม.</c:v>
                  </c:pt>
                  <c:pt idx="16">
                    <c:v>0 ชม.</c:v>
                  </c:pt>
                  <c:pt idx="17">
                    <c:v>+3 ชม.</c:v>
                  </c:pt>
                  <c:pt idx="18">
                    <c:v>+6 ชม.</c:v>
                  </c:pt>
                  <c:pt idx="19">
                    <c:v>+9 ชม.</c:v>
                  </c:pt>
                  <c:pt idx="20">
                    <c:v>+12 ชม.</c:v>
                  </c:pt>
                  <c:pt idx="21">
                    <c:v>+15 ชม.</c:v>
                  </c:pt>
                  <c:pt idx="22">
                    <c:v>+18 ชม.</c:v>
                  </c:pt>
                  <c:pt idx="23">
                    <c:v>+21 ชม.</c:v>
                  </c:pt>
                  <c:pt idx="24">
                    <c:v>+24 ชม.</c:v>
                  </c:pt>
                  <c:pt idx="25">
                    <c:v>+27 ชม.</c:v>
                  </c:pt>
                  <c:pt idx="26">
                    <c:v>+30 ชม.</c:v>
                  </c:pt>
                  <c:pt idx="27">
                    <c:v>+33 ชม.</c:v>
                  </c:pt>
                  <c:pt idx="28">
                    <c:v>+36 ชม.</c:v>
                  </c:pt>
                  <c:pt idx="29">
                    <c:v>+39 ชม.</c:v>
                  </c:pt>
                  <c:pt idx="30">
                    <c:v>+42 ชม.</c:v>
                  </c:pt>
                  <c:pt idx="31">
                    <c:v>+45 ชม.</c:v>
                  </c:pt>
                  <c:pt idx="32">
                    <c:v>+48 ชม.</c:v>
                  </c:pt>
                  <c:pt idx="33">
                    <c:v>+51 ชม.</c:v>
                  </c:pt>
                  <c:pt idx="34">
                    <c:v>+54 ชม.</c:v>
                  </c:pt>
                  <c:pt idx="35">
                    <c:v>+57 ชม.</c:v>
                  </c:pt>
                  <c:pt idx="36">
                    <c:v>+60 ชม.</c:v>
                  </c:pt>
                  <c:pt idx="37">
                    <c:v>+63 ชม.</c:v>
                  </c:pt>
                  <c:pt idx="38">
                    <c:v>+66 ชม.</c:v>
                  </c:pt>
                  <c:pt idx="39">
                    <c:v>+69 ชม.</c:v>
                  </c:pt>
                  <c:pt idx="40">
                    <c:v>+72 ชม.</c:v>
                  </c:pt>
                </c:lvl>
              </c:multiLvlStrCache>
            </c:multiLvlStrRef>
          </c:cat>
          <c:val>
            <c:numRef>
              <c:f>Sheet1!$D$2:$D$42</c:f>
              <c:numCache>
                <c:formatCode>General</c:formatCode>
                <c:ptCount val="41"/>
                <c:pt idx="0">
                  <c:v>0.3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  <c:pt idx="4">
                  <c:v>0.3</c:v>
                </c:pt>
                <c:pt idx="5">
                  <c:v>0.3</c:v>
                </c:pt>
                <c:pt idx="6">
                  <c:v>0.3</c:v>
                </c:pt>
                <c:pt idx="7">
                  <c:v>0.3</c:v>
                </c:pt>
                <c:pt idx="8">
                  <c:v>0.3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0.3</c:v>
                </c:pt>
                <c:pt idx="14">
                  <c:v>0.4</c:v>
                </c:pt>
                <c:pt idx="15">
                  <c:v>0.5</c:v>
                </c:pt>
                <c:pt idx="16">
                  <c:v>0.6</c:v>
                </c:pt>
                <c:pt idx="17">
                  <c:v>0.6</c:v>
                </c:pt>
                <c:pt idx="18">
                  <c:v>0.6</c:v>
                </c:pt>
                <c:pt idx="19">
                  <c:v>0.6</c:v>
                </c:pt>
                <c:pt idx="20">
                  <c:v>0.6</c:v>
                </c:pt>
                <c:pt idx="21">
                  <c:v>0.6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</c:v>
                </c:pt>
                <c:pt idx="35">
                  <c:v>0.4</c:v>
                </c:pt>
                <c:pt idx="36">
                  <c:v>0.4</c:v>
                </c:pt>
                <c:pt idx="37">
                  <c:v>0.4</c:v>
                </c:pt>
                <c:pt idx="38">
                  <c:v>0.4</c:v>
                </c:pt>
                <c:pt idx="39">
                  <c:v>0.4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 (ลึก 10 ซม. ขึ้นไป)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คะแนนความคลาดเคลื่อนเทียบแบบจำลอง 2D (ต่ำ = ดี)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คะแนน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B3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D3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3C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ค่าเริ่มต้น</c:v>
                  </c:pt>
                  <c:pt idx="1">
                    <c:v>รอบ 1</c:v>
                  </c:pt>
                  <c:pt idx="2">
                    <c:v>รอบ 2 (ใช้งาน)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0.8571</c:v>
                </c:pt>
                <c:pt idx="1">
                  <c:v>0.6443</c:v>
                </c:pt>
                <c:pt idx="2">
                  <c:v>0.4887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3C5D"/>
                </a:solidFill>
                <a:latin typeface="Prompt"/>
              </a:rPr>
              <a:t>ขัง 7 วันขึ้นไป (จำลอง) vs ท่วม 30 วันขึ้นไป อย่างน้อย 3 ปี (จริง)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POD</c:v>
                </c:pt>
              </c:strCache>
            </c:strRef>
          </c:tx>
          <c:spPr>
            <a:solidFill>
              <a:srgbClr val="1B998B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0.29</c:v>
                </c:pt>
                <c:pt idx="1">
                  <c:v>0.42</c:v>
                </c:pt>
                <c:pt idx="2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FAR</c:v>
                </c:pt>
              </c:strCache>
            </c:strRef>
          </c:tx>
          <c:spPr>
            <a:solidFill>
              <a:srgbClr val="F2A541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0.52</c:v>
                </c:pt>
                <c:pt idx="1">
                  <c:v>0.49</c:v>
                </c:pt>
                <c:pt idx="2">
                  <c:v>0.45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CSI</c:v>
                </c:pt>
              </c:strCache>
            </c:strRef>
          </c:tx>
          <c:spPr>
            <a:solidFill>
              <a:srgbClr val="0B3C5D"/>
            </a:solidFill>
          </c:spPr>
          <c:cat>
            <c:strRef>
              <c:f>Sheet1!$A$2:$A$4</c:f>
              <c:strCache>
                <c:ptCount val="3"/>
                <c:pt idx="0">
                  <c:v>C ฝนอย่างเดียว</c:v>
                </c:pt>
                <c:pt idx="1">
                  <c:v>D + เต็มตลิ่ง</c:v>
                </c:pt>
                <c:pt idx="2">
                  <c:v>E + ล้นตลิ่ง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0.22</c:v>
                </c:pt>
                <c:pt idx="1">
                  <c:v>0.3</c:v>
                </c:pt>
                <c:pt idx="2">
                  <c:v>0.49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Promp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Prompt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B3C5D"/>
                </a:solidFill>
                <a:latin typeface="Prompt"/>
              </a:rPr>
              <a:t>ท่วม 30 วันขึ้นไป เฉลี่ย 3 ปี (ตร.กม.)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แบบจำลอง</c:v>
                </c:pt>
              </c:strCache>
            </c:strRef>
          </c:tx>
          <c:spPr>
            <a:solidFill>
              <a:srgbClr val="D64545"/>
            </a:solidFill>
          </c:spPr>
          <c:cat>
            <c:strRef>
              <c:f>Sheet1!$A$2:$A$9</c:f>
              <c:strCache>
                <c:ptCount val="8"/>
                <c:pt idx="0">
                  <c:v>หัวถนน</c:v>
                </c:pt>
                <c:pt idx="1">
                  <c:v>ท่าตะโก</c:v>
                </c:pt>
                <c:pt idx="2">
                  <c:v>พนมรอก</c:v>
                </c:pt>
                <c:pt idx="3">
                  <c:v>พระนอน</c:v>
                </c:pt>
                <c:pt idx="4">
                  <c:v>ไผ่สิงห์</c:v>
                </c:pt>
                <c:pt idx="5">
                  <c:v>พนมเศษ</c:v>
                </c:pt>
                <c:pt idx="6">
                  <c:v>วังมหากร</c:v>
                </c:pt>
                <c:pt idx="7">
                  <c:v>ทับกฤช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9.8</c:v>
                </c:pt>
                <c:pt idx="1">
                  <c:v>10.0</c:v>
                </c:pt>
                <c:pt idx="2">
                  <c:v>7.9</c:v>
                </c:pt>
                <c:pt idx="3">
                  <c:v>29.4</c:v>
                </c:pt>
                <c:pt idx="4">
                  <c:v>1.4</c:v>
                </c:pt>
                <c:pt idx="5">
                  <c:v>48.4</c:v>
                </c:pt>
                <c:pt idx="6">
                  <c:v>50.0</c:v>
                </c:pt>
                <c:pt idx="7">
                  <c:v>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ดาวเทียม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Sheet1!$A$2:$A$9</c:f>
              <c:strCache>
                <c:ptCount val="8"/>
                <c:pt idx="0">
                  <c:v>หัวถนน</c:v>
                </c:pt>
                <c:pt idx="1">
                  <c:v>ท่าตะโก</c:v>
                </c:pt>
                <c:pt idx="2">
                  <c:v>พนมรอก</c:v>
                </c:pt>
                <c:pt idx="3">
                  <c:v>พระนอน</c:v>
                </c:pt>
                <c:pt idx="4">
                  <c:v>ไผ่สิงห์</c:v>
                </c:pt>
                <c:pt idx="5">
                  <c:v>พนมเศษ</c:v>
                </c:pt>
                <c:pt idx="6">
                  <c:v>วังมหากร</c:v>
                </c:pt>
                <c:pt idx="7">
                  <c:v>ทับกฤช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7.1</c:v>
                </c:pt>
                <c:pt idx="1">
                  <c:v>13.0</c:v>
                </c:pt>
                <c:pt idx="2">
                  <c:v>11.3</c:v>
                </c:pt>
                <c:pt idx="3">
                  <c:v>15.3</c:v>
                </c:pt>
                <c:pt idx="4">
                  <c:v>12.6</c:v>
                </c:pt>
                <c:pt idx="5">
                  <c:v>36.7</c:v>
                </c:pt>
                <c:pt idx="6">
                  <c:v>42.8</c:v>
                </c:pt>
                <c:pt idx="7">
                  <c:v>69.9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E293B"/>
                  </a:solidFill>
                  <a:latin typeface="Promp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Promp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Prompt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64748B"/>
          </a:solidFill>
          <a:latin typeface="Promp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ขยายประวัติน้ำท่วมจากแอ่งท่าตะโกเป็นทั้งจังหวัด ใช้สองวงโคจรเพื่อให้ภาพถี่ขึ้น ผลรายตำบลใช้เป็นเป้าหมายสอบเทียบแบบจำลอง 2D ทั้งจังหวัด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ระดับน้ำสถานีไม่ถึงตลิ่งจริงหลายปี แต่น้ำเข้าทุ่งผ่านคลองและประตูน้ำ จึงใช้ตลิ่งใช้งานต่ำกว่าตลิ่งจริงและจำกัดอัตราน้ำเข้าทุ่งรายลำน้ำ ระดับบึงในแบบจำลองยังสูงกว่าจริงราว 0.45 ม. ในปี 2568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ฝนอย่างเดียวขังนานไม่มาก แม่น้ำสูงทำให้พื้นที่ขังนานเพิ่ม 3.6–4 เท่า ; พยากรณ์ทั้งจังหวัดแยกรอบจาก 2D จุดวิกฤต (ทุก 6 ชม.) และ Sentinel-1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TECHNICAL DEEP-DIVE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Nakhon Sawan Flood Watch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วิธีวิเคราะห์ แบบจำลอง และการสอบเทียบ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terrain processing · hex network model v3 · upstream routing · gauge recession · 2D local-inertial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สำหรับทีม GIS / อุทกวิทยา · ข้อมูล ณ 28 ก.ย. 2569 · ปรับปรุงผล Sentinel-1 และแอ่งท่าตะโก 30 ก.ย. 2569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68896" y="768096"/>
            <a:ext cx="4544568" cy="5321808"/>
          </a:xfrm>
          <a:prstGeom prst="roundRect">
            <a:avLst>
              <a:gd name="adj" fmla="val 1610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822960"/>
            <a:ext cx="443484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หัวข้อ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2704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สถาปัตยกรรมและข้อมูล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static vs dynamic · แหล่งข้อมูล · data contract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2167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8541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DEM conditioning · HAND · CN · hex network · upstream basins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825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8437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แบบจำลองรายชั่วโมง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ฝน · SCS-CN · hex v3 · fill-spill · โครงสร้างระบายน้ำ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483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021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แม่น้ำและต้นน้ำ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routing · rating curve · recession · overbank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1422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อัลกอริทึม · สรุปรายอำเภอ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4800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818888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2D และการสอบเทียบ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local-inertial · grid search · Sentinel-1 · แอ่งท่าตะโก · เหตุการณ์ 2564/65/68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458968"/>
            <a:ext cx="420624" cy="420624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47725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ผลลัพธ์ ข้อจำกัด แผนพัฒนา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· สถาปัตยกรรม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สถาปัตยกรรม: แยก static (แม่นเชิงพื้นที่) ออกจาก dynamic (เร็ว เบา)</a:t>
            </a:r>
            <a:endParaRPr lang="en-US" sz="2500" dirty="0"/>
          </a:p>
        </p:txBody>
      </p:sp>
      <p:pic>
        <p:nvPicPr>
          <p:cNvPr id="4" name="Image 0" descr="/home/claude/rpt/fig/d_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417320"/>
            <a:ext cx="10149840" cy="3694176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230368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675120"/>
                <a:gridCol w="222199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งาน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ครั้งเดียว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ArcGIS Pro tool 0 → 1, 1b, 1c, 1d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 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run_update.py (hex v3 + upstream + duration)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12–30 วินาที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 6 ชม. / สัปดาห์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run_hotspots.py (2D) / calibrate.py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~1–2.7 นาที/โดเมน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 ให้ทิศการไหลบนที่ราบถูกต้อง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663440"/>
          </a:xfrm>
          <a:prstGeom prst="roundRect">
            <a:avLst>
              <a:gd name="adj" fmla="val 196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733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V1-2 (30 ม.)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03704"/>
            <a:ext cx="499262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Copernicus GLO-30 ที่ตัดอาคารและต้นไม้ออก (Hawker et al. 2022) → ลด bias ในเมืองและป่า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ดึงเฉพาะ tile ที่ใช้จาก zip ของ Univ. of Bristol ด้วย HTTP Range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ProjectRaster → UTM 47N 30 ม. (bilinear) · env.pyramid = NONE</a:t>
            </a:r>
            <a:endParaRPr lang="en-US" sz="15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ใบอนุญาต CC BY-NC-SA 4.0 — ใช้เชิงพาณิชย์ต้องกลับไปใช้ Copernicus DEM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554480"/>
          <a:ext cx="5394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2194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วัตถุจาก OpenStreetMap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การปรับ DEM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เหตุผล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waterway = river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-3.0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บังคับการไหลลงแม่น้ำ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canal / stream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-1.5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คลองชลประทาน/ลำห้วย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drain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-1.0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คูระบายน้ำ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ditch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-0.5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คูน้ำขนาดเล็ก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dyke / embankment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+1.0 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คันกั้นน้ำเป็นจุดล้นสูง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45352" y="4434840"/>
            <a:ext cx="5394960" cy="1737360"/>
          </a:xfrm>
          <a:prstGeom prst="roundRect">
            <a:avLst>
              <a:gd name="adj" fmla="val 5263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459943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Overpass API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129784"/>
            <a:ext cx="49926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 tile · สลับ endpoint เมื่อ 504/SSL error · คืนค่าว่างเมื่อไม่สำเร็จ (pipeline ไม่ล้ม) · สถานีสูบดึงครั้งเดียวทั้ง bbox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อุทกวิทยาภูมิประเทศและชั้นข้อมูลราย hex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498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ขั้น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เครื่องมือ ArcGIS Pro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ผลลัพธ์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อุทกวิทยา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 → Flow Direction (D8) → Flow Accumulation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fill, fdir, facc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ลำน้ำ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Con(facc &gt; 5 ตร.กม.), Con(facc &gt; 1,000 ตร.กม.)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stream, 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HAND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Flow Distance (VERTICAL) ถึง stream / 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hand, hand_major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แอ่ง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Fill - DEM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sink (มม.)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ความลาดชัน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Slope (percent rise)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slope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Curve Number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WorldCover → Reclassify (HSG D ถ้า HAND &lt; 5 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Generate Tessellation 1 ตร.กม. · Spatial Join อำเภอ · Polygon to Raster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9,721 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Zonal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numpy mean / P5–P75 / sum ราย hex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params.json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Station ref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min(fill) รัศมี 300 ม. รอบสถานีระดับน้ำ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z_ref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463040"/>
          <a:ext cx="3227832" cy="914400"/>
        </p:xfrm>
        <a:graphic>
          <a:graphicData uri="http://schemas.openxmlformats.org/drawingml/2006/table">
            <a:tbl>
              <a:tblPr/>
              <a:tblGrid>
                <a:gridCol w="1581912"/>
                <a:gridCol w="82296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สิ่งปกคลุมดิน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HSG 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HSG D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ป่า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ไม้พุ่ม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83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ทุ่งหญ้า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74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นา/เกษตร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82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93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ดินโล่ง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89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พื้นที่ชุ่มน้ำ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85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น้ำ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 Curve Number (AMC II) ที่ใช้ · AMC I/III ปรับจากฝน 5 วันก่อนเหตุการณ์ (35 / 53 มม.)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· ARCGIS PRO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เครือข่าย hex: การไหลหลายทิศ จุดล้น และ hypsometry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28,542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ขอบเชื่อม hex ข้างเคียง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24,016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เส้นทางการไหลหลายทิศ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501 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คลอง/คูระบาย (OSM)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508760"/>
            <a:ext cx="263347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73352"/>
            <a:ext cx="226771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 / 0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200046"/>
            <a:ext cx="22677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ประตูน้ำ / สถานีสูบใน OSM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องค์ประกอบ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วิธีคำนวณ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ขอบเชื่อม (edge)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ทุกคู่ cell 30 ม. ที่ติดกันแต่อยู่คนละ hex → คู่ hex ข้างเคียงและความยาวขอบ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ระดับจุดล้น (sill)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P5 ของ max(z₁, z₂) ตามแนวขอบ = ระดับต่ำสุดที่น้ำข้าม hex ได้ (ถนน/คันกั้นทำให้ sill สูง)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การไหลหลายทิศ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cell ที่เส้นทาง D8 ข้ามขอบ hex → สัดส่วนการไหลไปแต่ละ hex ปลายทาง ถ่วงด้วย flow accumulation (ตั้งแต่ 2%)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Hypsometry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ความสูง P0, P2, P5, P10, P25, P50, P75, P90, P100 ใน hex → ตาราง ระดับ–พื้นที่–ปริมาตร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โครงสร้างระบายน้ำ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คลอง (PairwiseIntersect) · สถานีสูบ/ประตูน้ำจาก OSM + drainage_assets_user.csv · ทางออก = hex แม่น้ำใกล้สุด ≤ 5 กม.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ฝน: แบบจำลองต่อเนื่อง + ปรับแก้ด้วยสถานีโทรมาตร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760720" cy="2286000"/>
          </a:xfrm>
          <a:prstGeom prst="roundRect">
            <a:avLst>
              <a:gd name="adj" fmla="val 3200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P(hex, t) = IDW 4 จุดจาก lattice 0.2° (Open-Meteo, 16 คอลัมน์)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ratio = (G + 2) / (M + 2)   จำกัด 0.2–5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log-ratio → IDW · น้ำหนักเต็มใน 10 กม. ลดเป็น 0 ที่ 40 กม.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ใช้กับฝน 24 ชม. ล่าสุดเท่านั้น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0" y="1508760"/>
            <a:ext cx="2432304" cy="1097280"/>
          </a:xfrm>
          <a:prstGeom prst="roundRect">
            <a:avLst>
              <a:gd name="adj" fmla="val 8333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7335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798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สถานี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2123237"/>
            <a:ext cx="2066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ThaiWater ที่ใช้ปรับแก้รอบนี้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208008" y="1508760"/>
            <a:ext cx="2432304" cy="1097280"/>
          </a:xfrm>
          <a:prstGeom prst="roundRect">
            <a:avLst>
              <a:gd name="adj" fmla="val 8333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36608" y="1673352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0.57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9436608" y="2123237"/>
            <a:ext cx="2066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มัธยฐาน สถานี / แบบจำลอง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0" y="2724912"/>
            <a:ext cx="5056632" cy="1069848"/>
          </a:xfrm>
          <a:prstGeom prst="roundRect">
            <a:avLst>
              <a:gd name="adj" fmla="val 854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84848" y="2907792"/>
            <a:ext cx="46542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แบบจำลองอากาศให้ฝนสูงกว่าสถานีราว 1.8 เท่าในรอบนี้ → การปรับแก้สำคัญมาก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486400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418795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Cache ฝน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718304"/>
            <a:ext cx="508406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ครั้งแรก past_days = 30 แล้วเก็บ rain_cache.json (0.1 มม.)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รอบถัดไปดึงแค่ past_days = 2 + พยากรณ์ 72 ชม. (batch 80 จุด)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ครอบคลุม 5 จังหวัด (98.9–101.9°E, 14.9–18.0°N)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45352" y="402336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41879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ทำไมไม่ใช้ Windy ในการคำนวณ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18304"/>
            <a:ext cx="499262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Point Forecast API ของ Windy เป็นบริการเสียเงิน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 Windy embed เป็นภาพประกอบ (ฝน ฝนสะสม เรดาร์ เมฆ)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ขยายต่อได้: TMD API, GSMaP_NOW, GPM IMERG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น้ำท่า SCS-CN และการเก็บน้ำในคันนา/แอ่ง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669280" cy="2834640"/>
          </a:xfrm>
          <a:prstGeom prst="roundRect">
            <a:avLst>
              <a:gd name="adj" fmla="val 2581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 = 25400 / CN - 254   ·   Ia = 0.2 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= (P - Ia)² / (P - Ia + S)   เมื่อ P &gt; Ia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เหตุการณ์ใหม่เมื่อฝนหยุดตั้งแต่ 12 ชม.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CN ปรับ AMC I/III จากฝน 5 วันก่อนเหตุการณ์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28232" y="1508760"/>
            <a:ext cx="5212080" cy="2834640"/>
          </a:xfrm>
          <a:prstGeom prst="roundRect">
            <a:avLst>
              <a:gd name="adj" fmla="val 2581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56832" y="1673352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น้ำปกติในคันนา  N = 100·f_นา + 10  (มม.)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ความจุกักเก็บ  D_cap = N + 0.3·sink·dcap_mult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 = ปริมาตรน้ำอิสระ (W - N) / สัดส่วนพื้นที่ใต้ระดับผิวน้ำ η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สัดส่วนท่วม &lt; 5% = น้ำในร่องน้ำ (ไม่นับ)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473659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ผลของการใส่น้ำในคันนา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5266944"/>
            <a:ext cx="1069207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รุ่นแรกไม่แยกน้ำในนา ทำให้ได้พื้นที่เฝ้าระวังเกินจริง (~3,400 ตร.กม.) · หลังแยกน้ำปกติในนาและสอบเทียบ dcap_mult = 1.7 ผลเหลือ 83 ตร.กม. ซึ่งสอดคล้องกับแบบจำลอง 2D มากขึ้น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· แบบจำลองรายชั่วโมง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 hex v3: ระบาย · fill-spill · โครงสร้างระบายน้ำ (substep 15 นาที)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9164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7335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ระบายตามแรงโน้มถ่วง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03704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Out = max(W - D_cap, 0)·(1 - e^(-1/T))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 = clip(8/√S%, 2, 96)·t_mult / (1 + กม.คลอง)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แบ่งไป hex ท้ายน้ำตามสัดส่วนการไหลหลายทิศ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53912" y="1508760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9164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67144" y="167335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 (weir)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203704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= 1.7·weir_c·w_eff·(η_สูง - max(η_ต่ำ, sill))^1.5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w_eff = 0.1 × ความยาวขอบ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จำกัดไม่เกินครึ่งหนึ่งของผลต่างที่ทำให้ระดับเท่ากัน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48640" y="3904488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406908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เมือง / สูบ / ประตูน้ำ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599432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ท่อเมือง 20·f_เมือง มม./ชม. (ลด 1/3 เมื่อน้ำเท้อ)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สถานีสูบ ≤ ความจุ × 3.6 มม./ชม. → hex แม่น้ำ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ประตูน้ำปิดเมื่อแม่น้ำต่ำกว่าตลิ่งไม่ถึง 1 ม.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153912" y="3904488"/>
            <a:ext cx="5422392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087368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867144" y="406908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 / backwater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4599432"/>
            <a:ext cx="502005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(Q_fc - Q_cap)·3600 ม³/ชม. ฉีดเข้า hex ลำน้ำหลัก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backwater: แม่น้ำ &gt; ตลิ่ง - 1 ม. และ HAND &lt; 6 ม. → T×3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 2 รอบ (มี/ไม่มีล้นตลิ่ง) แยกสาเหตุ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น้ำหลากจาก 4 จังหวัดต้นน้ำ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3858768" cy="4773168"/>
          </a:xfrm>
          <a:prstGeom prst="roundRect">
            <a:avLst>
              <a:gd name="adj" fmla="val 1896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up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3749040" cy="4663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0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736592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36592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175504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Zones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D8 pointer-jumping จาก DEM 90 ม. → 794 zones (จุดน้ำเข้า × จังหวัด × จุดฝน × lag 6 ชม.)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760464" y="23271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43928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08520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0852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647432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น้ำท่า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6808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SCS-CN + bucket 50 มม. · Q = q·A/3.6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232392" y="23271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515856" y="1508760"/>
            <a:ext cx="2124456" cy="1874520"/>
          </a:xfrm>
          <a:prstGeom prst="roundRect">
            <a:avLst>
              <a:gd name="adj" fmla="val 487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80448" y="167335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80448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119360" y="1655064"/>
            <a:ext cx="1392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Routing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698736" y="2167128"/>
            <a:ext cx="17952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lag = ระยะทาง/0.7 ม./วิ + linear reservoir K = max(6, 0.5·lag) (FFT)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3611880"/>
          <a:ext cx="70683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399032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จังหวัด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พื้นที่ไหลเข้า นว.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 7 วัน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เข้า นว. 72 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กำแพงเพชร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7,184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152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91.4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พิษณุโลก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9,722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48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18.2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พิจิตร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4,246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89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17.4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เพชรบูรณ์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2,921 ตร.กม.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81 มม.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5.1 ล้าน ลบ.ม.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ปรับขนาดด้วยปริมาณน้ำจริง β = 0.6: กลุ่มปิง (กำแพงเพชร) ×0.344 เทียบ P.17 · กลุ่มน่าน-ยม (พิษณุโลก พิจิตร เพชรบูรณ์) ×1.0 เทียบ N.67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แม่น้ำสายหลัก: ปริมาณน้ำไม่คงที่ แต่ลดตาม recession ของสถานี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Q_fc(t) = Q_rec(t) + max(Q_model(t) - Q_model(now), 0)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ขึ้น:  Q0 + r·τ(1 - e^(-t/τ)),  τ = 12 ชม.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ลด:  Qb + (Qpk - Qb)·e^(-(t-τ)/k)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= -1 / median Δln(Q - Qb)  (ช่วงน้ำลดต่อเนื่องตั้งแต่ 6 ชม.)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Rating:  Q = a(WL - z0)^b  (เหนือค่าสูงสุดที่เคยวัด b ≤ 5/3)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508760"/>
          <a:ext cx="505663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22960"/>
                <a:gridCol w="7315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สถานี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k (ชม.)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Qb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แนวโน้ม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P.17 แม่น้ำปิง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141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+10.0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N.67 แม่น้ำน่าน-ยม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407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+0.2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C.2 แม่น้ำเจ้าพระยา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192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521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+5.5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Ct.5A แม่วงก์-สะแกกรัง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31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+6.8 /ชม.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0" y="3977640"/>
            <a:ext cx="5056632" cy="822960"/>
          </a:xfrm>
          <a:prstGeom prst="roundRect">
            <a:avLst>
              <a:gd name="adj" fmla="val 11111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84848" y="4160520"/>
            <a:ext cx="4654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C.2 (เจ้าพระยา) = Q_obs + ΔQ ปิง + ΔQ น่าน หน่วง 12 ชม. โดยใช้ค่าตรวจวัดจริงย้อนหลังต่อด้วยค่าพยากรณ์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480560"/>
            <a:ext cx="5852160" cy="1691640"/>
          </a:xfrm>
          <a:prstGeom prst="roundRect">
            <a:avLst>
              <a:gd name="adj" fmla="val 5405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" y="4645152"/>
            <a:ext cx="5468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ประวัติสถานี (gauges.py)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5175504"/>
            <a:ext cx="5449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waterlevel_graph รายชั่วโมง 30 วัน 28 สถานี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ครั้งแรกดึงย้อนหลังทั้งหมด · ขาดช่วง &gt; 90 นาทีจึงดึงเพิ่ม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0" y="4937760"/>
            <a:ext cx="5056632" cy="1234440"/>
          </a:xfrm>
          <a:prstGeom prst="roundRect">
            <a:avLst>
              <a:gd name="adj" fmla="val 740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84848" y="512064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ผลต่อระยะเวลาท่วม: hex ที่ไม่รู้ว่าท่วมมาแล้วกี่ชั่วโมง 57 → 0 · hex ที่คาดว่าท่วมเกิน 14 วัน 25 → 5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ตัวอย่าง: Ct.5A แม่วงก์ — rating curve + recession k = 31 ชม.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58952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54480"/>
            <a:ext cx="3273552" cy="4572000"/>
          </a:xfrm>
          <a:prstGeom prst="roundRect">
            <a:avLst>
              <a:gd name="adj" fmla="val 2793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67928" y="1719072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ตัวเลขสำคัญ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67928" y="2249424"/>
            <a:ext cx="287121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 385 ลบ.ม./วิ (rating, 265 คู่)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 qmax 232 ลบ.ม./วิ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ล้นตลิ่ง 1.11 ม. มาแล้ว 39 ชม.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ยอดคาด 437 ลบ.ม./วิ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ต่ำกว่าความจุใน ~33 ชม.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ที่ราบล้นตลิ่ง 36.8 → 42.3 ตร.กม. (hex model)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· แม่น้ำและต้นน้ำ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น้ำล้นตลิ่งเข้าที่ราบ: ปริมาตร → กระจายด้วย fill-spill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ปริมาตรส่วนเกิน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V(t) = max(Q_fc - Q_cap, 0)·3600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Q_cap = qmax สถานี RID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5648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ปริมาตรเริ่มต้น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S₀ = ปริมาตรใต้ระดับ (WL - z_ref) บน hex ของช่วงลำน้ำ เมื่อสถานีล้นตลิ่ง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6120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ฉีดเข้า hex ลำน้ำ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ที่ facc ตั้งแต่ 1,000 ตร.กม. ถ่วงด้วย f_low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46591" y="248716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554480"/>
            <a:ext cx="2513000" cy="2103120"/>
          </a:xfrm>
          <a:prstGeom prst="roundRect">
            <a:avLst>
              <a:gd name="adj" fmla="val 4348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กระจาย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12848"/>
            <a:ext cx="2183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 ตามระดับผิวน้ำ · คันกั้นน้ำ/ถนนกั้นได้ตามจริง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3931920"/>
            <a:ext cx="5486400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09651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ของช่วงลำน้ำ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626864"/>
            <a:ext cx="508406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ใกล้สถานีในช่วงนั้น ≤ 15 กม. และ HAND_major P10 &lt; 10 ม.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bank_hand = ตลิ่ง - z_ref ของสถานีหลัก (0.5–10 ม.)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ปิง 591 · น่าน 495 · เจ้าพระยา 619 · แม่วงก์ 112 hex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245352" y="3931920"/>
            <a:ext cx="5394960" cy="2240280"/>
          </a:xfrm>
          <a:prstGeom prst="roundRect">
            <a:avLst>
              <a:gd name="adj" fmla="val 408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409651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ทำไมไม่ใช้ HAND ตรง ๆ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4626864"/>
            <a:ext cx="499262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HAND อย่างเดียวให้ที่ราบท่วมเกินจริง (ไม่อนุรักษ์มวล)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ปริมาตรจำกัดด้วยส่วนที่เกินความจุลำน้ำจริง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คันกั้นน้ำใน DEM (+1 ม.) กั้นการแผ่ได้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 · ระยะเวลาท่วม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อัลกอริทึมระยะเวลาท่วม (เกณฑ์ 10 ซม.)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 (ท่วมมาแล้ว) = จำนวนชั่วโมงต่อเนื่องที่ d ตั้งแต่ 10 ซม. จนถึงปัจจุบัน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จากการจำลองฝนอย่างเดียว 30 วัน (cold start)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 (คาดลดใน) = ชั่วโมงแรกในอนาคตที่ d &lt; 10 ซม.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จากการจำลองรวมฝนพยากรณ์ + น้ำล้นตลิ่ง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ถ้ายังท่วมที่ +72 ชม. → ต่อด้วยอัตราลดใน 12 ชม. สุดท้าย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เพดาน 336 ชม. (999 = เกิน 14 วัน)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0" y="1508760"/>
            <a:ext cx="5056632" cy="27432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12280" y="167335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ที่ท่วมจากน้ำล้นตลิ่งอย่างเดียว: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 = ชม. ตั้งแต่สถานีหลักของลำน้ำที่ใกล้ที่สุด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(≤ 10 กม.) ขึ้นเหนือตลิ่งครั้งล่าสุด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สรุปรายอำเภอ: มัธยฐานถ่วงพื้นที่ท่วมจริง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+ ค่าสูงสุด + พื้นที่แยก 5 ช่วงเวลา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82.9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ตร.กม. ที่ลึก 10 ซม. ขึ้นไป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64992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 / 160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ชม. ท่วมมาแล้ว (มัธยฐาน / สูงสุด)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81344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ชม. คาดลดใน (มัธยฐาน)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97696" y="4526280"/>
            <a:ext cx="2633472" cy="1645920"/>
          </a:xfrm>
          <a:prstGeom prst="roundRect">
            <a:avLst>
              <a:gd name="adj" fmla="val 555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26296" y="469087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 · 37 · 22 · 0 · 3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5447995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ตร.กม. &lt; 1 / 1–3 / 3–7 / 7–14 / &gt; 14 วัน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 · ระยะเวลาท่วม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ผลระยะเวลาท่วมรายอำเภอ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508760"/>
          <a:ext cx="368503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68680"/>
                <a:gridCol w="667512"/>
                <a:gridCol w="822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อำเภอ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ท่วมมาแล้ว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ลดใน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สูงสุด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ลาดยาว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&gt; 14 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แม่วงก์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49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บรรพตพิสัย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56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77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ชุมตาบง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25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เมืองนครสวรรค์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96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พยุหะคีรี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128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โกรกพระ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74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60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ตาคลี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38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13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60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2D local-inertial สำหรับจุดวิกฤต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q ← (q - g·h_f·Δt·∂η/∂x) / (1 + g·Δt·n²·|q| / h_f^(7/3))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∂h/∂t = -∇·q + น้ำท่าจากฝน - การสูญเสีย   ·   Δt จาก CFL (α = 0.7)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88720"/>
                <a:gridCol w="20116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โดเมน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กริด 120 ม.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สถานีขอบเขต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เวลารัน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ลาดยาว–แม่วงก์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278 × 356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Ct.5A, Ct.4, SKG007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159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เมืองนครสวรรค์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204 × 214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C.2, CPY001, PIN005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ชุมแสง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185 × 240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N.67, NAN008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53 วิ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46320"/>
            <a:ext cx="5852160" cy="1325880"/>
          </a:xfrm>
          <a:prstGeom prst="roundRect">
            <a:avLst>
              <a:gd name="adj" fmla="val 6897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5029200"/>
            <a:ext cx="5449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Manning n จาก WorldCover · ฝน SCS-CN ต่อ cell + คันนา 100 มม. · เริ่มจากระดับผิวน้ำ hex เมื่อ 48 ชม.ก่อน (ปรับปริมาตรให้ไม่เกินน้ำอิสระ) · ขอบโดเมนเปิด (normal depth 0.001)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1508760"/>
            <a:ext cx="5056632" cy="4663440"/>
          </a:xfrm>
          <a:prstGeom prst="roundRect">
            <a:avLst>
              <a:gd name="adj" fmla="val 196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84848" y="1673352"/>
            <a:ext cx="4672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ขอบเขตแม่น้ำ (สิ่งที่แก้จนผลสมจริง)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784848" y="2203704"/>
            <a:ext cx="465429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ระดับน้ำ = zbed ของ cell + ความลึกเหนือท้องน้ำของสถานี (WL - z_ref) interpolate ตามลำน้ำ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zbed = ค่าต่ำสุดของ DEM 30 ม. ใน cell 120 ม.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ตลิ่ง: ห้ามน้ำไหลจากแม่น้ำขึ้นที่ราบเมื่อระดับยังไม่ถึงตลิ่ง (ตลิ่งแคบกว่า 120 ม. จึงหายจาก DEM)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อนุรักษ์มวล: flux แม่น้ำ → ที่ราบ ≤ Σ max(Q - ความจุ, 0)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ผล: พื้นที่ท่วมในโดเมน 2D จาก 210–499 ตร.กม. (ก่อนแก้) → ลาดยาว 53–70 ตร.กม.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ผลแบบจำลอง 2D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5047488" cy="4727448"/>
          </a:xfrm>
          <a:prstGeom prst="roundRect">
            <a:avLst>
              <a:gd name="adj" fmla="val 1547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4937760" cy="4617720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5760720" y="1417320"/>
          <a:ext cx="587959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 · 2D และการสอบเทียบ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การสอบเทียบโมเดล hex กับแบบจำลอง 2D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8521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73352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score = RMSE สัมพัทธ์ของพื้นที่ตั้งแต่ 10 ซม. รายชั่วโมง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       + 0.5 × MAE ของสัดส่วนท่วมราย hex (สูงสุด 72 ชม.)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868680"/>
                <a:gridCol w="100584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ชุดพารามิเตอร์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t_mult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weir_c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dcap_mult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score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ค่าเริ่มต้น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1.0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0.857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 1 (grid ×0.5/1/2)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0.3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1.3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0.644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รอบ 2 — ใช้งาน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0.05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1.7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0.489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5852160" cy="128016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5074920"/>
            <a:ext cx="54498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weir_c และ dcap_mult ยังอยู่ที่ขอบ grid · สอบเทียบรายสัปดาห์ใช้ grid ×0.5/1/2 รอบค่าปัจจุบันจึงขยับต่อได้ · เป้าหมายเป็นแบบจำลอง 2D ไม่ใช่น้ำท่วมจริง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583680" y="1417320"/>
          <a:ext cx="5056632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Sentinel-1: แปลพื้นที่น้ำท่วมเองจากภาพเรดาร์ (ไม่ต้องใช้ API key)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3152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ค้นภาพ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STAC sentinel-1-rtc (gamma0 RTC 10 ม.) · รวม frame orbit เดียวกัน &lt; 10 นาที = 1 การผ่าน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6616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ภาพอ้างอิง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median VV orbit เดียวกัน 12–60 วันก่อน → ปีก่อน ±30 วัน · ย้อนหลังใช้ฤดูแล้งปีเดียวกัน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40080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จำแนกน้ำ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VV &lt; เกณฑ์ (Otsu −20…−13 dB / หุบ histogram) และลดลงมากกว่า 3 dB จากภาพอ้างอิง · majority 3×3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52560" y="1508760"/>
            <a:ext cx="2651760" cy="2331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235440" y="1691640"/>
            <a:ext cx="384048" cy="384048"/>
          </a:xfrm>
          <a:prstGeom prst="ellipse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1673352"/>
            <a:ext cx="18288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สรุปราย hex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2240280"/>
            <a:ext cx="2331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กริด UTM 40 ม. → hex · ตัดที่ลาดชัน เงาเรดาร์ เมือง (nocov) · ระเบียนรูปแบบเดียวกับ GISTDA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0233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49808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Near-realtime · pipeline/s1_obs.py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45720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GitHub Actions วันละ 2 รอบ (03:00 / 15:00 UTC) → s1_obs.json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เทียบค่าสูงสุดของโมเดล 6 ชม. ก่อนเวลาถ่ายภาพ (รู้เวลาแน่นอน)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เข้า calibrate.py ร่วมกับ GISTDA ได้ทันที (by_src แยก CSI)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ทดสอบภาพสังเคราะห์: CSI 0.92, ไม่มี false alarm ที่แม่น้ำ/นา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53912" y="402336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355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ย้อนหลัง 2560–2568 · pipeline/s1_history.py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45720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วงโคจร 62 (ขาลง ภาพเดียวครอบแอ่ง) 261 ภาพ ใช้ 148 ภาพ ส.ค.–15 ธ.ค.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ตัดภาพที่ server (data API bbox 1500×1500) ~4 วินาที/ภาพ รวม ~19 นาที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Otsu ถูกดึงไป −11.8 dB (บกมากกว่า) จึงใช้จุดหุบของ histogram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2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ระยะเวลาท่วม = Σ ท่วม × ช่วงห่างระหว่างภาพ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ข้อจำกัด: รอบโคจร 6–12 วัน · น้ำใต้ต้นข้าว/พืชสูงตรวจไม่พบ · น้ำที่ขังนานกว่า 12 วันอยู่ในภาพอ้างอิงแล้ว (near-realtime) · ภาพแล้งที่เป็นนาปรังขังน้ำถูกนับเป็นน้ำถาวร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โดเมน 2D แอ่งท่าตะโก และสถานการณ์สมมติ ฝน × ระดับแม่น้ำ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590288" cy="4032504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sc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480560" cy="39227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468112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สถานการณ์ E: เวลาน้ำลดนับจากฝนเริ่มตก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9240" y="1481328"/>
            <a:ext cx="6291072" cy="132588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532120" y="1572768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AOI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ท่าตะโก 10 ตำบล + พระนอน + ทับกฤช = 1,072 ตร.กม. (OCHA COD-AB)</a:t>
            </a:r>
          </a:p>
          <a:p>
            <a:pPr algn="l">
              <a:spcBef>
                <a:spcPts val="400"/>
              </a:spcBef>
            </a:pPr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พื้นที่รับน้ำ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Watershed ใน ArcGIS Pro 3,741 ตร.กม. — นอก AOI ~2,670 (ไพศาลี หนองบัว ชุมแสง ...)</a:t>
            </a:r>
          </a:p>
          <a:p>
            <a:pPr algn="l">
              <a:spcBef>
                <a:spcPts val="400"/>
              </a:spcBef>
            </a:pPr>
            <a:r>
              <a:rPr sz="115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กริด </a:t>
            </a: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180 ม. (408×452) + แม่น้ำน่านชุมแสง–ปากน้ำโพ · ขอบเขต N.67, C.2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5349240" y="2944368"/>
          <a:ext cx="6291072" cy="1810512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11480"/>
                <a:gridCol w="1234440"/>
                <a:gridCol w="1947672"/>
                <a:gridCol w="86868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/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ฝน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แม่น้ำ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ผืนท่วม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ขัง 7 วัน+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ค้างวันที่ 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A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150 มม./3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ต่ำ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B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150 มม./3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เต็มตลิ่ง 10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C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ต่ำ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327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118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เต็มตลิ่ง 10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95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มม./5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ล้นตลิ่ง +0.5 ม. 7 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448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5349240" y="4937760"/>
            <a:ext cx="62910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ขึ้นกับฝนแบบไม่เป็นเส้นตรง: 150 มม. เก็บในคันนาเกือบหมด</a:t>
            </a:r>
          </a:p>
          <a:p>
            <a:pPr algn="l" marL="228600" indent="-228600">
              <a:spcBef>
                <a:spcPts val="2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น้ำเท้อ (C → D) เพิ่มพื้นที่ขัง 7 วัน+ ~35% เฉพาะตำบลริมบึง</a:t>
            </a:r>
          </a:p>
          <a:p>
            <a:pPr algn="l" marL="228600" indent="-228600">
              <a:spcBef>
                <a:spcPts val="2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ล้นตลิ่ง (D → E) ขยายอีกเท่าตัว — ทับกฤช 87 ตร.กม. ≈ 77% ของตำบล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scenario_2d.py · จำลอง 21 วัน เริ่มจากแห้ง คันนา 100 มม. (เริ่มครึ่งหนึ่ง) · หน่วย ตร.กม. รวม 12 ตำบล · ไม่มีคันกั้นน้ำ/ประตูบึงบอระเพ็ด (แคบกว่า cell)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เทียบ Sentinel-1 9 ปีกับสถานการณ์สมมติ: ต้องมีน้ำล้นตลิ่งจึงจะตรง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4681728" cy="41148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s1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572000" cy="40050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5550408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จำนวนปีที่ท่วม 30 วันขึ้นไป (2560–2568)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394960" y="1371600"/>
          <a:ext cx="6309360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394960" y="4023360"/>
          <a:ext cx="6245352" cy="19202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3040"/>
                <a:gridCol w="182880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ตำบล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จริง 30 วัน+ ≥3 ปี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มัธยฐาน (วัน)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จำลอง 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ทับกฤช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72–84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70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วังมหากร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48–66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พนมเศษ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48–78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พระนอน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36–72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ไผ่สิงห์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66–84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พนมรอก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36–60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48640" y="61722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Prompt"/>
                <a:ea typeface="Prompt"/>
                <a:cs typeface="Prompt"/>
              </a:rPr>
              <a:t>ท่วมจริงที่แบบจำลองไม่มี: ฝั่งเหนือ (ไผ่สิงห์/ทับกฤชเหนือ) ~119 ตร.กม. เหนือ 15.78°N — แนวน้ำบ่าจากพิจิตรผ่านชุมแสงที่โดเมนยังไม่มีน้ำไหลเข้า · หน่วยตาราง ตร.กม. ; มัธยฐานเฉพาะปีน้ำมาก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เหตุการณ์จริง 2564 / 65 / 68: ข้อมูลนำเข้าและพารามิเตอร์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481328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08" y="1600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โดเมน thatako_ev · event_2d.py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2011680"/>
            <a:ext cx="47548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cell 300 ม. (293×271) ขยายขึ้นเหนือถึง Y.5 โพทะเล · นอกจังหวัดใช้ FABDEM ดิบ + WorldCover/CN ภูมิภาค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ขอบเหนือ = ระดับน้ำ Y.5 (น้ำบ่าจากพิจิตร) · N.67 ชุมแสง · C.2 ปากน้ำโพ รายชั่วโมง (ThaiWater waterlevel_graph, ตัดค่าผิดปกติด้วยมัธยฐานเคลื่อนที่)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ฝน ERA5 (Open-Meteo archive) 81 จุด · 20 ส.ค.–15 ธ.ค. ~30 นาที/ปี บน 2 core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เทียบเรดาร์วันเดียวกัน: น้ำจำลองลึก 0.3 ม. ขึ้นไป (event_compare.py)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6344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808" y="4754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ข้อค้นพบจากข้อมูลจริง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138928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N.67 ไม่ถึงตลิ่ง 28.21 ม. ทั้ง 3 ปี (สูงสุด 27.2 / 27.9 / 28.0 ม.) แต่ดาวเทียมเห็นท่วม 2–3 เดือน → น้ำเข้าทุ่งผ่านคลอง ประตูน้ำ ช่องต่ำ ก่อนถึงตลิ่ง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943600" y="1481328"/>
          <a:ext cx="5696712" cy="17373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587752"/>
                <a:gridCol w="914400"/>
                <a:gridCol w="13716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ชุดพารามิเตอร์ (ปี 2564)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 รายวัน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30 วัน+ จำลอง/จริง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ตลิ่งจริง · ระเหย+ซึม 0.2 มม./ชม.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199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ตลิ่ง −1.5 ม. · ไม่จำกัดน้ำเข้า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564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ระเหย 0.08 · Manning ที่ราบ ×2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251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+ บึงบอระเพ็ดเก็บน้ำ +24.5 ม.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251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943600" y="3429000"/>
            <a:ext cx="5696712" cy="283464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144768" y="354787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ชุดที่ใช้ทุกปี (b10c400h)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3959352"/>
            <a:ext cx="530352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ตลิ่งใช้งาน = ตลิ่งสถานี −1.0 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น้ำเข้าทุ่งรวมไม่เกิน 400 ลบ.ม./วิ (ความจุคลอง/ประตูน้ำ) — ไม่จำกัด = bathtub ~700 ตร.กม.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แอ่งบึงบอระเพ็ดเก็บน้ำ ไม่ไหลออกเมื่อต่ำกว่า +24.5 ม.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ระเหย+ซึม 0.08 มม./ชม. · Manning ที่ราบ ×2</a:t>
            </a:r>
          </a:p>
          <a:p>
            <a:pPr algn="l" marL="228600" indent="-228600">
              <a:spcBef>
                <a:spcPts val="300"/>
              </a:spcBef>
              <a:buFont typeface="Arial"/>
              <a:buChar char="•"/>
            </a:pPr>
            <a:r>
              <a:rPr sz="11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เกณฑ์เทียบ 0.1 / 0.3 / 0.5 ม. → ใช้ 0.3 ม. (เรดาร์ไม่เห็นน้ำตื้นใต้ข้าว)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ผลเทียบรายปี: พื้นที่ท่วมนาน 30 วันขึ้นไป จำลอง vs ภาพเรดาร์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map_ev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566160" cy="31181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2564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0.54 · POD 0.77 · FAR 0.35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42816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map_ev2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481328"/>
            <a:ext cx="3566160" cy="31181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97679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2565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0.49 · POD 0.64 · FAR 0.33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5" y="1426464"/>
            <a:ext cx="3675887" cy="3227832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map_ev2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481328"/>
            <a:ext cx="3566160" cy="31181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46719" y="4663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2568 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CSI 0.54 · POD 0.78 · FAR 0.36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48640" y="5074920"/>
          <a:ext cx="6583680" cy="10972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731520"/>
                <a:gridCol w="1097280"/>
                <a:gridCol w="2377440"/>
                <a:gridCol w="777240"/>
                <a:gridCol w="77724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ปี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 รายวัน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30 วัน+ จำลอง / จริง (ตร.กม.)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POD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FAR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CSI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250 / 211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0.21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202 / 210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0.49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2568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275 / 227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0.78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0.36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1E293B"/>
                          </a:solidFill>
                          <a:latin typeface="Prompt"/>
                          <a:ea typeface="Prompt"/>
                          <a:cs typeface="Prompt"/>
                        </a:rPr>
                        <a:t>0.54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D5DEE6"/>
                      </a:solidFill>
                    </a:lnL>
                    <a:lnR w="6350">
                      <a:solidFill>
                        <a:srgbClr val="D5DEE6"/>
                      </a:solidFill>
                    </a:lnR>
                    <a:lnT w="6350">
                      <a:solidFill>
                        <a:srgbClr val="D5DEE6"/>
                      </a:solidFill>
                    </a:lnT>
                    <a:lnB w="6350">
                      <a:solidFill>
                        <a:srgbClr val="D5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406640" y="5074920"/>
            <a:ext cx="4233672" cy="1188720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589520" y="5138928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63EB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ตรงกัน  </a:t>
            </a:r>
            <a:r>
              <a:rPr sz="1200" b="0" i="0">
                <a:solidFill>
                  <a:srgbClr val="EA580C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จริงแต่จำลองไม่ถึง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ACC15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จำลองเกิน  </a:t>
            </a:r>
            <a:r>
              <a:rPr sz="1200" b="0" i="0">
                <a:solidFill>
                  <a:srgbClr val="94A3B8"/>
                </a:solidFill>
                <a:latin typeface="Prompt"/>
                <a:ea typeface="Prompt"/>
                <a:cs typeface="Prompt"/>
              </a:rPr>
              <a:t>■ </a:t>
            </a: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แหล่งน้ำถาวร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สีส้มกระจุกฝั่งเหนือ (ไผ่สิงห์–ชุมแสง) · สีเหลืองขอบใต้บึง (พระนอน) — จำลองเกินจริงเฉลี่ย ~20%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B998B"/>
                </a:solidFill>
                <a:latin typeface="Prompt"/>
                <a:ea typeface="Prompt"/>
                <a:cs typeface="Prompt"/>
              </a:rPr>
              <a:t>6 · 2D และการสอบเทียบ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รายตำบลและสิ่งที่ยังไม่ตรง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57200" y="1371600"/>
          <a:ext cx="62179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949440" y="148132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14032" y="161848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14032" y="16184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1" y="15910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น้ำมาช้า 1–2 สัปดาห์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198424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ปี 65 (21 ก.ย. จริง 141 / จำลอง 13 ตร.กม.) และ 68 (29 ก.ย. 252 / 20) — น้ำก้อนแรกน่าจะเป็นน้ำบ่าจากพิจิตร/ยมและไพศาลี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267004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114032" y="280720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14032" y="280720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277977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ไผ่สิงห์ต่ำกว่าจริงมาก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17296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จริง 11–16 / จำลอง 1–2 ตร.กม. — แนวน้ำจากชุมแสงลงบึงฝั่งเหนือ ขอบเหนือใช้ระดับ Y.5 อย่างเดียว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385876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114032" y="399592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14032" y="399592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39684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ปี 64 ช่วงพายุท่วมเกิน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36168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ปลาย ก.ย. จำลอง 652 / จริง 222 ตร.กม. — น้ำตื้นในนาที่เรดาร์มองไม่เห็นส่วนหนึ่ง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49440" y="5047488"/>
            <a:ext cx="4690872" cy="1078992"/>
          </a:xfrm>
          <a:prstGeom prst="roundRect">
            <a:avLst>
              <a:gd name="adj" fmla="val 6000"/>
            </a:avLst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114032" y="5184648"/>
            <a:ext cx="329184" cy="329184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18464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!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71231" y="515721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3C5D"/>
                </a:solidFill>
                <a:latin typeface="Prompt"/>
                <a:ea typeface="Prompt"/>
                <a:cs typeface="Prompt"/>
              </a:rPr>
              <a:t>น้ำลดเร็วเกิน ธ.ค. ปี 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5550408"/>
            <a:ext cx="4389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Prompt"/>
                <a:ea typeface="Prompt"/>
                <a:cs typeface="Prompt"/>
              </a:rPr>
              <a:t>ระดับเก็บกักบึงและการเปิด–ปิดประตูน้ำจริงยังเป็นค่าสมมติ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 · การใช้งาน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การทำงานอัตโนมัติและ data contract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3152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2120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ไฟล์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เนื้อหา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status.json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 hex: d (ซม.), c (ชั้น), s (1 ฝน / 2 ล้นตลิ่ง / 3 ทั้งคู่), h, r (ชม.), f (%), wse (ม.), ฝน p24/p72/p7d/f72, m72, u72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frames.json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ชั้นความลึกทุก 3 ชม. -7 วัน ถึง +72 ชม.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districts.json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รายอำเภอ: พื้นที่ ฝน dur_km2, h_med/h_max, r_med/r_max, r_km2[5]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upstream.json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hydrograph + พยากรณ์ recession rating overbank_since h_below_bank รายจังหวัด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gauges_hist.json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[t, Q, WL] รายชั่วโมง 30 วัน 28 สถานี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hotspots_live.json + PNG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 2D: ความลึก now/+24/+48/+72/max, พื้นที่รายชั่วโมง, สัดส่วนท่วมราย hex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meta.json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เวลา สถานะแหล่งข้อมูล สรุป calibration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508760"/>
            <a:ext cx="3502152" cy="4663440"/>
          </a:xfrm>
          <a:prstGeom prst="roundRect">
            <a:avLst>
              <a:gd name="adj" fmla="val 2611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39328" y="167335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39328" y="2203704"/>
            <a:ext cx="309981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cron ทุกชั่วโมง → run_update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6 ชม. → run_hotspots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อาทิตย์ 07:00 → calibrate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restore data/live ล่าสุดจาก Pages ก่อนรัน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keepalive กัน workflow ถูกปิดหลัง 60 วัน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 2 รันบนเครื่อง → hex_status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 · 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สถานะการตรวจสอบความถูกต้อง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49808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ทำแล้ว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ทดสอบความไวต่อฝน ×1.5/×2 · ปรับน้ำท่าต้นน้ำกับ P.17 / N.67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 hex กับ 2D 3 โดเมน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Sentinel-1 2560–2568 เทียบสถานการณ์ท่าตะโก (E: POD 0.81)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เหตุการณ์ 2564/65/68 ท่าตะโก: CSI 0.49–0.54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ยังไม่ได้ทำ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 hex ทั้งจังหวัดกับ S1/GISTDA สะสม (รอข้อมูล)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ข้อมูลภาคสนาม/รายงาน ปภ. ราย ต.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น้ำไหลเข้าจากเหนือ Q Y.17/N.7A ในเหตุการณ์ย้อนหลัง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ทดสอบ HEC-RAS 2D กับชุดข้อมูลที่ส่งออก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10144" y="1554480"/>
            <a:ext cx="3547872" cy="4617720"/>
          </a:xfrm>
          <a:prstGeom prst="roundRect">
            <a:avLst>
              <a:gd name="adj" fmla="val 257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719072"/>
            <a:ext cx="3163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ตัวชี้วัดที่แนะนำ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2249424"/>
            <a:ext cx="314553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Hit rate / False alarm ratio / CSI ราย hex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ความคลาดเคลื่อนเวลาเริ่มท่วม–น้ำลด</a:t>
            </a:r>
            <a:endParaRPr lang="en-US" sz="15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5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RMSE ระดับน้ำที่สถานีที่ไม่ใช้สอบเทียบ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 · 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ข้อจำกัดทางเทคนิค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486400"/>
                <a:gridCol w="405079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ด้าน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ข้อจำกัด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ผลกระทบ / แนวทาง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ความละเอียด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1 ตร.กม. · 2D 120 ม. เฉพาะ 3 จุด · DEM 30 ม. ไม่เห็นคันดินแคบ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ใช้จัดลำดับพื้นที่ ไม่ใช่ความลึกรายหลังคาเรือน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Open-Meteo ต่างจากสถานีมาก · ปรับแก้เฉพาะ 24 ชม. ล่าสุด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เพิ่มฝนเรดาร์/ดาวเทียมย้อนหลัง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แม่น้ำ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ไม่พยากรณ์การระบายเขื่อน · recession exponential เดียว · τ = 12 ชม. สมมติ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เพิ่มข้อมูลเขื่อน · recession 2 ช่วง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ต้นน้ำ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ความเร็วเดียว 0.7 ม./วิ · ไม่แยกบึงสีไฟ/ทุ่งบางระกำ · เพชรบูรณ์นับเฉพาะส่วนที่ไหลเข้า นว.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calibrate lag รายลุ่มน้ำ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ระบายน้ำ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OSM ไม่มีสถานีสูบ · ประตูน้ำ 20 แห่ง · ไม่มีกฎการเปิด-ปิดจริง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นำเข้าข้อมูล ชป./อปท.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สอบเทียบ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เทียบ 2D เหตุการณ์เดียว · ท่าตะโกเทียบ S1 แล้ว แต่น้ำมาช้า 1–2 สัปดาห์ · ไผ่สิงห์ต่ำกว่าจริง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สะสม S1 · น้ำไหลเข้าจากเหนือ · ระดับบึง/ประตูน้ำ ชป.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การเข้าถึงข้อมูล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GitHub runner ต่างประเทศอาจดึง ThaiWater ไม่ได้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self-hosted runner / รันจาก ArcGIS Pro</a:t>
                      </a:r>
                      <a:endParaRPr lang="en-US" sz="12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9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แผนพัฒนาต่อ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Validate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S1/GISTDA สะสมทั้งจังหวัด · น้ำเข้าจากเหนือ (Y.17/N.7A) + burn ลำน้ำนอกจังหวัด · ระดับบึงบอระเพ็ด ชป.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25648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ข้อมูลระบายน้ำ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ความจุสถานีสูบ ประตูน้ำ กฎการเดินเครื่องจาก ชป./อปท.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6120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 + เขื่อน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GSMaP/IMERG/เรดาร์ TMD · การระบายภูมิพล/สิริกิติ์/นเรศวร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846591" y="267004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600200"/>
            <a:ext cx="2513000" cy="2377440"/>
          </a:xfrm>
          <a:prstGeom prst="roundRect">
            <a:avLst>
              <a:gd name="adj" fmla="val 384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6479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64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4650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ผลกระทบ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58568"/>
            <a:ext cx="218381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ประชากร ถนน โรงเรียน โรงพยาบาล รายตำบล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476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41655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ละเอียด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946904"/>
            <a:ext cx="508406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5 ม. (พด.) หรือ LiDAR ในจุดวิกฤต → 2D 30–60 ม. และคันดินแคบที่ DEM 30 ม. มองไม่เห็น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45352" y="42519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441655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Online / Enterprise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4946904"/>
            <a:ext cx="499262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publish hex_status เป็น hosted feature layer → Dashboards / Experience Builder โดยใช้ pipeline เดิม + arcgis API edit_features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REFERENCES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เอกสารอ้างอิงหลัก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Bates, P.D., Horritt, M.S., Fewtrell, T.J. (2010). A simple inertial formulation of the shallow water equations for efficient two-dimensional flood inundation modelling. J. Hydrology 387, 33–45.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 Almeida, G.A.M., Bates, P., Freer, J.E., Souvignet, M. (2012). Improving the stability of a simple formulation of the shallow water equations for 2-D flood modeling. Water Resources Research 48, W05528.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Hawker, L. et al. (2022). A 30 m global map of elevation with forests and buildings removed. Environmental Research Letters 17, 024016. (FABDEM)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Nobre, A.D. et al. (2011). Height Above the Nearest Drainage – a hydrologically relevant new terrain model. J. Hydrology 404, 13–29.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USDA-NRCS (1986). Urban Hydrology for Small Watersheds, TR-55 · NEH Part 630 Ch. 10 (SCS Curve Number).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O'Callaghan, J.F., Mark, D.M. (1984). The extraction of drainage networks from digital elevation data. CVGIP 28, 323–344. (D8)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Tallaksen, L.M. (1995). A review of baseflow recession analysis. J. Hydrology 165, 349–370.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Otsu, N. (1979). A threshold selection method from gray-level histograms. IEEE Trans. SMC 9(1), 62–66.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Twele, A., Cao, W., Plank, S., Martinis, S. (2016). Sentinel-1-based flood mapping: a fully automated processing chain. Int. J. Remote Sensing 37(13), 2990–3004. · Sentinel-1 RTC (Microsoft Planetary Computer) · ERA5 (Hersbach et al. 2020)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Zanaga, D. et al. (2022). ESA WorldCover 10 m 2021 v200. Zenodo. · Copernicus DEM GLO-30 (ESA) · OpenStreetMap (ODbL) · geoBoundaries (Runfola et al. 2020)</a:t>
            </a:r>
            <a:endParaRPr lang="en-US" sz="1400" dirty="0"/>
          </a:p>
          <a:p>
            <a:pPr marL="203200" indent="-2032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ข้อมูลเวลาจริง: Open-Meteo (Zippenfenig 2023) · ThaiWater / สถาบันสารสนเทศทรัพยากรน้ำ (สสน.) · กรมชลประทาน · GISTDA Disaster API · Windy.com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Prompt"/>
              </a:rPr>
              <a:t>6 · 2D และการสอบเทียบ · ทั้งจังหวัด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B3C5D"/>
                </a:solidFill>
                <a:latin typeface="Prompt"/>
              </a:rPr>
              <a:t>ทั้งจังหวัด: Sentinel-1 ปี 2560–2568 สองวงโคจร 243 ภาพ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1495044"/>
            <a:ext cx="7059168" cy="4453127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1_provin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49908"/>
            <a:ext cx="6949440" cy="434339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6016752"/>
            <a:ext cx="6949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Prompt"/>
              </a:rPr>
              <a:t>จำนวนปีที่ท่วมต่อเนื่อง 30 วันขึ้นไป ทั้งจังหวัด + พื้นที่ท่วมรายปี/รายอำเภอ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1426464"/>
            <a:ext cx="1828800" cy="137160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82712" y="1517904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3C5D"/>
                </a:solidFill>
                <a:latin typeface="Prompt"/>
              </a:rPr>
              <a:t>502</a:t>
            </a:r>
            <a:r>
              <a:rPr sz="1100" b="0">
                <a:solidFill>
                  <a:srgbClr val="64748B"/>
                </a:solidFill>
                <a:latin typeface="Prompt"/>
              </a:rPr>
              <a:t>  ตร.กม.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2139696"/>
            <a:ext cx="1554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Prompt"/>
              </a:rPr>
              <a:t>ท่วม ≥30 วัน อย่างน้อย 3 ใน 9 ปี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1512" y="1426464"/>
            <a:ext cx="1828800" cy="137160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76104" y="1517904"/>
            <a:ext cx="1554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D64545"/>
                </a:solidFill>
                <a:latin typeface="Prompt"/>
              </a:rPr>
              <a:t>249</a:t>
            </a:r>
            <a:r>
              <a:rPr sz="1100" b="0">
                <a:solidFill>
                  <a:srgbClr val="64748B"/>
                </a:solidFill>
                <a:latin typeface="Prompt"/>
              </a:rPr>
              <a:t>  ตร.กม.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76104" y="2139696"/>
            <a:ext cx="1554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Prompt"/>
              </a:rPr>
              <a:t>อยู่ใน อ.ชุมแสง (ท่าตะโก 107)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2944368"/>
            <a:ext cx="3822191" cy="301752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1000" y="3035808"/>
            <a:ext cx="34564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วิธีแปลและสรุป (s1_history.py)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401568"/>
            <a:ext cx="3456432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VV &lt; หุบ histogram (−17…−13 dB) และ VV − ภาพแห้งวงโคจรเดียวกัน &lt; −3 dB, majority 3×3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รวมวงโคจร 62 (ขาลง) + 172 (ขาขึ้น) เป็นลำดับเวลาราย pixel 1 ส.ค.–15 ธ.ค.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ปีน้ำมาก 2560 / 2564 / 2565 / 2568 ท่วม ≥30 วัน 530–610 ตร.กม. ; ปี 2563 เพียง 17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ตะวันตก/ตะวันออกท่วมนานน้อย — น้ำหลากลดก่อนภาพถัดไป (6–12 วัน)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Prompt"/>
              </a:rPr>
              <a:t>ที่มา: Sentinel-1 RTC (Copernicus ผ่าน Microsoft Planetary Computer) วงโคจร 62 + 172 · แบบจำลอง 2D 300 ม. (event_2d.py / scenario_prov.py / run_province.py)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Prompt"/>
              </a:rPr>
              <a:t>6 · 2D และการสอบเทียบ · ทั้งจังหวัด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B3C5D"/>
                </a:solidFill>
                <a:latin typeface="Prompt"/>
              </a:rPr>
              <a:t>2D ทั้งจังหวัด 300 ม.: ตลิ่งใช้งานรายลำน้ำ + ความจุบึงบอระเพ็ด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1436854"/>
            <a:ext cx="7516367" cy="320705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rov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91718"/>
            <a:ext cx="7406640" cy="3097322"/>
          </a:xfrm>
          <a:prstGeom prst="rect">
            <a:avLst/>
          </a:prstGeom>
        </p:spPr>
      </p:pic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48640" y="4800600"/>
          <a:ext cx="740663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528"/>
                <a:gridCol w="1299410"/>
                <a:gridCol w="2338938"/>
                <a:gridCol w="909587"/>
                <a:gridCol w="909587"/>
                <a:gridCol w="909587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ปี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บทบาท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จำลอง / จริง ตร.กม.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POD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FAR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rompt"/>
                        </a:rPr>
                        <a:t>CSI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2564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สอบเทียบ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663 / 546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0.61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0.38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2565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สอบเทียบ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587 / 566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2567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ทดสอบ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267 / 355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0.42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0.31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2568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สอบเทียบ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583 / 598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0.58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Prompt"/>
                        </a:rPr>
                        <a:t>0.41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8229600" y="1426464"/>
            <a:ext cx="3410712" cy="251460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1517904"/>
            <a:ext cx="3044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พารามิเตอร์ (c5)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1883664"/>
            <a:ext cx="304495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12 สถานี เป็นขอบในลำน้ำ ; ฝน ERA5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ตลิ่งใช้งาน น่าน/ปิง −1.5 · เจ้าพระยา −2.0 · สะแกกรัง −1.0 ม.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น้ำเข้าทุ่ง ≤ 500 / 1,000 / 1,000 / 300 ลบ.ม./วิ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n × 2 · loss 0.08 มม./ชม. · คันบึง +24.0 ม.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4069080"/>
            <a:ext cx="3410712" cy="2194560"/>
          </a:xfrm>
          <a:prstGeom prst="rect">
            <a:avLst/>
          </a:prstGeom>
          <a:solidFill>
            <a:srgbClr val="FFF4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4160520"/>
            <a:ext cx="30449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บึงบอระเพ็ด / ข้อจำกัด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526280"/>
            <a:ext cx="3044952" cy="16916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DEM จุใต้ +24 ม. เพียง 27 ล้าน ลบ.ม. → ปรับท้องบึงตาม ชป. (180)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ชุมแสง CSI 0.32–0.52 · ท่าตะโก 0.48–0.65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เก้าเลี้ยว–โกรกพระ ≤ 0.21: ขาดข้อมูลคลอง/ประตูน้ำ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Prompt"/>
              </a:rPr>
              <a:t>เทียบพื้นที่ท่วม ≥30 วัน ในเขตจังหวัด ไม่รวมแหล่งน้ำถาวร · ปี 2567 ไม่ได้ใช้ปรับค่า (Y.5 ประมาณจาก N.67 RMSE 0.42 ม.)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Prompt"/>
              </a:rPr>
              <a:t>6 · 2D และการสอบเทียบ · ทั้งจังหวัด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B3C5D"/>
                </a:solidFill>
                <a:latin typeface="Prompt"/>
              </a:rPr>
              <a:t>สถานการณ์สมมติ A/C/D/E และพยากรณ์ 72 ชม. ทั้งจังหวัดอัตโนมัติ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" y="1480413"/>
            <a:ext cx="6236208" cy="4765852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rov_s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5277"/>
            <a:ext cx="6126480" cy="4656124"/>
          </a:xfrm>
          <a:prstGeom prst="rect">
            <a:avLst/>
          </a:prstGeom>
        </p:spPr>
      </p:pic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949440" y="1463040"/>
          <a:ext cx="46908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9234"/>
                <a:gridCol w="852885"/>
                <a:gridCol w="1108751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Prompt"/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Prompt"/>
                        </a:rPr>
                        <a:t>ขัง ≥7 วัน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Prompt"/>
                        </a:rPr>
                        <a:t>ยังไม่ลดวันที่ 21</a:t>
                      </a:r>
                    </a:p>
                  </a:txBody>
                  <a:tcPr marL="54864" marR="54864" marT="18288" marB="18288">
                    <a:solidFill>
                      <a:srgbClr val="0B3C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A · ฝน 150 มม./3 วัน ปกติ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29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39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C · ฝน 250 มม./5 วัน ปกติ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148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140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D · ฝน 250 มม./5 วัน เต็มตลิ่ง 10 วัน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532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274</a:t>
                      </a:r>
                    </a:p>
                  </a:txBody>
                  <a:tcPr marL="54864" marR="54864" marT="18288" marB="18288">
                    <a:solidFill>
                      <a:srgbClr val="F4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E · ฝน 250 มม./5 วัน ล้นตลิ่ง +0.5 ม. 7 วัน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608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Prompt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949440" y="3429000"/>
            <a:ext cx="46908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Prompt"/>
              </a:rPr>
              <a:t>ตร.กม. ในเขตจังหวัด · บึงเริ่ม +24.00 ม. · จำลอง 21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794760"/>
            <a:ext cx="4690872" cy="2468880"/>
          </a:xfrm>
          <a:prstGeom prst="rect">
            <a:avLst/>
          </a:prstGeom>
          <a:solidFill>
            <a:srgbClr val="EE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432511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3C5D"/>
                </a:solidFill>
                <a:latin typeface="Prompt"/>
              </a:rPr>
              <a:t>พยากรณ์ 72 ชม. (run_province.py)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251960"/>
            <a:ext cx="4325112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รันจริง 9 นาที 15 วินาที บนเครื่อง 2 แกน (เท่า GitHub runner)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อัตโนมัติวันละ 4 รอบ 04/10/16/22 UTC · สั่งเองได้ province = true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ระดับบึงต่อจากรอบก่อน (prov_state.json) · ไม่ใช้สอบเทียบ hex (no_calib)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293B"/>
                </a:solidFill>
                <a:latin typeface="Prompt"/>
              </a:rPr>
              <a:t>ตัวอย่าง 28 ก.ย.: ตอนนี้ 160 · สูงสุด 72 ชม. 243 ตร.กม.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Prompt"/>
              </a:rPr>
              <a:t>scenario_prov.py: ระดับน้ำทุกสถานี ปกติ (40% ตลิ่ง) / เต็มตลิ่ง 10 วัน / ล้นตลิ่ง +0.5 ม. 7 วัน · ฝนสม่ำเสมอทั้งโดเมน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Nakhon Sawan Flood Watch — รายละเอียดทางเทคนิค</dc:title>
  <dc:subject>PptxGenJS Presentation</dc:subject>
  <dc:creator>Att</dc:creator>
  <cp:lastModifiedBy>Att</cp:lastModifiedBy>
  <cp:revision>1</cp:revision>
  <dcterms:created xsi:type="dcterms:W3CDTF">2026-09-28T15:01:25Z</dcterms:created>
  <dcterms:modified xsi:type="dcterms:W3CDTF">2026-09-28T15:01:25Z</dcterms:modified>
</cp:coreProperties>
</file>