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1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2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3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4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charts/chart5.xml" ContentType="application/vnd.openxmlformats-officedocument.drawingml.chart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0B3C5D"/>
                </a:solidFill>
                <a:latin typeface="Prompt"/>
              </a:defRPr>
            </a:pPr>
            <a:r>
              <a:rPr sz="1300" b="0" i="0" u="none" strike="noStrike">
                <a:solidFill>
                  <a:srgbClr val="0B3C5D"/>
                </a:solidFill>
                <a:latin typeface="Prompt"/>
              </a:rPr>
              <a:t>พื้นที่ท่วมขังรายอำเภอ (ตร.กม.)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สูงสุดใน 72 ชม.</c:v>
                </c:pt>
              </c:strCache>
            </c:strRef>
          </c:tx>
          <c:spPr>
            <a:solidFill>
              <a:srgbClr val="8FD3E8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34155"/>
                    </a:solidFill>
                    <a:latin typeface="Promp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พยุหะคีรี</c:v>
                  </c:pt>
                  <c:pt idx="1">
                    <c:v>แม่เปิน</c:v>
                  </c:pt>
                  <c:pt idx="2">
                    <c:v>เมืองนครสวรรค์</c:v>
                  </c:pt>
                  <c:pt idx="3">
                    <c:v>ชุมแสง</c:v>
                  </c:pt>
                  <c:pt idx="4">
                    <c:v>ชุมตาบง</c:v>
                  </c:pt>
                  <c:pt idx="5">
                    <c:v>บรรพตพิสัย</c:v>
                  </c:pt>
                  <c:pt idx="6">
                    <c:v>แม่วงก์</c:v>
                  </c:pt>
                  <c:pt idx="7">
                    <c:v>ลาดยาว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0.3</c:v>
                </c:pt>
                <c:pt idx="1">
                  <c:v>0.4</c:v>
                </c:pt>
                <c:pt idx="2">
                  <c:v>1</c:v>
                </c:pt>
                <c:pt idx="3">
                  <c:v>0.2</c:v>
                </c:pt>
                <c:pt idx="4">
                  <c:v>1</c:v>
                </c:pt>
                <c:pt idx="5">
                  <c:v>3.9</c:v>
                </c:pt>
                <c:pt idx="6">
                  <c:v>11.4</c:v>
                </c:pt>
                <c:pt idx="7">
                  <c:v>54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ตอนนี้ (ลึก 25 ซม. ขึ้นไป)</c:v>
                </c:pt>
              </c:strCache>
            </c:strRef>
          </c:tx>
          <c:spPr>
            <a:solidFill>
              <a:srgbClr val="0B3C5D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34155"/>
                    </a:solidFill>
                    <a:latin typeface="Promp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พยุหะคีรี</c:v>
                  </c:pt>
                  <c:pt idx="1">
                    <c:v>แม่เปิน</c:v>
                  </c:pt>
                  <c:pt idx="2">
                    <c:v>เมืองนครสวรรค์</c:v>
                  </c:pt>
                  <c:pt idx="3">
                    <c:v>ชุมแสง</c:v>
                  </c:pt>
                  <c:pt idx="4">
                    <c:v>ชุมตาบง</c:v>
                  </c:pt>
                  <c:pt idx="5">
                    <c:v>บรรพตพิสัย</c:v>
                  </c:pt>
                  <c:pt idx="6">
                    <c:v>แม่วงก์</c:v>
                  </c:pt>
                  <c:pt idx="7">
                    <c:v>ลาดยาว</c:v>
                  </c:pt>
                </c:lvl>
              </c:multiLvlStrCache>
            </c:multiLvl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>0.2</c:v>
                </c:pt>
                <c:pt idx="1">
                  <c:v>0.4</c:v>
                </c:pt>
                <c:pt idx="2">
                  <c:v>0.5</c:v>
                </c:pt>
                <c:pt idx="3">
                  <c:v>0.2</c:v>
                </c:pt>
                <c:pt idx="4">
                  <c:v>1</c:v>
                </c:pt>
                <c:pt idx="5">
                  <c:v>4.1</c:v>
                </c:pt>
                <c:pt idx="6">
                  <c:v>10.8</c:v>
                </c:pt>
                <c:pt idx="7">
                  <c:v>40.4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900" u="none">
                  <a:solidFill>
                    <a:srgbClr val="334155"/>
                  </a:solidFill>
                  <a:latin typeface="Promp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475569"/>
                </a:solidFill>
                <a:latin typeface="Promp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4748B"/>
                </a:solidFill>
                <a:latin typeface="Promp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latin typeface="Prompt"/>
              <a:cs typeface="Promp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0B3C5D"/>
                </a:solidFill>
                <a:latin typeface="Prompt"/>
              </a:defRPr>
            </a:pPr>
            <a:r>
              <a:rPr sz="1300" b="0" i="0" u="none" strike="noStrike">
                <a:solidFill>
                  <a:srgbClr val="0B3C5D"/>
                </a:solidFill>
                <a:latin typeface="Prompt"/>
              </a:rPr>
              <a:t>พื้นที่ลึก 10 ซม. ขึ้นไป แยกตามเวลาที่คาดว่าน้ำจะลด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&lt; 1 วัน</c:v>
                </c:pt>
              </c:strCache>
            </c:strRef>
          </c:tx>
          <c:spPr>
            <a:solidFill>
              <a:srgbClr val="86EFA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Promp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Sheet1!$A$2:$A$12</c:f>
              <c:multiLvlStrCache>
                <c:ptCount val="11"/>
                <c:lvl>
                  <c:pt idx="0">
                    <c:v>ตาคลี</c:v>
                  </c:pt>
                  <c:pt idx="1">
                    <c:v>ท่าตะโก</c:v>
                  </c:pt>
                  <c:pt idx="2">
                    <c:v>โกรกพระ</c:v>
                  </c:pt>
                  <c:pt idx="3">
                    <c:v>พยุหะคีรี</c:v>
                  </c:pt>
                  <c:pt idx="4">
                    <c:v>แม่เปิน</c:v>
                  </c:pt>
                  <c:pt idx="5">
                    <c:v>เมืองนครสวรรค์</c:v>
                  </c:pt>
                  <c:pt idx="6">
                    <c:v>ชุมแสง</c:v>
                  </c:pt>
                  <c:pt idx="7">
                    <c:v>ชุมตาบง</c:v>
                  </c:pt>
                  <c:pt idx="8">
                    <c:v>บรรพตพิสัย</c:v>
                  </c:pt>
                  <c:pt idx="9">
                    <c:v>แม่วงก์</c:v>
                  </c:pt>
                  <c:pt idx="10">
                    <c:v>ลาดยาว</c:v>
                  </c:pt>
                </c:lvl>
              </c:multiLvlStrCache>
            </c:multiLvl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1.3</c:v>
                </c:pt>
                <c:pt idx="1">
                  <c:v>0.4</c:v>
                </c:pt>
                <c:pt idx="2">
                  <c:v>2</c:v>
                </c:pt>
                <c:pt idx="3">
                  <c:v>0.6</c:v>
                </c:pt>
                <c:pt idx="4">
                  <c:v>0.3</c:v>
                </c:pt>
                <c:pt idx="5">
                  <c:v>0.8</c:v>
                </c:pt>
                <c:pt idx="6">
                  <c:v>0.5</c:v>
                </c:pt>
                <c:pt idx="7">
                  <c:v>0.6</c:v>
                </c:pt>
                <c:pt idx="8">
                  <c:v>9.9</c:v>
                </c:pt>
                <c:pt idx="9">
                  <c:v>2.7</c:v>
                </c:pt>
                <c:pt idx="10">
                  <c:v>1.4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1–3 วัน</c:v>
                </c:pt>
              </c:strCache>
            </c:strRef>
          </c:tx>
          <c:spPr>
            <a:solidFill>
              <a:srgbClr val="FDE04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Promp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Sheet1!$A$2:$A$12</c:f>
              <c:multiLvlStrCache>
                <c:ptCount val="11"/>
                <c:lvl>
                  <c:pt idx="0">
                    <c:v>ตาคลี</c:v>
                  </c:pt>
                  <c:pt idx="1">
                    <c:v>ท่าตะโก</c:v>
                  </c:pt>
                  <c:pt idx="2">
                    <c:v>โกรกพระ</c:v>
                  </c:pt>
                  <c:pt idx="3">
                    <c:v>พยุหะคีรี</c:v>
                  </c:pt>
                  <c:pt idx="4">
                    <c:v>แม่เปิน</c:v>
                  </c:pt>
                  <c:pt idx="5">
                    <c:v>เมืองนครสวรรค์</c:v>
                  </c:pt>
                  <c:pt idx="6">
                    <c:v>ชุมแสง</c:v>
                  </c:pt>
                  <c:pt idx="7">
                    <c:v>ชุมตาบง</c:v>
                  </c:pt>
                  <c:pt idx="8">
                    <c:v>บรรพตพิสัย</c:v>
                  </c:pt>
                  <c:pt idx="9">
                    <c:v>แม่วงก์</c:v>
                  </c:pt>
                  <c:pt idx="10">
                    <c:v>ลาดยาว</c:v>
                  </c:pt>
                </c:lvl>
              </c:multiLvlStrCache>
            </c:multiLvlStrRef>
          </c:cat>
          <c:val>
            <c:numRef>
              <c:f>Sheet1!$C$2:$C$12</c:f>
              <c:numCache>
                <c:formatCode>General</c:formatCode>
                <c:ptCount val="11"/>
                <c:pt idx="0">
                  <c:v>0.2</c:v>
                </c:pt>
                <c:pt idx="1">
                  <c:v>0.4</c:v>
                </c:pt>
                <c:pt idx="2">
                  <c:v>0.5</c:v>
                </c:pt>
                <c:pt idx="3">
                  <c:v>0.5</c:v>
                </c:pt>
                <c:pt idx="4">
                  <c:v>0.2</c:v>
                </c:pt>
                <c:pt idx="5">
                  <c:v>0.4</c:v>
                </c:pt>
                <c:pt idx="6">
                  <c:v>0</c:v>
                </c:pt>
                <c:pt idx="7">
                  <c:v>1.2</c:v>
                </c:pt>
                <c:pt idx="8">
                  <c:v>7.8</c:v>
                </c:pt>
                <c:pt idx="9">
                  <c:v>8.3</c:v>
                </c:pt>
                <c:pt idx="10">
                  <c:v>17.6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3–7 วัน</c:v>
                </c:pt>
              </c:strCache>
            </c:strRef>
          </c:tx>
          <c:spPr>
            <a:solidFill>
              <a:srgbClr val="FB923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Promp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Sheet1!$A$2:$A$12</c:f>
              <c:multiLvlStrCache>
                <c:ptCount val="11"/>
                <c:lvl>
                  <c:pt idx="0">
                    <c:v>ตาคลี</c:v>
                  </c:pt>
                  <c:pt idx="1">
                    <c:v>ท่าตะโก</c:v>
                  </c:pt>
                  <c:pt idx="2">
                    <c:v>โกรกพระ</c:v>
                  </c:pt>
                  <c:pt idx="3">
                    <c:v>พยุหะคีรี</c:v>
                  </c:pt>
                  <c:pt idx="4">
                    <c:v>แม่เปิน</c:v>
                  </c:pt>
                  <c:pt idx="5">
                    <c:v>เมืองนครสวรรค์</c:v>
                  </c:pt>
                  <c:pt idx="6">
                    <c:v>ชุมแสง</c:v>
                  </c:pt>
                  <c:pt idx="7">
                    <c:v>ชุมตาบง</c:v>
                  </c:pt>
                  <c:pt idx="8">
                    <c:v>บรรพตพิสัย</c:v>
                  </c:pt>
                  <c:pt idx="9">
                    <c:v>แม่วงก์</c:v>
                  </c:pt>
                  <c:pt idx="10">
                    <c:v>ลาดยาว</c:v>
                  </c:pt>
                </c:lvl>
              </c:multiLvlStrCache>
            </c:multiLvlStrRef>
          </c:cat>
          <c:val>
            <c:numRef>
              <c:f>Sheet1!$D$2:$D$12</c:f>
              <c:numCache>
                <c:formatCode>General</c:formatCode>
                <c:ptCount val="11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0.2</c:v>
                </c:pt>
                <c:pt idx="4">
                  <c:v>0</c:v>
                </c:pt>
                <c:pt idx="5">
                  <c:v>0.1</c:v>
                </c:pt>
                <c:pt idx="6">
                  <c:v>0</c:v>
                </c:pt>
                <c:pt idx="7">
                  <c:v>0</c:v>
                </c:pt>
                <c:pt idx="8">
                  <c:v>0.2</c:v>
                </c:pt>
                <c:pt idx="9">
                  <c:v>0</c:v>
                </c:pt>
                <c:pt idx="10">
                  <c:v>21.6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7–14 วัน</c:v>
                </c:pt>
              </c:strCache>
            </c:strRef>
          </c:tx>
          <c:spPr>
            <a:solidFill>
              <a:srgbClr val="DC262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Promp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Sheet1!$A$2:$A$12</c:f>
              <c:multiLvlStrCache>
                <c:ptCount val="11"/>
                <c:lvl>
                  <c:pt idx="0">
                    <c:v>ตาคลี</c:v>
                  </c:pt>
                  <c:pt idx="1">
                    <c:v>ท่าตะโก</c:v>
                  </c:pt>
                  <c:pt idx="2">
                    <c:v>โกรกพระ</c:v>
                  </c:pt>
                  <c:pt idx="3">
                    <c:v>พยุหะคีรี</c:v>
                  </c:pt>
                  <c:pt idx="4">
                    <c:v>แม่เปิน</c:v>
                  </c:pt>
                  <c:pt idx="5">
                    <c:v>เมืองนครสวรรค์</c:v>
                  </c:pt>
                  <c:pt idx="6">
                    <c:v>ชุมแสง</c:v>
                  </c:pt>
                  <c:pt idx="7">
                    <c:v>ชุมตาบง</c:v>
                  </c:pt>
                  <c:pt idx="8">
                    <c:v>บรรพตพิสัย</c:v>
                  </c:pt>
                  <c:pt idx="9">
                    <c:v>แม่วงก์</c:v>
                  </c:pt>
                  <c:pt idx="10">
                    <c:v>ลาดยาว</c:v>
                  </c:pt>
                </c:lvl>
              </c:multiLvlStrCache>
            </c:multiLvlStrRef>
          </c:cat>
          <c:val>
            <c:numRef>
              <c:f>Sheet1!$E$2:$E$12</c:f>
              <c:numCache>
                <c:formatCode>General</c:formatCode>
                <c:ptCount val="11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&gt; 14 วัน</c:v>
                </c:pt>
              </c:strCache>
            </c:strRef>
          </c:tx>
          <c:spPr>
            <a:solidFill>
              <a:srgbClr val="7F1D1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Promp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Sheet1!$A$2:$A$12</c:f>
              <c:multiLvlStrCache>
                <c:ptCount val="11"/>
                <c:lvl>
                  <c:pt idx="0">
                    <c:v>ตาคลี</c:v>
                  </c:pt>
                  <c:pt idx="1">
                    <c:v>ท่าตะโก</c:v>
                  </c:pt>
                  <c:pt idx="2">
                    <c:v>โกรกพระ</c:v>
                  </c:pt>
                  <c:pt idx="3">
                    <c:v>พยุหะคีรี</c:v>
                  </c:pt>
                  <c:pt idx="4">
                    <c:v>แม่เปิน</c:v>
                  </c:pt>
                  <c:pt idx="5">
                    <c:v>เมืองนครสวรรค์</c:v>
                  </c:pt>
                  <c:pt idx="6">
                    <c:v>ชุมแสง</c:v>
                  </c:pt>
                  <c:pt idx="7">
                    <c:v>ชุมตาบง</c:v>
                  </c:pt>
                  <c:pt idx="8">
                    <c:v>บรรพตพิสัย</c:v>
                  </c:pt>
                  <c:pt idx="9">
                    <c:v>แม่วงก์</c:v>
                  </c:pt>
                  <c:pt idx="10">
                    <c:v>ลาดยาว</c:v>
                  </c:pt>
                </c:lvl>
              </c:multiLvlStrCache>
            </c:multiLvlStrRef>
          </c:cat>
          <c:val>
            <c:numRef>
              <c:f>Sheet1!$F$2:$F$12</c:f>
              <c:numCache>
                <c:formatCode>General</c:formatCode>
                <c:ptCount val="11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2.8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Promp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3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475569"/>
                </a:solidFill>
                <a:latin typeface="Promp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000" b="0" i="0" u="none" strike="noStrike">
                    <a:solidFill>
                      <a:srgbClr val="64748B"/>
                    </a:solidFill>
                    <a:latin typeface="Prompt"/>
                  </a:defRPr>
                </a:pPr>
                <a:r>
                  <a:rPr sz="1000" b="0" i="0" u="none" strike="noStrike">
                    <a:solidFill>
                      <a:srgbClr val="64748B"/>
                    </a:solidFill>
                    <a:latin typeface="Prompt"/>
                  </a:rPr>
                  <a:t>ตร.กม.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4748B"/>
                </a:solidFill>
                <a:latin typeface="Promp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latin typeface="Prompt"/>
              <a:cs typeface="Promp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0B3C5D"/>
                </a:solidFill>
                <a:latin typeface="Prompt"/>
              </a:defRPr>
            </a:pPr>
            <a:r>
              <a:rPr sz="1300" b="0" i="0" u="none" strike="noStrike">
                <a:solidFill>
                  <a:srgbClr val="0B3C5D"/>
                </a:solidFill>
                <a:latin typeface="Prompt"/>
              </a:rPr>
              <a:t>ปริมาตรน้ำท่าที่ไหลเข้านครสวรรค์ (ล้าน ลบ.ม.)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7 วันที่ผ่านมา</c:v>
                </c:pt>
              </c:strCache>
            </c:strRef>
          </c:tx>
          <c:spPr>
            <a:solidFill>
              <a:srgbClr val="A3B3C2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34155"/>
                    </a:solidFill>
                    <a:latin typeface="Promp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กำแพงเพชร</c:v>
                  </c:pt>
                  <c:pt idx="1">
                    <c:v>พิษณุโลก</c:v>
                  </c:pt>
                  <c:pt idx="2">
                    <c:v>พิจิตร</c:v>
                  </c:pt>
                  <c:pt idx="3">
                    <c:v>เพชรบูรณ์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121.7</c:v>
                </c:pt>
                <c:pt idx="1">
                  <c:v>146.9</c:v>
                </c:pt>
                <c:pt idx="2">
                  <c:v>84.8</c:v>
                </c:pt>
                <c:pt idx="3">
                  <c:v>25.2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72 ชม. ข้างหน้า</c:v>
                </c:pt>
              </c:strCache>
            </c:strRef>
          </c:tx>
          <c:spPr>
            <a:solidFill>
              <a:srgbClr val="1B998B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34155"/>
                    </a:solidFill>
                    <a:latin typeface="Promp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กำแพงเพชร</c:v>
                  </c:pt>
                  <c:pt idx="1">
                    <c:v>พิษณุโลก</c:v>
                  </c:pt>
                  <c:pt idx="2">
                    <c:v>พิจิตร</c:v>
                  </c:pt>
                  <c:pt idx="3">
                    <c:v>เพชรบูรณ์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91.4</c:v>
                </c:pt>
                <c:pt idx="1">
                  <c:v>18.2</c:v>
                </c:pt>
                <c:pt idx="2">
                  <c:v>17.4</c:v>
                </c:pt>
                <c:pt idx="3">
                  <c:v>5.1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b="0" i="0" strike="noStrike" sz="1000" u="none">
                  <a:solidFill>
                    <a:srgbClr val="334155"/>
                  </a:solidFill>
                  <a:latin typeface="Promp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475569"/>
                </a:solidFill>
                <a:latin typeface="Promp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4748B"/>
                </a:solidFill>
                <a:latin typeface="Promp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latin typeface="Prompt"/>
              <a:cs typeface="Promp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0B3C5D"/>
                </a:solidFill>
                <a:latin typeface="Prompt"/>
              </a:defRPr>
            </a:pPr>
            <a:r>
              <a:rPr sz="1300" b="0" i="0" u="none" strike="noStrike">
                <a:solidFill>
                  <a:srgbClr val="0B3C5D"/>
                </a:solidFill>
                <a:latin typeface="Prompt"/>
              </a:rPr>
              <a:t>แม่วงก์-สะแกกรัง (Ct.5A) — ค่าตรวจวัด 7 วันและพยากรณ์ 72 ชม.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ค่าตรวจวัด</c:v>
                </c:pt>
              </c:strCache>
            </c:strRef>
          </c:tx>
          <c:spPr>
            <a:solidFill>
              <a:srgbClr val="0B3C5D"/>
            </a:solidFill>
            <a:ln w="25400" cap="flat">
              <a:solidFill>
                <a:srgbClr val="0B3C5D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Promp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0B3C5D"/>
              </a:solidFill>
              <a:ln w="9525" cap="flat">
                <a:solidFill>
                  <a:srgbClr val="0B3C5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Sheet1!$A$2:$A$82</c:f>
              <c:multiLvlStrCache>
                <c:ptCount val="81"/>
                <c:lvl>
                  <c:pt idx="0">
                    <c:v>21/9 20:00</c:v>
                  </c:pt>
                  <c:pt idx="1">
                    <c:v>21/9 23:00</c:v>
                  </c:pt>
                  <c:pt idx="2">
                    <c:v>22/9 02:00</c:v>
                  </c:pt>
                  <c:pt idx="3">
                    <c:v>22/9 05:00</c:v>
                  </c:pt>
                  <c:pt idx="4">
                    <c:v>22/9 08:00</c:v>
                  </c:pt>
                  <c:pt idx="5">
                    <c:v>22/9 11:00</c:v>
                  </c:pt>
                  <c:pt idx="6">
                    <c:v>22/9 14:00</c:v>
                  </c:pt>
                  <c:pt idx="7">
                    <c:v>22/9 17:00</c:v>
                  </c:pt>
                  <c:pt idx="8">
                    <c:v>22/9 20:00</c:v>
                  </c:pt>
                  <c:pt idx="9">
                    <c:v>22/9 23:00</c:v>
                  </c:pt>
                  <c:pt idx="10">
                    <c:v>23/9 02:00</c:v>
                  </c:pt>
                  <c:pt idx="11">
                    <c:v>23/9 05:00</c:v>
                  </c:pt>
                  <c:pt idx="12">
                    <c:v>23/9 08:00</c:v>
                  </c:pt>
                  <c:pt idx="13">
                    <c:v>23/9 11:00</c:v>
                  </c:pt>
                  <c:pt idx="14">
                    <c:v>23/9 14:00</c:v>
                  </c:pt>
                  <c:pt idx="15">
                    <c:v>23/9 17:00</c:v>
                  </c:pt>
                  <c:pt idx="16">
                    <c:v>23/9 20:00</c:v>
                  </c:pt>
                  <c:pt idx="17">
                    <c:v>23/9 23:00</c:v>
                  </c:pt>
                  <c:pt idx="18">
                    <c:v>24/9 02:00</c:v>
                  </c:pt>
                  <c:pt idx="19">
                    <c:v>24/9 05:00</c:v>
                  </c:pt>
                  <c:pt idx="20">
                    <c:v>24/9 08:00</c:v>
                  </c:pt>
                  <c:pt idx="21">
                    <c:v>24/9 11:00</c:v>
                  </c:pt>
                  <c:pt idx="22">
                    <c:v>24/9 14:00</c:v>
                  </c:pt>
                  <c:pt idx="23">
                    <c:v>24/9 17:00</c:v>
                  </c:pt>
                  <c:pt idx="24">
                    <c:v>24/9 20:00</c:v>
                  </c:pt>
                  <c:pt idx="25">
                    <c:v>24/9 23:00</c:v>
                  </c:pt>
                  <c:pt idx="26">
                    <c:v>25/9 02:00</c:v>
                  </c:pt>
                  <c:pt idx="27">
                    <c:v>25/9 05:00</c:v>
                  </c:pt>
                  <c:pt idx="28">
                    <c:v>25/9 08:00</c:v>
                  </c:pt>
                  <c:pt idx="29">
                    <c:v>25/9 11:00</c:v>
                  </c:pt>
                  <c:pt idx="30">
                    <c:v>25/9 14:00</c:v>
                  </c:pt>
                  <c:pt idx="31">
                    <c:v>25/9 17:00</c:v>
                  </c:pt>
                  <c:pt idx="32">
                    <c:v>25/9 20:00</c:v>
                  </c:pt>
                  <c:pt idx="33">
                    <c:v>25/9 23:00</c:v>
                  </c:pt>
                  <c:pt idx="34">
                    <c:v>26/9 02:00</c:v>
                  </c:pt>
                  <c:pt idx="35">
                    <c:v>26/9 05:00</c:v>
                  </c:pt>
                  <c:pt idx="36">
                    <c:v>26/9 08:00</c:v>
                  </c:pt>
                  <c:pt idx="37">
                    <c:v>26/9 11:00</c:v>
                  </c:pt>
                  <c:pt idx="38">
                    <c:v>26/9 14:00</c:v>
                  </c:pt>
                  <c:pt idx="39">
                    <c:v>26/9 17:00</c:v>
                  </c:pt>
                  <c:pt idx="40">
                    <c:v>26/9 20:00</c:v>
                  </c:pt>
                  <c:pt idx="41">
                    <c:v>26/9 23:00</c:v>
                  </c:pt>
                  <c:pt idx="42">
                    <c:v>27/9 02:00</c:v>
                  </c:pt>
                  <c:pt idx="43">
                    <c:v>27/9 05:00</c:v>
                  </c:pt>
                  <c:pt idx="44">
                    <c:v>27/9 08:00</c:v>
                  </c:pt>
                  <c:pt idx="45">
                    <c:v>27/9 11:00</c:v>
                  </c:pt>
                  <c:pt idx="46">
                    <c:v>27/9 14:00</c:v>
                  </c:pt>
                  <c:pt idx="47">
                    <c:v>27/9 17:00</c:v>
                  </c:pt>
                  <c:pt idx="48">
                    <c:v>27/9 20:00</c:v>
                  </c:pt>
                  <c:pt idx="49">
                    <c:v>27/9 23:00</c:v>
                  </c:pt>
                  <c:pt idx="50">
                    <c:v>28/9 02:00</c:v>
                  </c:pt>
                  <c:pt idx="51">
                    <c:v>28/9 05:00</c:v>
                  </c:pt>
                  <c:pt idx="52">
                    <c:v>28/9 08:00</c:v>
                  </c:pt>
                  <c:pt idx="53">
                    <c:v>28/9 11:00</c:v>
                  </c:pt>
                  <c:pt idx="54">
                    <c:v>28/9 14:00</c:v>
                  </c:pt>
                  <c:pt idx="55">
                    <c:v>28/9 17:00</c:v>
                  </c:pt>
                  <c:pt idx="56">
                    <c:v>28/9 20:00</c:v>
                  </c:pt>
                  <c:pt idx="57">
                    <c:v>28/9 23:00</c:v>
                  </c:pt>
                  <c:pt idx="58">
                    <c:v>29/9 02:00</c:v>
                  </c:pt>
                  <c:pt idx="59">
                    <c:v>29/9 05:00</c:v>
                  </c:pt>
                  <c:pt idx="60">
                    <c:v>29/9 08:00</c:v>
                  </c:pt>
                  <c:pt idx="61">
                    <c:v>29/9 11:00</c:v>
                  </c:pt>
                  <c:pt idx="62">
                    <c:v>29/9 14:00</c:v>
                  </c:pt>
                  <c:pt idx="63">
                    <c:v>29/9 17:00</c:v>
                  </c:pt>
                  <c:pt idx="64">
                    <c:v>29/9 20:00</c:v>
                  </c:pt>
                  <c:pt idx="65">
                    <c:v>29/9 23:00</c:v>
                  </c:pt>
                  <c:pt idx="66">
                    <c:v>30/9 02:00</c:v>
                  </c:pt>
                  <c:pt idx="67">
                    <c:v>30/9 05:00</c:v>
                  </c:pt>
                  <c:pt idx="68">
                    <c:v>30/9 08:00</c:v>
                  </c:pt>
                  <c:pt idx="69">
                    <c:v>30/9 11:00</c:v>
                  </c:pt>
                  <c:pt idx="70">
                    <c:v>30/9 14:00</c:v>
                  </c:pt>
                  <c:pt idx="71">
                    <c:v>30/9 17:00</c:v>
                  </c:pt>
                  <c:pt idx="72">
                    <c:v>30/9 20:00</c:v>
                  </c:pt>
                  <c:pt idx="73">
                    <c:v>30/9 23:00</c:v>
                  </c:pt>
                  <c:pt idx="74">
                    <c:v>1/10 02:00</c:v>
                  </c:pt>
                  <c:pt idx="75">
                    <c:v>1/10 05:00</c:v>
                  </c:pt>
                  <c:pt idx="76">
                    <c:v>1/10 08:00</c:v>
                  </c:pt>
                  <c:pt idx="77">
                    <c:v>1/10 11:00</c:v>
                  </c:pt>
                  <c:pt idx="78">
                    <c:v>1/10 14:00</c:v>
                  </c:pt>
                  <c:pt idx="79">
                    <c:v>1/10 17:00</c:v>
                  </c:pt>
                  <c:pt idx="80">
                    <c:v>1/10 20:00</c:v>
                  </c:pt>
                </c:lvl>
              </c:multiLvlStrCache>
            </c:multiLvlStrRef>
          </c:cat>
          <c:val>
            <c:numRef>
              <c:f>Sheet1!$B$2:$B$82</c:f>
              <c:numCache>
                <c:formatCode>General</c:formatCode>
                <c:ptCount val="81"/>
                <c:pt idx="0">
                  <c:v>90</c:v>
                </c:pt>
                <c:pt idx="1">
                  <c:v>76</c:v>
                </c:pt>
                <c:pt idx="2">
                  <c:v>66</c:v>
                </c:pt>
                <c:pt idx="3">
                  <c:v>58</c:v>
                </c:pt>
                <c:pt idx="4">
                  <c:v>53</c:v>
                </c:pt>
                <c:pt idx="5">
                  <c:v>51</c:v>
                </c:pt>
                <c:pt idx="6">
                  <c:v>51</c:v>
                </c:pt>
                <c:pt idx="7">
                  <c:v>52</c:v>
                </c:pt>
                <c:pt idx="8">
                  <c:v>55</c:v>
                </c:pt>
                <c:pt idx="9">
                  <c:v>55</c:v>
                </c:pt>
                <c:pt idx="10">
                  <c:v>58</c:v>
                </c:pt>
                <c:pt idx="11">
                  <c:v>54</c:v>
                </c:pt>
                <c:pt idx="12">
                  <c:v>47</c:v>
                </c:pt>
                <c:pt idx="13">
                  <c:v>42</c:v>
                </c:pt>
                <c:pt idx="14">
                  <c:v>39</c:v>
                </c:pt>
                <c:pt idx="15">
                  <c:v>36</c:v>
                </c:pt>
                <c:pt idx="16">
                  <c:v>34</c:v>
                </c:pt>
                <c:pt idx="17">
                  <c:v>33</c:v>
                </c:pt>
                <c:pt idx="18">
                  <c:v>33</c:v>
                </c:pt>
                <c:pt idx="19">
                  <c:v>33</c:v>
                </c:pt>
                <c:pt idx="20">
                  <c:v>38</c:v>
                </c:pt>
                <c:pt idx="21">
                  <c:v>46</c:v>
                </c:pt>
                <c:pt idx="22">
                  <c:v>58</c:v>
                </c:pt>
                <c:pt idx="23">
                  <c:v>74</c:v>
                </c:pt>
                <c:pt idx="24">
                  <c:v>83</c:v>
                </c:pt>
                <c:pt idx="25">
                  <c:v>80</c:v>
                </c:pt>
                <c:pt idx="26">
                  <c:v>78</c:v>
                </c:pt>
                <c:pt idx="27">
                  <c:v>85</c:v>
                </c:pt>
                <c:pt idx="28">
                  <c:v>91</c:v>
                </c:pt>
                <c:pt idx="29">
                  <c:v>101</c:v>
                </c:pt>
                <c:pt idx="30">
                  <c:v>120</c:v>
                </c:pt>
                <c:pt idx="31">
                  <c:v>145</c:v>
                </c:pt>
                <c:pt idx="32">
                  <c:v>169</c:v>
                </c:pt>
                <c:pt idx="33">
                  <c:v>185</c:v>
                </c:pt>
                <c:pt idx="34">
                  <c:v>182</c:v>
                </c:pt>
                <c:pt idx="35">
                  <c:v>178</c:v>
                </c:pt>
                <c:pt idx="36">
                  <c:v>181</c:v>
                </c:pt>
                <c:pt idx="37">
                  <c:v>195</c:v>
                </c:pt>
                <c:pt idx="38">
                  <c:v>193</c:v>
                </c:pt>
                <c:pt idx="39">
                  <c:v>197</c:v>
                </c:pt>
                <c:pt idx="40">
                  <c:v>202</c:v>
                </c:pt>
                <c:pt idx="41">
                  <c:v>209</c:v>
                </c:pt>
                <c:pt idx="42">
                  <c:v>220</c:v>
                </c:pt>
                <c:pt idx="43">
                  <c:v>241</c:v>
                </c:pt>
                <c:pt idx="44">
                  <c:v>288</c:v>
                </c:pt>
                <c:pt idx="45">
                  <c:v>317</c:v>
                </c:pt>
                <c:pt idx="46">
                  <c:v>330</c:v>
                </c:pt>
                <c:pt idx="47">
                  <c:v>331</c:v>
                </c:pt>
                <c:pt idx="48">
                  <c:v>351</c:v>
                </c:pt>
                <c:pt idx="49">
                  <c:v>362</c:v>
                </c:pt>
                <c:pt idx="50">
                  <c:v>362</c:v>
                </c:pt>
                <c:pt idx="51">
                  <c:v>358</c:v>
                </c:pt>
                <c:pt idx="52">
                  <c:v>355</c:v>
                </c:pt>
                <c:pt idx="53">
                  <c:v>349</c:v>
                </c:pt>
                <c:pt idx="54">
                  <c:v>344</c:v>
                </c:pt>
                <c:pt idx="55">
                  <c:v>358</c:v>
                </c:pt>
                <c:pt idx="56">
                  <c:v>386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พยากรณ์</c:v>
                </c:pt>
              </c:strCache>
            </c:strRef>
          </c:tx>
          <c:spPr>
            <a:solidFill>
              <a:srgbClr val="7C3AED"/>
            </a:solidFill>
            <a:ln w="25400" cap="flat">
              <a:solidFill>
                <a:srgbClr val="7C3AED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Promp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7C3AED"/>
              </a:solidFill>
              <a:ln w="9525" cap="flat">
                <a:solidFill>
                  <a:srgbClr val="7C3AE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Sheet1!$A$2:$A$82</c:f>
              <c:multiLvlStrCache>
                <c:ptCount val="81"/>
                <c:lvl>
                  <c:pt idx="0">
                    <c:v>21/9 20:00</c:v>
                  </c:pt>
                  <c:pt idx="1">
                    <c:v>21/9 23:00</c:v>
                  </c:pt>
                  <c:pt idx="2">
                    <c:v>22/9 02:00</c:v>
                  </c:pt>
                  <c:pt idx="3">
                    <c:v>22/9 05:00</c:v>
                  </c:pt>
                  <c:pt idx="4">
                    <c:v>22/9 08:00</c:v>
                  </c:pt>
                  <c:pt idx="5">
                    <c:v>22/9 11:00</c:v>
                  </c:pt>
                  <c:pt idx="6">
                    <c:v>22/9 14:00</c:v>
                  </c:pt>
                  <c:pt idx="7">
                    <c:v>22/9 17:00</c:v>
                  </c:pt>
                  <c:pt idx="8">
                    <c:v>22/9 20:00</c:v>
                  </c:pt>
                  <c:pt idx="9">
                    <c:v>22/9 23:00</c:v>
                  </c:pt>
                  <c:pt idx="10">
                    <c:v>23/9 02:00</c:v>
                  </c:pt>
                  <c:pt idx="11">
                    <c:v>23/9 05:00</c:v>
                  </c:pt>
                  <c:pt idx="12">
                    <c:v>23/9 08:00</c:v>
                  </c:pt>
                  <c:pt idx="13">
                    <c:v>23/9 11:00</c:v>
                  </c:pt>
                  <c:pt idx="14">
                    <c:v>23/9 14:00</c:v>
                  </c:pt>
                  <c:pt idx="15">
                    <c:v>23/9 17:00</c:v>
                  </c:pt>
                  <c:pt idx="16">
                    <c:v>23/9 20:00</c:v>
                  </c:pt>
                  <c:pt idx="17">
                    <c:v>23/9 23:00</c:v>
                  </c:pt>
                  <c:pt idx="18">
                    <c:v>24/9 02:00</c:v>
                  </c:pt>
                  <c:pt idx="19">
                    <c:v>24/9 05:00</c:v>
                  </c:pt>
                  <c:pt idx="20">
                    <c:v>24/9 08:00</c:v>
                  </c:pt>
                  <c:pt idx="21">
                    <c:v>24/9 11:00</c:v>
                  </c:pt>
                  <c:pt idx="22">
                    <c:v>24/9 14:00</c:v>
                  </c:pt>
                  <c:pt idx="23">
                    <c:v>24/9 17:00</c:v>
                  </c:pt>
                  <c:pt idx="24">
                    <c:v>24/9 20:00</c:v>
                  </c:pt>
                  <c:pt idx="25">
                    <c:v>24/9 23:00</c:v>
                  </c:pt>
                  <c:pt idx="26">
                    <c:v>25/9 02:00</c:v>
                  </c:pt>
                  <c:pt idx="27">
                    <c:v>25/9 05:00</c:v>
                  </c:pt>
                  <c:pt idx="28">
                    <c:v>25/9 08:00</c:v>
                  </c:pt>
                  <c:pt idx="29">
                    <c:v>25/9 11:00</c:v>
                  </c:pt>
                  <c:pt idx="30">
                    <c:v>25/9 14:00</c:v>
                  </c:pt>
                  <c:pt idx="31">
                    <c:v>25/9 17:00</c:v>
                  </c:pt>
                  <c:pt idx="32">
                    <c:v>25/9 20:00</c:v>
                  </c:pt>
                  <c:pt idx="33">
                    <c:v>25/9 23:00</c:v>
                  </c:pt>
                  <c:pt idx="34">
                    <c:v>26/9 02:00</c:v>
                  </c:pt>
                  <c:pt idx="35">
                    <c:v>26/9 05:00</c:v>
                  </c:pt>
                  <c:pt idx="36">
                    <c:v>26/9 08:00</c:v>
                  </c:pt>
                  <c:pt idx="37">
                    <c:v>26/9 11:00</c:v>
                  </c:pt>
                  <c:pt idx="38">
                    <c:v>26/9 14:00</c:v>
                  </c:pt>
                  <c:pt idx="39">
                    <c:v>26/9 17:00</c:v>
                  </c:pt>
                  <c:pt idx="40">
                    <c:v>26/9 20:00</c:v>
                  </c:pt>
                  <c:pt idx="41">
                    <c:v>26/9 23:00</c:v>
                  </c:pt>
                  <c:pt idx="42">
                    <c:v>27/9 02:00</c:v>
                  </c:pt>
                  <c:pt idx="43">
                    <c:v>27/9 05:00</c:v>
                  </c:pt>
                  <c:pt idx="44">
                    <c:v>27/9 08:00</c:v>
                  </c:pt>
                  <c:pt idx="45">
                    <c:v>27/9 11:00</c:v>
                  </c:pt>
                  <c:pt idx="46">
                    <c:v>27/9 14:00</c:v>
                  </c:pt>
                  <c:pt idx="47">
                    <c:v>27/9 17:00</c:v>
                  </c:pt>
                  <c:pt idx="48">
                    <c:v>27/9 20:00</c:v>
                  </c:pt>
                  <c:pt idx="49">
                    <c:v>27/9 23:00</c:v>
                  </c:pt>
                  <c:pt idx="50">
                    <c:v>28/9 02:00</c:v>
                  </c:pt>
                  <c:pt idx="51">
                    <c:v>28/9 05:00</c:v>
                  </c:pt>
                  <c:pt idx="52">
                    <c:v>28/9 08:00</c:v>
                  </c:pt>
                  <c:pt idx="53">
                    <c:v>28/9 11:00</c:v>
                  </c:pt>
                  <c:pt idx="54">
                    <c:v>28/9 14:00</c:v>
                  </c:pt>
                  <c:pt idx="55">
                    <c:v>28/9 17:00</c:v>
                  </c:pt>
                  <c:pt idx="56">
                    <c:v>28/9 20:00</c:v>
                  </c:pt>
                  <c:pt idx="57">
                    <c:v>28/9 23:00</c:v>
                  </c:pt>
                  <c:pt idx="58">
                    <c:v>29/9 02:00</c:v>
                  </c:pt>
                  <c:pt idx="59">
                    <c:v>29/9 05:00</c:v>
                  </c:pt>
                  <c:pt idx="60">
                    <c:v>29/9 08:00</c:v>
                  </c:pt>
                  <c:pt idx="61">
                    <c:v>29/9 11:00</c:v>
                  </c:pt>
                  <c:pt idx="62">
                    <c:v>29/9 14:00</c:v>
                  </c:pt>
                  <c:pt idx="63">
                    <c:v>29/9 17:00</c:v>
                  </c:pt>
                  <c:pt idx="64">
                    <c:v>29/9 20:00</c:v>
                  </c:pt>
                  <c:pt idx="65">
                    <c:v>29/9 23:00</c:v>
                  </c:pt>
                  <c:pt idx="66">
                    <c:v>30/9 02:00</c:v>
                  </c:pt>
                  <c:pt idx="67">
                    <c:v>30/9 05:00</c:v>
                  </c:pt>
                  <c:pt idx="68">
                    <c:v>30/9 08:00</c:v>
                  </c:pt>
                  <c:pt idx="69">
                    <c:v>30/9 11:00</c:v>
                  </c:pt>
                  <c:pt idx="70">
                    <c:v>30/9 14:00</c:v>
                  </c:pt>
                  <c:pt idx="71">
                    <c:v>30/9 17:00</c:v>
                  </c:pt>
                  <c:pt idx="72">
                    <c:v>30/9 20:00</c:v>
                  </c:pt>
                  <c:pt idx="73">
                    <c:v>30/9 23:00</c:v>
                  </c:pt>
                  <c:pt idx="74">
                    <c:v>1/10 02:00</c:v>
                  </c:pt>
                  <c:pt idx="75">
                    <c:v>1/10 05:00</c:v>
                  </c:pt>
                  <c:pt idx="76">
                    <c:v>1/10 08:00</c:v>
                  </c:pt>
                  <c:pt idx="77">
                    <c:v>1/10 11:00</c:v>
                  </c:pt>
                  <c:pt idx="78">
                    <c:v>1/10 14:00</c:v>
                  </c:pt>
                  <c:pt idx="79">
                    <c:v>1/10 17:00</c:v>
                  </c:pt>
                  <c:pt idx="80">
                    <c:v>1/10 20:00</c:v>
                  </c:pt>
                </c:lvl>
              </c:multiLvlStrCache>
            </c:multiLvlStrRef>
          </c:cat>
          <c:val>
            <c:numRef>
              <c:f>Sheet1!$C$2:$C$82</c:f>
              <c:numCache>
                <c:formatCode>General</c:formatCode>
                <c:ptCount val="81"/>
                <c:pt idx="56">
                  <c:v>386</c:v>
                </c:pt>
                <c:pt idx="57">
                  <c:v>404</c:v>
                </c:pt>
                <c:pt idx="58">
                  <c:v>418</c:v>
                </c:pt>
                <c:pt idx="59">
                  <c:v>429</c:v>
                </c:pt>
                <c:pt idx="60">
                  <c:v>437</c:v>
                </c:pt>
                <c:pt idx="61">
                  <c:v>398</c:v>
                </c:pt>
                <c:pt idx="62">
                  <c:v>362</c:v>
                </c:pt>
                <c:pt idx="63">
                  <c:v>329</c:v>
                </c:pt>
                <c:pt idx="64">
                  <c:v>300</c:v>
                </c:pt>
                <c:pt idx="65">
                  <c:v>273</c:v>
                </c:pt>
                <c:pt idx="66">
                  <c:v>249</c:v>
                </c:pt>
                <c:pt idx="67">
                  <c:v>226</c:v>
                </c:pt>
                <c:pt idx="68">
                  <c:v>206</c:v>
                </c:pt>
                <c:pt idx="69">
                  <c:v>188</c:v>
                </c:pt>
                <c:pt idx="70">
                  <c:v>172</c:v>
                </c:pt>
                <c:pt idx="71">
                  <c:v>157</c:v>
                </c:pt>
                <c:pt idx="72">
                  <c:v>143</c:v>
                </c:pt>
                <c:pt idx="73">
                  <c:v>131</c:v>
                </c:pt>
                <c:pt idx="74">
                  <c:v>119</c:v>
                </c:pt>
                <c:pt idx="75">
                  <c:v>109</c:v>
                </c:pt>
                <c:pt idx="76">
                  <c:v>100</c:v>
                </c:pt>
                <c:pt idx="77">
                  <c:v>91</c:v>
                </c:pt>
                <c:pt idx="78">
                  <c:v>84</c:v>
                </c:pt>
                <c:pt idx="79">
                  <c:v>77</c:v>
                </c:pt>
                <c:pt idx="80">
                  <c:v>71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ความจุลำน้ำ</c:v>
                </c:pt>
              </c:strCache>
            </c:strRef>
          </c:tx>
          <c:spPr>
            <a:solidFill>
              <a:srgbClr val="D64545"/>
            </a:solidFill>
            <a:ln w="25400" cap="flat">
              <a:solidFill>
                <a:srgbClr val="D6454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Promp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D64545"/>
              </a:solidFill>
              <a:ln w="9525" cap="flat">
                <a:solidFill>
                  <a:srgbClr val="D6454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Sheet1!$A$2:$A$82</c:f>
              <c:multiLvlStrCache>
                <c:ptCount val="81"/>
                <c:lvl>
                  <c:pt idx="0">
                    <c:v>21/9 20:00</c:v>
                  </c:pt>
                  <c:pt idx="1">
                    <c:v>21/9 23:00</c:v>
                  </c:pt>
                  <c:pt idx="2">
                    <c:v>22/9 02:00</c:v>
                  </c:pt>
                  <c:pt idx="3">
                    <c:v>22/9 05:00</c:v>
                  </c:pt>
                  <c:pt idx="4">
                    <c:v>22/9 08:00</c:v>
                  </c:pt>
                  <c:pt idx="5">
                    <c:v>22/9 11:00</c:v>
                  </c:pt>
                  <c:pt idx="6">
                    <c:v>22/9 14:00</c:v>
                  </c:pt>
                  <c:pt idx="7">
                    <c:v>22/9 17:00</c:v>
                  </c:pt>
                  <c:pt idx="8">
                    <c:v>22/9 20:00</c:v>
                  </c:pt>
                  <c:pt idx="9">
                    <c:v>22/9 23:00</c:v>
                  </c:pt>
                  <c:pt idx="10">
                    <c:v>23/9 02:00</c:v>
                  </c:pt>
                  <c:pt idx="11">
                    <c:v>23/9 05:00</c:v>
                  </c:pt>
                  <c:pt idx="12">
                    <c:v>23/9 08:00</c:v>
                  </c:pt>
                  <c:pt idx="13">
                    <c:v>23/9 11:00</c:v>
                  </c:pt>
                  <c:pt idx="14">
                    <c:v>23/9 14:00</c:v>
                  </c:pt>
                  <c:pt idx="15">
                    <c:v>23/9 17:00</c:v>
                  </c:pt>
                  <c:pt idx="16">
                    <c:v>23/9 20:00</c:v>
                  </c:pt>
                  <c:pt idx="17">
                    <c:v>23/9 23:00</c:v>
                  </c:pt>
                  <c:pt idx="18">
                    <c:v>24/9 02:00</c:v>
                  </c:pt>
                  <c:pt idx="19">
                    <c:v>24/9 05:00</c:v>
                  </c:pt>
                  <c:pt idx="20">
                    <c:v>24/9 08:00</c:v>
                  </c:pt>
                  <c:pt idx="21">
                    <c:v>24/9 11:00</c:v>
                  </c:pt>
                  <c:pt idx="22">
                    <c:v>24/9 14:00</c:v>
                  </c:pt>
                  <c:pt idx="23">
                    <c:v>24/9 17:00</c:v>
                  </c:pt>
                  <c:pt idx="24">
                    <c:v>24/9 20:00</c:v>
                  </c:pt>
                  <c:pt idx="25">
                    <c:v>24/9 23:00</c:v>
                  </c:pt>
                  <c:pt idx="26">
                    <c:v>25/9 02:00</c:v>
                  </c:pt>
                  <c:pt idx="27">
                    <c:v>25/9 05:00</c:v>
                  </c:pt>
                  <c:pt idx="28">
                    <c:v>25/9 08:00</c:v>
                  </c:pt>
                  <c:pt idx="29">
                    <c:v>25/9 11:00</c:v>
                  </c:pt>
                  <c:pt idx="30">
                    <c:v>25/9 14:00</c:v>
                  </c:pt>
                  <c:pt idx="31">
                    <c:v>25/9 17:00</c:v>
                  </c:pt>
                  <c:pt idx="32">
                    <c:v>25/9 20:00</c:v>
                  </c:pt>
                  <c:pt idx="33">
                    <c:v>25/9 23:00</c:v>
                  </c:pt>
                  <c:pt idx="34">
                    <c:v>26/9 02:00</c:v>
                  </c:pt>
                  <c:pt idx="35">
                    <c:v>26/9 05:00</c:v>
                  </c:pt>
                  <c:pt idx="36">
                    <c:v>26/9 08:00</c:v>
                  </c:pt>
                  <c:pt idx="37">
                    <c:v>26/9 11:00</c:v>
                  </c:pt>
                  <c:pt idx="38">
                    <c:v>26/9 14:00</c:v>
                  </c:pt>
                  <c:pt idx="39">
                    <c:v>26/9 17:00</c:v>
                  </c:pt>
                  <c:pt idx="40">
                    <c:v>26/9 20:00</c:v>
                  </c:pt>
                  <c:pt idx="41">
                    <c:v>26/9 23:00</c:v>
                  </c:pt>
                  <c:pt idx="42">
                    <c:v>27/9 02:00</c:v>
                  </c:pt>
                  <c:pt idx="43">
                    <c:v>27/9 05:00</c:v>
                  </c:pt>
                  <c:pt idx="44">
                    <c:v>27/9 08:00</c:v>
                  </c:pt>
                  <c:pt idx="45">
                    <c:v>27/9 11:00</c:v>
                  </c:pt>
                  <c:pt idx="46">
                    <c:v>27/9 14:00</c:v>
                  </c:pt>
                  <c:pt idx="47">
                    <c:v>27/9 17:00</c:v>
                  </c:pt>
                  <c:pt idx="48">
                    <c:v>27/9 20:00</c:v>
                  </c:pt>
                  <c:pt idx="49">
                    <c:v>27/9 23:00</c:v>
                  </c:pt>
                  <c:pt idx="50">
                    <c:v>28/9 02:00</c:v>
                  </c:pt>
                  <c:pt idx="51">
                    <c:v>28/9 05:00</c:v>
                  </c:pt>
                  <c:pt idx="52">
                    <c:v>28/9 08:00</c:v>
                  </c:pt>
                  <c:pt idx="53">
                    <c:v>28/9 11:00</c:v>
                  </c:pt>
                  <c:pt idx="54">
                    <c:v>28/9 14:00</c:v>
                  </c:pt>
                  <c:pt idx="55">
                    <c:v>28/9 17:00</c:v>
                  </c:pt>
                  <c:pt idx="56">
                    <c:v>28/9 20:00</c:v>
                  </c:pt>
                  <c:pt idx="57">
                    <c:v>28/9 23:00</c:v>
                  </c:pt>
                  <c:pt idx="58">
                    <c:v>29/9 02:00</c:v>
                  </c:pt>
                  <c:pt idx="59">
                    <c:v>29/9 05:00</c:v>
                  </c:pt>
                  <c:pt idx="60">
                    <c:v>29/9 08:00</c:v>
                  </c:pt>
                  <c:pt idx="61">
                    <c:v>29/9 11:00</c:v>
                  </c:pt>
                  <c:pt idx="62">
                    <c:v>29/9 14:00</c:v>
                  </c:pt>
                  <c:pt idx="63">
                    <c:v>29/9 17:00</c:v>
                  </c:pt>
                  <c:pt idx="64">
                    <c:v>29/9 20:00</c:v>
                  </c:pt>
                  <c:pt idx="65">
                    <c:v>29/9 23:00</c:v>
                  </c:pt>
                  <c:pt idx="66">
                    <c:v>30/9 02:00</c:v>
                  </c:pt>
                  <c:pt idx="67">
                    <c:v>30/9 05:00</c:v>
                  </c:pt>
                  <c:pt idx="68">
                    <c:v>30/9 08:00</c:v>
                  </c:pt>
                  <c:pt idx="69">
                    <c:v>30/9 11:00</c:v>
                  </c:pt>
                  <c:pt idx="70">
                    <c:v>30/9 14:00</c:v>
                  </c:pt>
                  <c:pt idx="71">
                    <c:v>30/9 17:00</c:v>
                  </c:pt>
                  <c:pt idx="72">
                    <c:v>30/9 20:00</c:v>
                  </c:pt>
                  <c:pt idx="73">
                    <c:v>30/9 23:00</c:v>
                  </c:pt>
                  <c:pt idx="74">
                    <c:v>1/10 02:00</c:v>
                  </c:pt>
                  <c:pt idx="75">
                    <c:v>1/10 05:00</c:v>
                  </c:pt>
                  <c:pt idx="76">
                    <c:v>1/10 08:00</c:v>
                  </c:pt>
                  <c:pt idx="77">
                    <c:v>1/10 11:00</c:v>
                  </c:pt>
                  <c:pt idx="78">
                    <c:v>1/10 14:00</c:v>
                  </c:pt>
                  <c:pt idx="79">
                    <c:v>1/10 17:00</c:v>
                  </c:pt>
                  <c:pt idx="80">
                    <c:v>1/10 20:00</c:v>
                  </c:pt>
                </c:lvl>
              </c:multiLvlStrCache>
            </c:multiLvlStrRef>
          </c:cat>
          <c:val>
            <c:numRef>
              <c:f>Sheet1!$D$2:$D$82</c:f>
              <c:numCache>
                <c:formatCode>General</c:formatCode>
                <c:ptCount val="81"/>
                <c:pt idx="0">
                  <c:v>232</c:v>
                </c:pt>
                <c:pt idx="1">
                  <c:v>232</c:v>
                </c:pt>
                <c:pt idx="2">
                  <c:v>232</c:v>
                </c:pt>
                <c:pt idx="3">
                  <c:v>232</c:v>
                </c:pt>
                <c:pt idx="4">
                  <c:v>232</c:v>
                </c:pt>
                <c:pt idx="5">
                  <c:v>232</c:v>
                </c:pt>
                <c:pt idx="6">
                  <c:v>232</c:v>
                </c:pt>
                <c:pt idx="7">
                  <c:v>232</c:v>
                </c:pt>
                <c:pt idx="8">
                  <c:v>232</c:v>
                </c:pt>
                <c:pt idx="9">
                  <c:v>232</c:v>
                </c:pt>
                <c:pt idx="10">
                  <c:v>232</c:v>
                </c:pt>
                <c:pt idx="11">
                  <c:v>232</c:v>
                </c:pt>
                <c:pt idx="12">
                  <c:v>232</c:v>
                </c:pt>
                <c:pt idx="13">
                  <c:v>232</c:v>
                </c:pt>
                <c:pt idx="14">
                  <c:v>232</c:v>
                </c:pt>
                <c:pt idx="15">
                  <c:v>232</c:v>
                </c:pt>
                <c:pt idx="16">
                  <c:v>232</c:v>
                </c:pt>
                <c:pt idx="17">
                  <c:v>232</c:v>
                </c:pt>
                <c:pt idx="18">
                  <c:v>232</c:v>
                </c:pt>
                <c:pt idx="19">
                  <c:v>232</c:v>
                </c:pt>
                <c:pt idx="20">
                  <c:v>232</c:v>
                </c:pt>
                <c:pt idx="21">
                  <c:v>232</c:v>
                </c:pt>
                <c:pt idx="22">
                  <c:v>232</c:v>
                </c:pt>
                <c:pt idx="23">
                  <c:v>232</c:v>
                </c:pt>
                <c:pt idx="24">
                  <c:v>232</c:v>
                </c:pt>
                <c:pt idx="25">
                  <c:v>232</c:v>
                </c:pt>
                <c:pt idx="26">
                  <c:v>232</c:v>
                </c:pt>
                <c:pt idx="27">
                  <c:v>232</c:v>
                </c:pt>
                <c:pt idx="28">
                  <c:v>232</c:v>
                </c:pt>
                <c:pt idx="29">
                  <c:v>232</c:v>
                </c:pt>
                <c:pt idx="30">
                  <c:v>232</c:v>
                </c:pt>
                <c:pt idx="31">
                  <c:v>232</c:v>
                </c:pt>
                <c:pt idx="32">
                  <c:v>232</c:v>
                </c:pt>
                <c:pt idx="33">
                  <c:v>232</c:v>
                </c:pt>
                <c:pt idx="34">
                  <c:v>232</c:v>
                </c:pt>
                <c:pt idx="35">
                  <c:v>232</c:v>
                </c:pt>
                <c:pt idx="36">
                  <c:v>232</c:v>
                </c:pt>
                <c:pt idx="37">
                  <c:v>232</c:v>
                </c:pt>
                <c:pt idx="38">
                  <c:v>232</c:v>
                </c:pt>
                <c:pt idx="39">
                  <c:v>232</c:v>
                </c:pt>
                <c:pt idx="40">
                  <c:v>232</c:v>
                </c:pt>
                <c:pt idx="41">
                  <c:v>232</c:v>
                </c:pt>
                <c:pt idx="42">
                  <c:v>232</c:v>
                </c:pt>
                <c:pt idx="43">
                  <c:v>232</c:v>
                </c:pt>
                <c:pt idx="44">
                  <c:v>232</c:v>
                </c:pt>
                <c:pt idx="45">
                  <c:v>232</c:v>
                </c:pt>
                <c:pt idx="46">
                  <c:v>232</c:v>
                </c:pt>
                <c:pt idx="47">
                  <c:v>232</c:v>
                </c:pt>
                <c:pt idx="48">
                  <c:v>232</c:v>
                </c:pt>
                <c:pt idx="49">
                  <c:v>232</c:v>
                </c:pt>
                <c:pt idx="50">
                  <c:v>232</c:v>
                </c:pt>
                <c:pt idx="51">
                  <c:v>232</c:v>
                </c:pt>
                <c:pt idx="52">
                  <c:v>232</c:v>
                </c:pt>
                <c:pt idx="53">
                  <c:v>232</c:v>
                </c:pt>
                <c:pt idx="54">
                  <c:v>232</c:v>
                </c:pt>
                <c:pt idx="55">
                  <c:v>232</c:v>
                </c:pt>
                <c:pt idx="56">
                  <c:v>232</c:v>
                </c:pt>
                <c:pt idx="57">
                  <c:v>232</c:v>
                </c:pt>
                <c:pt idx="58">
                  <c:v>232</c:v>
                </c:pt>
                <c:pt idx="59">
                  <c:v>232</c:v>
                </c:pt>
                <c:pt idx="60">
                  <c:v>232</c:v>
                </c:pt>
                <c:pt idx="61">
                  <c:v>232</c:v>
                </c:pt>
                <c:pt idx="62">
                  <c:v>232</c:v>
                </c:pt>
                <c:pt idx="63">
                  <c:v>232</c:v>
                </c:pt>
                <c:pt idx="64">
                  <c:v>232</c:v>
                </c:pt>
                <c:pt idx="65">
                  <c:v>232</c:v>
                </c:pt>
                <c:pt idx="66">
                  <c:v>232</c:v>
                </c:pt>
                <c:pt idx="67">
                  <c:v>232</c:v>
                </c:pt>
                <c:pt idx="68">
                  <c:v>232</c:v>
                </c:pt>
                <c:pt idx="69">
                  <c:v>232</c:v>
                </c:pt>
                <c:pt idx="70">
                  <c:v>232</c:v>
                </c:pt>
                <c:pt idx="71">
                  <c:v>232</c:v>
                </c:pt>
                <c:pt idx="72">
                  <c:v>232</c:v>
                </c:pt>
                <c:pt idx="73">
                  <c:v>232</c:v>
                </c:pt>
                <c:pt idx="74">
                  <c:v>232</c:v>
                </c:pt>
                <c:pt idx="75">
                  <c:v>232</c:v>
                </c:pt>
                <c:pt idx="76">
                  <c:v>232</c:v>
                </c:pt>
                <c:pt idx="77">
                  <c:v>232</c:v>
                </c:pt>
                <c:pt idx="78">
                  <c:v>232</c:v>
                </c:pt>
                <c:pt idx="79">
                  <c:v>232</c:v>
                </c:pt>
                <c:pt idx="80">
                  <c:v>232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Promp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475569"/>
                </a:solidFill>
                <a:latin typeface="Promp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8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000" b="0" i="0" u="none" strike="noStrike">
                    <a:solidFill>
                      <a:srgbClr val="64748B"/>
                    </a:solidFill>
                    <a:latin typeface="Prompt"/>
                  </a:defRPr>
                </a:pPr>
                <a:r>
                  <a:rPr sz="1000" b="0" i="0" u="none" strike="noStrike">
                    <a:solidFill>
                      <a:srgbClr val="64748B"/>
                    </a:solidFill>
                    <a:latin typeface="Prompt"/>
                  </a:rPr>
                  <a:t>ลบ.ม./วิ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4748B"/>
                </a:solidFill>
                <a:latin typeface="Promp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latin typeface="Prompt"/>
              <a:cs typeface="Promp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0B3C5D"/>
                </a:solidFill>
                <a:latin typeface="Prompt"/>
              </a:defRPr>
            </a:pPr>
            <a:r>
              <a:rPr sz="1300" b="0" i="0" u="none" strike="noStrike">
                <a:solidFill>
                  <a:srgbClr val="0B3C5D"/>
                </a:solidFill>
                <a:latin typeface="Prompt"/>
              </a:rPr>
              <a:t>คะแนนความคลาดเคลื่อนเทียบแบบจำลอง 2D (ต่ำ = ดี)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คะแนน</c:v>
                </c:pt>
              </c:strCache>
            </c:strRef>
          </c:tx>
          <c:spPr>
            <a:solidFill>
              <a:srgbClr val="A3B3C2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E293B"/>
                    </a:solidFill>
                    <a:latin typeface="Promp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A3B3C2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8FD3E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0B3C5D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ค่าเริ่มต้น</c:v>
                  </c:pt>
                  <c:pt idx="1">
                    <c:v>รอบ 1</c:v>
                  </c:pt>
                  <c:pt idx="2">
                    <c:v>รอบ 2 (ใช้งาน)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0.8571</c:v>
                </c:pt>
                <c:pt idx="1">
                  <c:v>0.6443</c:v>
                </c:pt>
                <c:pt idx="2">
                  <c:v>0.4887</c:v>
                </c:pt>
              </c:numCache>
            </c:numRef>
          </c:val>
        </c:ser>
        <c:dLbls>
          <c:numFmt formatCode="0.000" sourceLinked="0"/>
          <c:txPr>
            <a:bodyPr/>
            <a:lstStyle/>
            <a:p>
              <a:pPr>
                <a:defRPr b="0" i="0" strike="noStrike" sz="1200" u="none">
                  <a:solidFill>
                    <a:srgbClr val="1E293B"/>
                  </a:solidFill>
                  <a:latin typeface="Promp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475569"/>
                </a:solidFill>
                <a:latin typeface="Promp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"/>
          <c:min val="0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4748B"/>
                </a:solidFill>
                <a:latin typeface="Promp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เปิดด้วยภาพรวม: ระบบนี้ติดตามพื้นที่น้ำท่วมขังทั้งจังหวัดนครสวรรค์ อัปเดตทุกชั่วโมง ใช้ ArcGIS Pro วิเคราะห์ภูมิประเทศ และเผยแพร่เป็นเว็บแอปสาธารณะ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เน้นว่าระบบไม่ได้บอกแค่ว่าท่วมที่ไหน แต่บอกความลึก ระยะเวลา และสาเหตุ ซึ่งช่วยจัดลำดับการช่วยเหลือและการสูบน้ำ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ตัวเลขทั้งหมดเป็นผลแบบจำลองรอบ 20:57 น. วันที่ 28 ก.ย. 2569 พื้นที่คิดตามสัดส่วนพื้นที่ท่วมจริงใน hex ไม่ได้นับทั้ง hex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4748B"/>
                </a:solidFill>
                <a:latin typeface="Prompt"/>
                <a:ea typeface="Prompt"/>
                <a:cs typeface="Prompt"/>
              </a:defRPr>
            </a:lvl1pPr>
          </a:lstStyle>
          <a:p>
            <a:pPr algn="r"/>
            <a:fld id="{F7021451-1387-4CA6-816F-3879F97B5CBC}" type="slidenum">
              <a:rPr b="0" lang="en-US"/>
              <a:t>1000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4748B"/>
                </a:solidFill>
                <a:latin typeface="Prompt"/>
                <a:ea typeface="Prompt"/>
                <a:cs typeface="Prompt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82A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40080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8FD3E8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NAKHON SAWAN FLOOD WATCH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88720"/>
            <a:ext cx="603504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ระบบติดตามน้ำท่วมขัง</a:t>
            </a:r>
            <a:endParaRPr lang="en-US" sz="3200" dirty="0"/>
          </a:p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จังหวัดนครสวรรค์</a:t>
            </a:r>
            <a:endParaRPr lang="en-US" sz="3200" dirty="0"/>
          </a:p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แบบ Near-realtime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657600"/>
            <a:ext cx="5852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CFE3EE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สรุปผลการพัฒนา วิธีวิเคราะห์ ผลลัพธ์ และข้อจำกัด</a:t>
            </a:r>
            <a:endParaRPr lang="en-US" sz="17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5852160"/>
            <a:ext cx="5852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9CC3D5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สำหรับผู้บริหารและทีมเทคนิค · ข้อมูล ณ 28 ก.ย. 2569 เวลา 20:57 น.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848856" y="768096"/>
            <a:ext cx="4864608" cy="5321808"/>
          </a:xfrm>
          <a:prstGeom prst="roundRect">
            <a:avLst>
              <a:gd name="adj" fmla="val 1504"/>
            </a:avLst>
          </a:prstGeom>
          <a:solidFill>
            <a:srgbClr val="FFFFFF"/>
          </a:solidFill>
          <a:ln w="9525">
            <a:solidFill>
              <a:srgbClr val="D5DE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7" name="Image 0" descr="/home/claude/rpt/img/crop_durmap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903720" y="822960"/>
            <a:ext cx="4754880" cy="521208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1B998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เป้าหมาย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3C5D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ระบบตอบ 4 คำถามสำคัญของการเฝ้าระวังน้ำท่วมขัง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2633472" cy="2743200"/>
          </a:xfrm>
          <a:prstGeom prst="roundRect">
            <a:avLst>
              <a:gd name="adj" fmla="val 3472"/>
            </a:avLst>
          </a:prstGeom>
          <a:solidFill>
            <a:srgbClr val="EEF5F9"/>
          </a:solidFill>
          <a:ln w="9525">
            <a:solidFill>
              <a:srgbClr val="EEF5F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49808" y="1783080"/>
            <a:ext cx="384048" cy="384048"/>
          </a:xfrm>
          <a:prstGeom prst="ellipse">
            <a:avLst/>
          </a:prstGeom>
          <a:solidFill>
            <a:srgbClr val="1B998B"/>
          </a:solidFill>
          <a:ln w="12700">
            <a:solidFill>
              <a:srgbClr val="1B998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49808" y="1783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261872" y="1764792"/>
            <a:ext cx="1737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3C5D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ท่วมที่ไหน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749808" y="2295144"/>
            <a:ext cx="2231136" cy="1911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spcAft>
                <a:spcPts val="400"/>
              </a:spcAft>
              <a:buNone/>
            </a:pPr>
            <a:r>
              <a:rPr lang="en-US" sz="1500" dirty="0">
                <a:solidFill>
                  <a:srgbClr val="1E293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แผนที่ hex 1 ตร.กม. ครอบคลุมทั้งจังหวัด 9,721 hex และภาพ 2D ละเอียด 120 ม. ใน 3 จุดวิกฤต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3364992" y="1600200"/>
            <a:ext cx="2633472" cy="2743200"/>
          </a:xfrm>
          <a:prstGeom prst="roundRect">
            <a:avLst>
              <a:gd name="adj" fmla="val 3472"/>
            </a:avLst>
          </a:prstGeom>
          <a:solidFill>
            <a:srgbClr val="EEF5F9"/>
          </a:solidFill>
          <a:ln w="9525">
            <a:solidFill>
              <a:srgbClr val="EEF5F9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566160" y="1783080"/>
            <a:ext cx="384048" cy="384048"/>
          </a:xfrm>
          <a:prstGeom prst="ellipse">
            <a:avLst/>
          </a:prstGeom>
          <a:solidFill>
            <a:srgbClr val="1B998B"/>
          </a:solidFill>
          <a:ln w="12700">
            <a:solidFill>
              <a:srgbClr val="1B998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566160" y="1783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4078224" y="1764792"/>
            <a:ext cx="1737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3C5D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ลึกเท่าไร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3566160" y="2295144"/>
            <a:ext cx="2231136" cy="1911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spcAft>
                <a:spcPts val="400"/>
              </a:spcAft>
              <a:buNone/>
            </a:pPr>
            <a:r>
              <a:rPr lang="en-US" sz="1500" dirty="0">
                <a:solidFill>
                  <a:srgbClr val="1E293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ความลึกน้ำ 5 ชั้น ตั้งแต่เฝ้าระวัง 10–25 ซม. จนถึงท่วมสูงมากกว่า 1 ม. พร้อมสัดส่วนพื้นที่ท่วมใน hex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6181344" y="1600200"/>
            <a:ext cx="2633472" cy="2743200"/>
          </a:xfrm>
          <a:prstGeom prst="roundRect">
            <a:avLst>
              <a:gd name="adj" fmla="val 3472"/>
            </a:avLst>
          </a:prstGeom>
          <a:solidFill>
            <a:srgbClr val="EEF5F9"/>
          </a:solidFill>
          <a:ln w="9525">
            <a:solidFill>
              <a:srgbClr val="EEF5F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382512" y="1783080"/>
            <a:ext cx="384048" cy="384048"/>
          </a:xfrm>
          <a:prstGeom prst="ellipse">
            <a:avLst/>
          </a:prstGeom>
          <a:solidFill>
            <a:srgbClr val="1B998B"/>
          </a:solidFill>
          <a:ln w="12700">
            <a:solidFill>
              <a:srgbClr val="1B998B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382512" y="1783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3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6894576" y="1764792"/>
            <a:ext cx="1737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3C5D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นานแค่ไหน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6382512" y="2295144"/>
            <a:ext cx="2231136" cy="1911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spcAft>
                <a:spcPts val="400"/>
              </a:spcAft>
              <a:buNone/>
            </a:pPr>
            <a:r>
              <a:rPr lang="en-US" sz="1500" dirty="0">
                <a:solidFill>
                  <a:srgbClr val="1E293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ท่วมมาแล้วกี่ชั่วโมง และคาดว่าจะลดต่ำกว่า 10 ซม. เมื่อไร ทั้งรายจุดและรายอำเภอ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8997696" y="1600200"/>
            <a:ext cx="2633472" cy="2743200"/>
          </a:xfrm>
          <a:prstGeom prst="roundRect">
            <a:avLst>
              <a:gd name="adj" fmla="val 3472"/>
            </a:avLst>
          </a:prstGeom>
          <a:solidFill>
            <a:srgbClr val="EEF5F9"/>
          </a:solidFill>
          <a:ln w="9525">
            <a:solidFill>
              <a:srgbClr val="EEF5F9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198864" y="1783080"/>
            <a:ext cx="384048" cy="384048"/>
          </a:xfrm>
          <a:prstGeom prst="ellipse">
            <a:avLst/>
          </a:prstGeom>
          <a:solidFill>
            <a:srgbClr val="1B998B"/>
          </a:solidFill>
          <a:ln w="12700">
            <a:solidFill>
              <a:srgbClr val="1B998B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9198864" y="1783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4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9710928" y="1764792"/>
            <a:ext cx="1737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3C5D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น้ำมาจากไหน</a:t>
            </a:r>
            <a:endParaRPr lang="en-US" sz="1800" dirty="0"/>
          </a:p>
        </p:txBody>
      </p:sp>
      <p:sp>
        <p:nvSpPr>
          <p:cNvPr id="23" name="Text 21"/>
          <p:cNvSpPr txBox="1"/>
          <p:nvPr/>
        </p:nvSpPr>
        <p:spPr>
          <a:xfrm>
            <a:off x="9198864" y="2295144"/>
            <a:ext cx="2231136" cy="1911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spcAft>
                <a:spcPts val="400"/>
              </a:spcAft>
              <a:buNone/>
            </a:pPr>
            <a:r>
              <a:rPr lang="en-US" sz="1500" dirty="0">
                <a:solidFill>
                  <a:srgbClr val="1E293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แยกน้ำฝนในพื้นที่กับน้ำล้นตลิ่ง และน้ำที่ไหลมาจากกำแพงเพชร พิจิตร พิษณุโลก เพชรบูรณ์</a:t>
            </a:r>
            <a:endParaRPr lang="en-US" sz="1500" dirty="0"/>
          </a:p>
        </p:txBody>
      </p:sp>
      <p:sp>
        <p:nvSpPr>
          <p:cNvPr id="24" name="Shape 22"/>
          <p:cNvSpPr/>
          <p:nvPr/>
        </p:nvSpPr>
        <p:spPr>
          <a:xfrm>
            <a:off x="548640" y="4663440"/>
            <a:ext cx="11094415" cy="1417320"/>
          </a:xfrm>
          <a:prstGeom prst="roundRect">
            <a:avLst>
              <a:gd name="adj" fmla="val 6452"/>
            </a:avLst>
          </a:prstGeom>
          <a:solidFill>
            <a:srgbClr val="E3F1EE"/>
          </a:solidFill>
          <a:ln w="9525">
            <a:solidFill>
              <a:srgbClr val="E3F1EE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749808" y="4828032"/>
            <a:ext cx="1071036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3C5D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อัปเดตอัตโนมัติทุก 1 ชั่วโมง · เปิดดูได้ทุกคนผ่านอินเทอร์เน็ต · ไม่มีค่าเซิร์ฟเวอร์</a:t>
            </a:r>
            <a:endParaRPr lang="en-US" sz="1600" dirty="0"/>
          </a:p>
        </p:txBody>
      </p:sp>
      <p:sp>
        <p:nvSpPr>
          <p:cNvPr id="26" name="Text 24"/>
          <p:cNvSpPr txBox="1"/>
          <p:nvPr/>
        </p:nvSpPr>
        <p:spPr>
          <a:xfrm>
            <a:off x="749808" y="5358384"/>
            <a:ext cx="10692079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spcAft>
                <a:spcPts val="400"/>
              </a:spcAft>
              <a:buNone/>
            </a:pPr>
            <a:r>
              <a:rPr lang="en-US" sz="1400" dirty="0">
                <a:solidFill>
                  <a:srgbClr val="1E293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ข้อมูลฝน/ระดับน้ำดึงจากหน่วยงานและแหล่งเปิด ประมวลผลบน GitHub Actions และแสดงบน GitHub Pages ส่วนงานวิเคราะห์ภูมิประเทศทำครั้งเดียวใน ArcGIS Pro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4748B"/>
                </a:solidFill>
                <a:latin typeface="Prompt"/>
                <a:ea typeface="Prompt"/>
                <a:cs typeface="Prompt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1B998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ข้อมูล ณ 28 ก.ย. 2569 เวลา 20:57 น.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3C5D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สถานการณ์ล่าสุด: พื้นที่ท่วมขังกระจุกที่ลาดยาวและแม่วงก์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3547872" cy="1508760"/>
          </a:xfrm>
          <a:prstGeom prst="roundRect">
            <a:avLst>
              <a:gd name="adj" fmla="val 6061"/>
            </a:avLst>
          </a:prstGeom>
          <a:solidFill>
            <a:srgbClr val="EEF5F9"/>
          </a:solidFill>
          <a:ln w="12700">
            <a:solidFill>
              <a:srgbClr val="EEF5F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1719072"/>
            <a:ext cx="3182112" cy="7543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D64545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59</a:t>
            </a:r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  ตร.กม.</a:t>
            </a:r>
            <a:endParaRPr lang="en-US" sz="36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399386"/>
            <a:ext cx="31821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E293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ท่วมขังลึกตั้งแต่ 25 ซม. ตอนนี้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4279392" y="1554480"/>
            <a:ext cx="3547872" cy="1508760"/>
          </a:xfrm>
          <a:prstGeom prst="roundRect">
            <a:avLst>
              <a:gd name="adj" fmla="val 6061"/>
            </a:avLst>
          </a:prstGeom>
          <a:solidFill>
            <a:srgbClr val="EEF5F9"/>
          </a:solidFill>
          <a:ln w="12700">
            <a:solidFill>
              <a:srgbClr val="EEF5F9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507992" y="1719072"/>
            <a:ext cx="3182112" cy="7543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B3C5D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83</a:t>
            </a:r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  ตร.กม.</a:t>
            </a:r>
            <a:endParaRPr lang="en-US" sz="3600" dirty="0"/>
          </a:p>
        </p:txBody>
      </p:sp>
      <p:sp>
        <p:nvSpPr>
          <p:cNvPr id="9" name="Text 7"/>
          <p:cNvSpPr txBox="1"/>
          <p:nvPr/>
        </p:nvSpPr>
        <p:spPr>
          <a:xfrm>
            <a:off x="4507992" y="2399386"/>
            <a:ext cx="31821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E293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ลึกตั้งแต่ 10 ซม. (รวมเฝ้าระวัง)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8010144" y="1554480"/>
            <a:ext cx="3547872" cy="1508760"/>
          </a:xfrm>
          <a:prstGeom prst="roundRect">
            <a:avLst>
              <a:gd name="adj" fmla="val 6061"/>
            </a:avLst>
          </a:prstGeom>
          <a:solidFill>
            <a:srgbClr val="EEF5F9"/>
          </a:solidFill>
          <a:ln w="12700">
            <a:solidFill>
              <a:srgbClr val="EEF5F9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238744" y="1719072"/>
            <a:ext cx="3182112" cy="7543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B3C5D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66</a:t>
            </a:r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  ตร.กม.</a:t>
            </a:r>
            <a:endParaRPr lang="en-US" sz="3600" dirty="0"/>
          </a:p>
        </p:txBody>
      </p:sp>
      <p:sp>
        <p:nvSpPr>
          <p:cNvPr id="12" name="Text 10"/>
          <p:cNvSpPr txBox="1"/>
          <p:nvPr/>
        </p:nvSpPr>
        <p:spPr>
          <a:xfrm>
            <a:off x="8238744" y="2399386"/>
            <a:ext cx="31821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E293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พื้นที่ท่วมขังสูงสุดที่คาดใน 72 ชม.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48640" y="3246120"/>
            <a:ext cx="3547872" cy="1508760"/>
          </a:xfrm>
          <a:prstGeom prst="roundRect">
            <a:avLst>
              <a:gd name="adj" fmla="val 6061"/>
            </a:avLst>
          </a:prstGeom>
          <a:solidFill>
            <a:srgbClr val="EEF5F9"/>
          </a:solidFill>
          <a:ln w="12700">
            <a:solidFill>
              <a:srgbClr val="EEF5F9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77240" y="3410712"/>
            <a:ext cx="3182112" cy="7543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B998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42 ชม.</a:t>
            </a:r>
            <a:pPr indent="0" marL="0">
              <a:buNone/>
            </a:pPr>
            <a:endParaRPr lang="en-US" sz="3600" dirty="0"/>
          </a:p>
        </p:txBody>
      </p:sp>
      <p:sp>
        <p:nvSpPr>
          <p:cNvPr id="15" name="Text 13"/>
          <p:cNvSpPr txBox="1"/>
          <p:nvPr/>
        </p:nvSpPr>
        <p:spPr>
          <a:xfrm>
            <a:off x="777240" y="4091026"/>
            <a:ext cx="31821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E293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ท่วมมาแล้ว (มัธยฐานถ่วงพื้นที่)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4279392" y="3246120"/>
            <a:ext cx="3547872" cy="1508760"/>
          </a:xfrm>
          <a:prstGeom prst="roundRect">
            <a:avLst>
              <a:gd name="adj" fmla="val 6061"/>
            </a:avLst>
          </a:prstGeom>
          <a:solidFill>
            <a:srgbClr val="EEF5F9"/>
          </a:solidFill>
          <a:ln w="12700">
            <a:solidFill>
              <a:srgbClr val="EEF5F9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507992" y="3410712"/>
            <a:ext cx="3182112" cy="7543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B998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37 ชม.</a:t>
            </a:r>
            <a:pPr indent="0" marL="0">
              <a:buNone/>
            </a:pPr>
            <a:endParaRPr lang="en-US" sz="3600" dirty="0"/>
          </a:p>
        </p:txBody>
      </p:sp>
      <p:sp>
        <p:nvSpPr>
          <p:cNvPr id="18" name="Text 16"/>
          <p:cNvSpPr txBox="1"/>
          <p:nvPr/>
        </p:nvSpPr>
        <p:spPr>
          <a:xfrm>
            <a:off x="4507992" y="4091026"/>
            <a:ext cx="31821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E293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คาดว่าน้ำจะลดใน (มัธยฐาน)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8010144" y="3246120"/>
            <a:ext cx="3547872" cy="1508760"/>
          </a:xfrm>
          <a:prstGeom prst="roundRect">
            <a:avLst>
              <a:gd name="adj" fmla="val 6061"/>
            </a:avLst>
          </a:prstGeom>
          <a:solidFill>
            <a:srgbClr val="EEF5F9"/>
          </a:solidFill>
          <a:ln w="12700">
            <a:solidFill>
              <a:srgbClr val="EEF5F9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38744" y="3410712"/>
            <a:ext cx="3182112" cy="7543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2A541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132</a:t>
            </a:r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  ล้าน ลบ.ม.</a:t>
            </a:r>
            <a:endParaRPr lang="en-US" sz="3600" dirty="0"/>
          </a:p>
        </p:txBody>
      </p:sp>
      <p:sp>
        <p:nvSpPr>
          <p:cNvPr id="21" name="Text 19"/>
          <p:cNvSpPr txBox="1"/>
          <p:nvPr/>
        </p:nvSpPr>
        <p:spPr>
          <a:xfrm>
            <a:off x="8238744" y="4091026"/>
            <a:ext cx="31821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E293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น้ำจาก 4 จังหวัดต้นน้ำเข้า นว. ใน 72 ชม.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548640" y="5074920"/>
            <a:ext cx="11094415" cy="1143000"/>
          </a:xfrm>
          <a:prstGeom prst="roundRect">
            <a:avLst>
              <a:gd name="adj" fmla="val 8000"/>
            </a:avLst>
          </a:prstGeom>
          <a:solidFill>
            <a:srgbClr val="FFF4E5"/>
          </a:solidFill>
          <a:ln w="9525">
            <a:solidFill>
              <a:srgbClr val="FFF4E5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749808" y="5239512"/>
            <a:ext cx="1071036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3C5D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ข้อสังเกต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749808" y="5769864"/>
            <a:ext cx="1069207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spcAft>
                <a:spcPts val="400"/>
              </a:spcAft>
              <a:buNone/>
            </a:pPr>
            <a:r>
              <a:rPr lang="en-US" sz="1300" dirty="0">
                <a:solidFill>
                  <a:srgbClr val="1E293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ลาดยาว แม่วงก์ และบรรพตพิสัย รวมกันเป็น 87% ของพื้นที่ลึกตั้งแต่ 10 ซม. · แม่น้ำแม่วงก์ที่สถานี Ct.5A ล้นตลิ่ง 1.11 ม. มาแล้ว 39 ชม. และยังขึ้นอยู่ · แม่น้ำปิง น่าน เจ้าพระยา ยังต่ำกว่าตลิ่ง 2–3 ม.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4748B"/>
                </a:solidFill>
                <a:latin typeface="Prompt"/>
                <a:ea typeface="Prompt"/>
                <a:cs typeface="Prompt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1B998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ผลิตภัณฑ์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3C5D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หน้าเว็บแอปที่ผู้ใช้เห็น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93776" y="1453896"/>
            <a:ext cx="7333488" cy="4626864"/>
          </a:xfrm>
          <a:prstGeom prst="roundRect">
            <a:avLst>
              <a:gd name="adj" fmla="val 1581"/>
            </a:avLst>
          </a:prstGeom>
          <a:solidFill>
            <a:srgbClr val="FFFFFF"/>
          </a:solidFill>
          <a:ln w="9525">
            <a:solidFill>
              <a:srgbClr val="D5DE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/home/claude/rpt/img/app_du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508760"/>
            <a:ext cx="7223760" cy="4517136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8183880" y="1600200"/>
            <a:ext cx="365760" cy="365760"/>
          </a:xfrm>
          <a:prstGeom prst="ellipse">
            <a:avLst/>
          </a:prstGeom>
          <a:solidFill>
            <a:srgbClr val="1B998B"/>
          </a:solidFill>
          <a:ln w="12700">
            <a:solidFill>
              <a:srgbClr val="1B998B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183880" y="16002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8686800" y="1572768"/>
            <a:ext cx="2971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0B3C5D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แผนที่ความลึก 5 ชั้น</a:t>
            </a:r>
            <a:endParaRPr lang="en-US" sz="1450" dirty="0"/>
          </a:p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เลื่อนดูย้อนหลัง 7 วันถึงพยากรณ์ +72 ชม.</a:t>
            </a:r>
            <a:endParaRPr lang="en-US" sz="1450" dirty="0"/>
          </a:p>
        </p:txBody>
      </p:sp>
      <p:sp>
        <p:nvSpPr>
          <p:cNvPr id="9" name="Shape 6"/>
          <p:cNvSpPr/>
          <p:nvPr/>
        </p:nvSpPr>
        <p:spPr>
          <a:xfrm>
            <a:off x="8183880" y="2496312"/>
            <a:ext cx="365760" cy="365760"/>
          </a:xfrm>
          <a:prstGeom prst="ellipse">
            <a:avLst/>
          </a:prstGeom>
          <a:solidFill>
            <a:srgbClr val="1B998B"/>
          </a:solidFill>
          <a:ln w="12700">
            <a:solidFill>
              <a:srgbClr val="1B998B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8183880" y="24963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2</a:t>
            </a:r>
            <a:endParaRPr lang="en-US" sz="1300" dirty="0"/>
          </a:p>
        </p:txBody>
      </p:sp>
      <p:sp>
        <p:nvSpPr>
          <p:cNvPr id="11" name="Text 8"/>
          <p:cNvSpPr txBox="1"/>
          <p:nvPr/>
        </p:nvSpPr>
        <p:spPr>
          <a:xfrm>
            <a:off x="8686800" y="2468880"/>
            <a:ext cx="2971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0B3C5D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โหมดระยะเวลาท่วม</a:t>
            </a:r>
            <a:endParaRPr lang="en-US" sz="1450" dirty="0"/>
          </a:p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ท่วมมาแล้ว + คาดการณ์ ราย hex</a:t>
            </a:r>
            <a:endParaRPr lang="en-US" sz="1450" dirty="0"/>
          </a:p>
        </p:txBody>
      </p:sp>
      <p:sp>
        <p:nvSpPr>
          <p:cNvPr id="12" name="Shape 9"/>
          <p:cNvSpPr/>
          <p:nvPr/>
        </p:nvSpPr>
        <p:spPr>
          <a:xfrm>
            <a:off x="8183880" y="3392424"/>
            <a:ext cx="365760" cy="365760"/>
          </a:xfrm>
          <a:prstGeom prst="ellipse">
            <a:avLst/>
          </a:prstGeom>
          <a:solidFill>
            <a:srgbClr val="1B998B"/>
          </a:solidFill>
          <a:ln w="12700">
            <a:solidFill>
              <a:srgbClr val="1B998B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8183880" y="339242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3</a:t>
            </a:r>
            <a:endParaRPr lang="en-US" sz="1300" dirty="0"/>
          </a:p>
        </p:txBody>
      </p:sp>
      <p:sp>
        <p:nvSpPr>
          <p:cNvPr id="14" name="Text 11"/>
          <p:cNvSpPr txBox="1"/>
          <p:nvPr/>
        </p:nvSpPr>
        <p:spPr>
          <a:xfrm>
            <a:off x="8686800" y="3364992"/>
            <a:ext cx="2971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0B3C5D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แท็บอำเภอ</a:t>
            </a:r>
            <a:endParaRPr lang="en-US" sz="1450" dirty="0"/>
          </a:p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พื้นที่ท่วม ระยะเวลา และแถบสีแยกช่วงเวลาที่น้ำจะลด</a:t>
            </a:r>
            <a:endParaRPr lang="en-US" sz="1450" dirty="0"/>
          </a:p>
        </p:txBody>
      </p:sp>
      <p:sp>
        <p:nvSpPr>
          <p:cNvPr id="15" name="Shape 12"/>
          <p:cNvSpPr/>
          <p:nvPr/>
        </p:nvSpPr>
        <p:spPr>
          <a:xfrm>
            <a:off x="8183880" y="4288536"/>
            <a:ext cx="365760" cy="365760"/>
          </a:xfrm>
          <a:prstGeom prst="ellipse">
            <a:avLst/>
          </a:prstGeom>
          <a:solidFill>
            <a:srgbClr val="1B998B"/>
          </a:solidFill>
          <a:ln w="12700">
            <a:solidFill>
              <a:srgbClr val="1B998B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183880" y="428853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4</a:t>
            </a:r>
            <a:endParaRPr lang="en-US" sz="1300" dirty="0"/>
          </a:p>
        </p:txBody>
      </p:sp>
      <p:sp>
        <p:nvSpPr>
          <p:cNvPr id="17" name="Text 14"/>
          <p:cNvSpPr txBox="1"/>
          <p:nvPr/>
        </p:nvSpPr>
        <p:spPr>
          <a:xfrm>
            <a:off x="8686800" y="4261104"/>
            <a:ext cx="2971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0B3C5D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แท็บต้นน้ำ / ระดับน้ำ / ฝน</a:t>
            </a:r>
            <a:endParaRPr lang="en-US" sz="1450" dirty="0"/>
          </a:p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hydrograph สถานี RID สถานการณ์ตลิ่ง ฝนสถานี</a:t>
            </a:r>
            <a:endParaRPr lang="en-US" sz="1450" dirty="0"/>
          </a:p>
        </p:txBody>
      </p:sp>
      <p:sp>
        <p:nvSpPr>
          <p:cNvPr id="18" name="Shape 15"/>
          <p:cNvSpPr/>
          <p:nvPr/>
        </p:nvSpPr>
        <p:spPr>
          <a:xfrm>
            <a:off x="8183880" y="5184648"/>
            <a:ext cx="365760" cy="365760"/>
          </a:xfrm>
          <a:prstGeom prst="ellipse">
            <a:avLst/>
          </a:prstGeom>
          <a:solidFill>
            <a:srgbClr val="1B998B"/>
          </a:solidFill>
          <a:ln w="12700">
            <a:solidFill>
              <a:srgbClr val="1B998B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8183880" y="5184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5</a:t>
            </a:r>
            <a:endParaRPr lang="en-US" sz="1300" dirty="0"/>
          </a:p>
        </p:txBody>
      </p:sp>
      <p:sp>
        <p:nvSpPr>
          <p:cNvPr id="20" name="Text 17"/>
          <p:cNvSpPr txBox="1"/>
          <p:nvPr/>
        </p:nvSpPr>
        <p:spPr>
          <a:xfrm>
            <a:off x="8686800" y="5157216"/>
            <a:ext cx="2971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0B3C5D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แท็บ 2D จุดวิกฤต</a:t>
            </a:r>
            <a:endParaRPr lang="en-US" sz="1450" dirty="0"/>
          </a:p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ความลึกละเอียด 120 ม. ตอนนี้ถึง +72 ชม.</a:t>
            </a:r>
            <a:endParaRPr lang="en-US" sz="1450" dirty="0"/>
          </a:p>
        </p:txBody>
      </p:sp>
      <p:sp>
        <p:nvSpPr>
          <p:cNvPr id="21" name="Text 18"/>
          <p:cNvSpPr txBox="1"/>
          <p:nvPr/>
        </p:nvSpPr>
        <p:spPr>
          <a:xfrm>
            <a:off x="548640" y="6400800"/>
            <a:ext cx="99971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รีเฟรชข้อมูลเองทุก 5 นาที · ใช้บนมือถือได้ · คลิก hex เพื่อดูความลึก สาเหตุ ระยะเวลา ฝนสะสม และค่า HAND/CN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4748B"/>
                </a:solidFill>
                <a:latin typeface="Prompt"/>
                <a:ea typeface="Prompt"/>
                <a:cs typeface="Prompt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1B998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ผลการวิเคราะห์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3C5D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พื้นที่ท่วมขังรายอำเภอ: ลาดยาวมากที่สุดและยังเพิ่มขึ้นใน 72 ชม.</a:t>
            </a:r>
            <a:endParaRPr lang="en-US" sz="28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417320"/>
          <a:ext cx="6949440" cy="48463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7818120" y="1554480"/>
            <a:ext cx="3822192" cy="4572000"/>
          </a:xfrm>
          <a:prstGeom prst="roundRect">
            <a:avLst>
              <a:gd name="adj" fmla="val 2392"/>
            </a:avLst>
          </a:prstGeom>
          <a:solidFill>
            <a:srgbClr val="EEF5F9"/>
          </a:solidFill>
          <a:ln w="9525">
            <a:solidFill>
              <a:srgbClr val="EEF5F9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019288" y="1719072"/>
            <a:ext cx="343814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3C5D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อ่านกราฟนี้อย่างไร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8019288" y="2249424"/>
            <a:ext cx="3419856" cy="3739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5000"/>
              </a:lnSpc>
              <a:spcAft>
                <a:spcPts val="400"/>
              </a:spcAft>
              <a:buSzPct val="100000"/>
              <a:buChar char="•"/>
            </a:pPr>
            <a:r>
              <a:rPr lang="en-US" sz="1450" dirty="0">
                <a:solidFill>
                  <a:srgbClr val="1E293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ตอนนี้ = พื้นที่ลึกตั้งแต่ 25 ซม. ณ เวลาปัจจุบัน</a:t>
            </a:r>
            <a:endParaRPr lang="en-US" sz="1450" dirty="0"/>
          </a:p>
          <a:p>
            <a:pPr marL="177800" indent="-177800">
              <a:lnSpc>
                <a:spcPct val="105000"/>
              </a:lnSpc>
              <a:spcAft>
                <a:spcPts val="400"/>
              </a:spcAft>
              <a:buSzPct val="100000"/>
              <a:buChar char="•"/>
            </a:pPr>
            <a:r>
              <a:rPr lang="en-US" sz="1450" dirty="0">
                <a:solidFill>
                  <a:srgbClr val="1E293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72 ชม. = พื้นที่สูงสุดในช่วงพยากรณ์ รวมฝนพยากรณ์และน้ำล้นตลิ่ง</a:t>
            </a:r>
            <a:endParaRPr lang="en-US" sz="1450" dirty="0"/>
          </a:p>
          <a:p>
            <a:pPr marL="177800" indent="-177800">
              <a:lnSpc>
                <a:spcPct val="105000"/>
              </a:lnSpc>
              <a:spcAft>
                <a:spcPts val="400"/>
              </a:spcAft>
              <a:buSzPct val="100000"/>
              <a:buChar char="•"/>
            </a:pPr>
            <a:r>
              <a:rPr lang="en-US" sz="1450" dirty="0">
                <a:solidFill>
                  <a:srgbClr val="1E293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ลาดยาว 40 → 54 ตร.กม. เพราะแม่น้ำแม่วงก์ยังเกินความจุลำน้ำ</a:t>
            </a:r>
            <a:endParaRPr lang="en-US" sz="1450" dirty="0"/>
          </a:p>
          <a:p>
            <a:pPr marL="177800" indent="-177800">
              <a:lnSpc>
                <a:spcPct val="105000"/>
              </a:lnSpc>
              <a:spcAft>
                <a:spcPts val="400"/>
              </a:spcAft>
              <a:buSzPct val="100000"/>
              <a:buChar char="•"/>
            </a:pPr>
            <a:r>
              <a:rPr lang="en-US" sz="1450" dirty="0">
                <a:solidFill>
                  <a:srgbClr val="1E293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อำเภออื่นทรงตัวหรือลดลง เพราะฝนพยากรณ์ 72 ชม. น้อย (≤ 21 มม.)</a:t>
            </a:r>
            <a:endParaRPr lang="en-US" sz="14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4748B"/>
                </a:solidFill>
                <a:latin typeface="Prompt"/>
                <a:ea typeface="Prompt"/>
                <a:cs typeface="Prompt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1B998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ผลการวิเคราะห์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3C5D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ระยะเวลาท่วม: 70% ของพื้นที่คาดว่าน้ำลดภายใน 3 วัน</a:t>
            </a:r>
            <a:endParaRPr lang="en-US" sz="28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417320"/>
          <a:ext cx="7132320" cy="48463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8001000" y="1508760"/>
            <a:ext cx="3639312" cy="1234440"/>
          </a:xfrm>
          <a:prstGeom prst="roundRect">
            <a:avLst>
              <a:gd name="adj" fmla="val 7407"/>
            </a:avLst>
          </a:prstGeom>
          <a:solidFill>
            <a:srgbClr val="EEF5F9"/>
          </a:solidFill>
          <a:ln w="12700">
            <a:solidFill>
              <a:srgbClr val="EEF5F9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229600" y="1673352"/>
            <a:ext cx="3273552" cy="6172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998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58 ตร.กม.</a:t>
            </a:r>
            <a:pPr indent="0" marL="0">
              <a:buNone/>
            </a:pPr>
            <a:endParaRPr lang="en-US" sz="2600" dirty="0"/>
          </a:p>
        </p:txBody>
      </p:sp>
      <p:sp>
        <p:nvSpPr>
          <p:cNvPr id="7" name="Text 4"/>
          <p:cNvSpPr txBox="1"/>
          <p:nvPr/>
        </p:nvSpPr>
        <p:spPr>
          <a:xfrm>
            <a:off x="8229600" y="2200046"/>
            <a:ext cx="327355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E293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ลดต่ำกว่า 10 ซม. ภายใน 3 วัน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8001000" y="2880360"/>
            <a:ext cx="3639312" cy="1234440"/>
          </a:xfrm>
          <a:prstGeom prst="roundRect">
            <a:avLst>
              <a:gd name="adj" fmla="val 7407"/>
            </a:avLst>
          </a:prstGeom>
          <a:solidFill>
            <a:srgbClr val="EEF5F9"/>
          </a:solidFill>
          <a:ln w="12700">
            <a:solidFill>
              <a:srgbClr val="EEF5F9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8229600" y="3044952"/>
            <a:ext cx="3273552" cy="6172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2A541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22 ตร.กม.</a:t>
            </a:r>
            <a:pPr indent="0" marL="0">
              <a:buNone/>
            </a:pPr>
            <a:endParaRPr lang="en-US" sz="2600" dirty="0"/>
          </a:p>
        </p:txBody>
      </p:sp>
      <p:sp>
        <p:nvSpPr>
          <p:cNvPr id="10" name="Text 7"/>
          <p:cNvSpPr txBox="1"/>
          <p:nvPr/>
        </p:nvSpPr>
        <p:spPr>
          <a:xfrm>
            <a:off x="8229600" y="3571646"/>
            <a:ext cx="327355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E293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ต้องใช้ 3–7 วัน (ส่วนใหญ่ลาดยาว)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8001000" y="4251960"/>
            <a:ext cx="3639312" cy="1234440"/>
          </a:xfrm>
          <a:prstGeom prst="roundRect">
            <a:avLst>
              <a:gd name="adj" fmla="val 7407"/>
            </a:avLst>
          </a:prstGeom>
          <a:solidFill>
            <a:srgbClr val="EEF5F9"/>
          </a:solidFill>
          <a:ln w="12700">
            <a:solidFill>
              <a:srgbClr val="EEF5F9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8229600" y="4416552"/>
            <a:ext cx="3273552" cy="6172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D64545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2.8 ตร.กม.</a:t>
            </a:r>
            <a:pPr indent="0" marL="0">
              <a:buNone/>
            </a:pPr>
            <a:endParaRPr lang="en-US" sz="2600" dirty="0"/>
          </a:p>
        </p:txBody>
      </p:sp>
      <p:sp>
        <p:nvSpPr>
          <p:cNvPr id="13" name="Text 10"/>
          <p:cNvSpPr txBox="1"/>
          <p:nvPr/>
        </p:nvSpPr>
        <p:spPr>
          <a:xfrm>
            <a:off x="8229600" y="4943246"/>
            <a:ext cx="327355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E293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เกิน 14 วัน · แอ่งที่ลาดยาวตะวันตก (น่าจะนานเกินจริง)</a:t>
            </a:r>
            <a:endParaRPr lang="en-US" sz="1250" dirty="0"/>
          </a:p>
        </p:txBody>
      </p:sp>
      <p:sp>
        <p:nvSpPr>
          <p:cNvPr id="14" name="Text 11"/>
          <p:cNvSpPr txBox="1"/>
          <p:nvPr/>
        </p:nvSpPr>
        <p:spPr>
          <a:xfrm>
            <a:off x="548640" y="6400800"/>
            <a:ext cx="99971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ท่วมมาแล้ว = ชั่วโมงต่อเนื่องที่ลึกตั้งแต่ 10 ซม. · คาดลดใน = ชั่วโมงแรกในอนาคตที่ต่ำกว่า 10 ซม. · พื้นที่ล้นตลิ่งนับจากเวลาที่สถานีขึ้นเหนือตลิ่ง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4748B"/>
                </a:solidFill>
                <a:latin typeface="Prompt"/>
                <a:ea typeface="Prompt"/>
                <a:cs typeface="Prompt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1B998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ผลการวิเคราะห์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3C5D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น้ำจากต้นน้ำ 4 จังหวัด: กำแพงเพชรส่งน้ำเข้ามากที่สุด</a:t>
            </a:r>
            <a:endParaRPr lang="en-US" sz="28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417320"/>
          <a:ext cx="603504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6858000" y="1554480"/>
            <a:ext cx="4782312" cy="960120"/>
          </a:xfrm>
          <a:prstGeom prst="roundRect">
            <a:avLst>
              <a:gd name="adj" fmla="val 9524"/>
            </a:avLst>
          </a:prstGeom>
          <a:solidFill>
            <a:srgbClr val="EEF5F9"/>
          </a:solidFill>
          <a:ln w="12700">
            <a:solidFill>
              <a:srgbClr val="EEF5F9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059168" y="1682496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0B3C5D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แม่น้ำปิง</a:t>
            </a:r>
            <a:endParaRPr lang="en-US" sz="1450" dirty="0"/>
          </a:p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สถานี P.17 · 778 / 1,835 ลบ.ม./วิ</a:t>
            </a:r>
            <a:endParaRPr lang="en-US" sz="1450" dirty="0"/>
          </a:p>
        </p:txBody>
      </p:sp>
      <p:sp>
        <p:nvSpPr>
          <p:cNvPr id="7" name="Text 4"/>
          <p:cNvSpPr txBox="1"/>
          <p:nvPr/>
        </p:nvSpPr>
        <p:spPr>
          <a:xfrm>
            <a:off x="10149840" y="1664208"/>
            <a:ext cx="1325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2400" b="1" dirty="0">
                <a:solidFill>
                  <a:srgbClr val="1B998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42%</a:t>
            </a:r>
            <a:endParaRPr lang="en-US" sz="2400" dirty="0"/>
          </a:p>
        </p:txBody>
      </p:sp>
      <p:sp>
        <p:nvSpPr>
          <p:cNvPr id="8" name="Text 5"/>
          <p:cNvSpPr txBox="1"/>
          <p:nvPr/>
        </p:nvSpPr>
        <p:spPr>
          <a:xfrm>
            <a:off x="10149840" y="2121408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ของความจุ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858000" y="2670048"/>
            <a:ext cx="4782312" cy="960120"/>
          </a:xfrm>
          <a:prstGeom prst="roundRect">
            <a:avLst>
              <a:gd name="adj" fmla="val 9524"/>
            </a:avLst>
          </a:prstGeom>
          <a:solidFill>
            <a:srgbClr val="EEF5F9"/>
          </a:solidFill>
          <a:ln w="12700">
            <a:solidFill>
              <a:srgbClr val="EEF5F9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059168" y="2798064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0B3C5D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แม่น้ำน่าน-ยม</a:t>
            </a:r>
            <a:endParaRPr lang="en-US" sz="1450" dirty="0"/>
          </a:p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สถานี N.67 · 1,038 / 1,435 ลบ.ม./วิ</a:t>
            </a:r>
            <a:endParaRPr lang="en-US" sz="1450" dirty="0"/>
          </a:p>
        </p:txBody>
      </p:sp>
      <p:sp>
        <p:nvSpPr>
          <p:cNvPr id="11" name="Text 8"/>
          <p:cNvSpPr txBox="1"/>
          <p:nvPr/>
        </p:nvSpPr>
        <p:spPr>
          <a:xfrm>
            <a:off x="10149840" y="2779776"/>
            <a:ext cx="1325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2400" b="1" dirty="0">
                <a:solidFill>
                  <a:srgbClr val="1B998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72%</a:t>
            </a:r>
            <a:endParaRPr lang="en-US" sz="2400" dirty="0"/>
          </a:p>
        </p:txBody>
      </p:sp>
      <p:sp>
        <p:nvSpPr>
          <p:cNvPr id="12" name="Text 9"/>
          <p:cNvSpPr txBox="1"/>
          <p:nvPr/>
        </p:nvSpPr>
        <p:spPr>
          <a:xfrm>
            <a:off x="10149840" y="3236976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ของความจุ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6858000" y="3785616"/>
            <a:ext cx="4782312" cy="960120"/>
          </a:xfrm>
          <a:prstGeom prst="roundRect">
            <a:avLst>
              <a:gd name="adj" fmla="val 9524"/>
            </a:avLst>
          </a:prstGeom>
          <a:solidFill>
            <a:srgbClr val="EEF5F9"/>
          </a:solidFill>
          <a:ln w="12700">
            <a:solidFill>
              <a:srgbClr val="EEF5F9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059168" y="3913632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0B3C5D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แม่น้ำเจ้าพระยา</a:t>
            </a:r>
            <a:endParaRPr lang="en-US" sz="1450" dirty="0"/>
          </a:p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สถานี C.2 · 1,969 / 3,735 ลบ.ม./วิ</a:t>
            </a:r>
            <a:endParaRPr lang="en-US" sz="1450" dirty="0"/>
          </a:p>
        </p:txBody>
      </p:sp>
      <p:sp>
        <p:nvSpPr>
          <p:cNvPr id="15" name="Text 12"/>
          <p:cNvSpPr txBox="1"/>
          <p:nvPr/>
        </p:nvSpPr>
        <p:spPr>
          <a:xfrm>
            <a:off x="10149840" y="3895344"/>
            <a:ext cx="1325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2400" b="1" dirty="0">
                <a:solidFill>
                  <a:srgbClr val="1B998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53%</a:t>
            </a:r>
            <a:endParaRPr lang="en-US" sz="2400" dirty="0"/>
          </a:p>
        </p:txBody>
      </p:sp>
      <p:sp>
        <p:nvSpPr>
          <p:cNvPr id="16" name="Text 13"/>
          <p:cNvSpPr txBox="1"/>
          <p:nvPr/>
        </p:nvSpPr>
        <p:spPr>
          <a:xfrm>
            <a:off x="10149840" y="4352544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ของความจุ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6858000" y="4901184"/>
            <a:ext cx="4782312" cy="960120"/>
          </a:xfrm>
          <a:prstGeom prst="roundRect">
            <a:avLst>
              <a:gd name="adj" fmla="val 9524"/>
            </a:avLst>
          </a:prstGeom>
          <a:solidFill>
            <a:srgbClr val="EEF5F9"/>
          </a:solidFill>
          <a:ln w="12700">
            <a:solidFill>
              <a:srgbClr val="EEF5F9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7059168" y="5029200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0B3C5D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แม่วงก์-สะแกกรัง</a:t>
            </a:r>
            <a:endParaRPr lang="en-US" sz="1450" dirty="0"/>
          </a:p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สถานี Ct.5A · 385 / 232 ลบ.ม./วิ</a:t>
            </a:r>
            <a:endParaRPr lang="en-US" sz="1450" dirty="0"/>
          </a:p>
        </p:txBody>
      </p:sp>
      <p:sp>
        <p:nvSpPr>
          <p:cNvPr id="19" name="Text 16"/>
          <p:cNvSpPr txBox="1"/>
          <p:nvPr/>
        </p:nvSpPr>
        <p:spPr>
          <a:xfrm>
            <a:off x="10149840" y="5010912"/>
            <a:ext cx="1325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2400" b="1" dirty="0">
                <a:solidFill>
                  <a:srgbClr val="D64545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166%</a:t>
            </a:r>
            <a:endParaRPr lang="en-US" sz="2400" dirty="0"/>
          </a:p>
        </p:txBody>
      </p:sp>
      <p:sp>
        <p:nvSpPr>
          <p:cNvPr id="20" name="Text 17"/>
          <p:cNvSpPr txBox="1"/>
          <p:nvPr/>
        </p:nvSpPr>
        <p:spPr>
          <a:xfrm>
            <a:off x="10149840" y="5468112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ของความจุ</a:t>
            </a:r>
            <a:endParaRPr lang="en-US" sz="1000" dirty="0"/>
          </a:p>
        </p:txBody>
      </p:sp>
      <p:sp>
        <p:nvSpPr>
          <p:cNvPr id="21" name="Text 18"/>
          <p:cNvSpPr txBox="1"/>
          <p:nvPr/>
        </p:nvSpPr>
        <p:spPr>
          <a:xfrm>
            <a:off x="548640" y="6400800"/>
            <a:ext cx="99971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ปริมาตรจากแบบจำลอง SCS-CN ราย zone (794 zones) ปรับขนาดด้วยปริมาณน้ำจริงสถานี P.17 และ N.67 · ความจุ = qmax ของสถานีกรมชลประทาน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4748B"/>
                </a:solidFill>
                <a:latin typeface="Prompt"/>
                <a:ea typeface="Prompt"/>
                <a:cs typeface="Prompt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1B998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ผลการวิเคราะห์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3C5D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แม่วงก์ (Ct.5A) ล้นตลิ่ง: คาดสูงสุด 437 ลบ.ม./วิ แล้วลดต่ำกว่าความจุในราว 33 ชม.</a:t>
            </a:r>
            <a:endParaRPr lang="en-US" sz="24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417320"/>
          <a:ext cx="7498080" cy="48006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8275320" y="1554480"/>
            <a:ext cx="3364992" cy="4572000"/>
          </a:xfrm>
          <a:prstGeom prst="roundRect">
            <a:avLst>
              <a:gd name="adj" fmla="val 2717"/>
            </a:avLst>
          </a:prstGeom>
          <a:solidFill>
            <a:srgbClr val="EEF5F9"/>
          </a:solidFill>
          <a:ln w="9525">
            <a:solidFill>
              <a:srgbClr val="EEF5F9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476488" y="1719072"/>
            <a:ext cx="298094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3C5D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ที่มาของพยากรณ์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8476488" y="2249424"/>
            <a:ext cx="2962656" cy="3739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5000"/>
              </a:lnSpc>
              <a:spcAft>
                <a:spcPts val="400"/>
              </a:spcAft>
              <a:buSzPct val="100000"/>
              <a:buChar char="•"/>
            </a:pPr>
            <a:r>
              <a:rPr lang="en-US" sz="1350" dirty="0">
                <a:solidFill>
                  <a:srgbClr val="1E293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ใช้ค่าตรวจวัดรายชั่วโมง 30 วันจาก ThaiWater</a:t>
            </a:r>
            <a:endParaRPr lang="en-US" sz="1350" dirty="0"/>
          </a:p>
          <a:p>
            <a:pPr marL="177800" indent="-177800">
              <a:lnSpc>
                <a:spcPct val="105000"/>
              </a:lnSpc>
              <a:spcAft>
                <a:spcPts val="400"/>
              </a:spcAft>
              <a:buSzPct val="100000"/>
              <a:buChar char="•"/>
            </a:pPr>
            <a:r>
              <a:rPr lang="en-US" sz="1350" dirty="0">
                <a:solidFill>
                  <a:srgbClr val="1E293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สถานีไม่รายงานปริมาณน้ำ → คำนวณจาก rating curve ที่ฟิตจากอดีต 265 คู่</a:t>
            </a:r>
            <a:endParaRPr lang="en-US" sz="1350" dirty="0"/>
          </a:p>
          <a:p>
            <a:pPr marL="177800" indent="-177800">
              <a:lnSpc>
                <a:spcPct val="105000"/>
              </a:lnSpc>
              <a:spcAft>
                <a:spcPts val="400"/>
              </a:spcAft>
              <a:buSzPct val="100000"/>
              <a:buChar char="•"/>
            </a:pPr>
            <a:r>
              <a:rPr lang="en-US" sz="1350" dirty="0">
                <a:solidFill>
                  <a:srgbClr val="1E293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น้ำยังขึ้น 6.9 ลบ.ม./วิ/ชม. → ขึ้นต่อแบบหน่วง 12 ชม.</a:t>
            </a:r>
            <a:endParaRPr lang="en-US" sz="1350" dirty="0"/>
          </a:p>
          <a:p>
            <a:pPr marL="177800" indent="-177800">
              <a:lnSpc>
                <a:spcPct val="105000"/>
              </a:lnSpc>
              <a:spcAft>
                <a:spcPts val="400"/>
              </a:spcAft>
              <a:buSzPct val="100000"/>
              <a:buChar char="•"/>
            </a:pPr>
            <a:r>
              <a:rPr lang="en-US" sz="1350" dirty="0">
                <a:solidFill>
                  <a:srgbClr val="1E293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แล้วลดตามอัตราน้ำลดจริงของสถานี k = 31 ชม.</a:t>
            </a:r>
            <a:endParaRPr lang="en-US" sz="1350" dirty="0"/>
          </a:p>
          <a:p>
            <a:pPr marL="177800" indent="-177800">
              <a:lnSpc>
                <a:spcPct val="105000"/>
              </a:lnSpc>
              <a:spcAft>
                <a:spcPts val="400"/>
              </a:spcAft>
              <a:buSzPct val="100000"/>
              <a:buChar char="•"/>
            </a:pPr>
            <a:r>
              <a:rPr lang="en-US" sz="1350" dirty="0">
                <a:solidFill>
                  <a:srgbClr val="1E293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ส่วนเกินความจุ 232 ลบ.ม./วิ คือน้ำที่ไหลเข้าที่ราบลาดยาว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4748B"/>
                </a:solidFill>
                <a:latin typeface="Prompt"/>
                <a:ea typeface="Prompt"/>
                <a:cs typeface="Prompt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1B998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วิธีการ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3C5D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สถาปัตยกรรม: วิเคราะห์หนักครั้งเดียว แล้วอัปเดตเบาทุกชั่วโมง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2513000" cy="3200400"/>
          </a:xfrm>
          <a:prstGeom prst="roundRect">
            <a:avLst>
              <a:gd name="adj" fmla="val 3639"/>
            </a:avLst>
          </a:prstGeom>
          <a:solidFill>
            <a:srgbClr val="EEF5F9"/>
          </a:solidFill>
          <a:ln w="12700">
            <a:solidFill>
              <a:srgbClr val="EEF5F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13232" y="1719072"/>
            <a:ext cx="347472" cy="347472"/>
          </a:xfrm>
          <a:prstGeom prst="ellipse">
            <a:avLst/>
          </a:prstGeom>
          <a:solidFill>
            <a:srgbClr val="1B998B"/>
          </a:solidFill>
          <a:ln w="12700">
            <a:solidFill>
              <a:srgbClr val="1B998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7190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152144" y="1700784"/>
            <a:ext cx="1781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3C5D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แหล่งข้อมูล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2212848"/>
            <a:ext cx="2183816" cy="2423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1E293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Open-Meteo ฝนรายชั่วโมง + พยากรณ์</a:t>
            </a:r>
            <a:endParaRPr lang="en-US" sz="1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1E293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ThaiWater ฝนสถานี ระดับน้ำ ปริมาณน้ำ</a:t>
            </a:r>
            <a:endParaRPr lang="en-US" sz="1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1E293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GISTDA · Windy</a:t>
            </a:r>
            <a:endParaRPr lang="en-US" sz="1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1E293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DEM · WorldCover · OSM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3125648" y="3035808"/>
            <a:ext cx="219456" cy="237744"/>
          </a:xfrm>
          <a:prstGeom prst="rightArrow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409112" y="1554480"/>
            <a:ext cx="2513000" cy="3200400"/>
          </a:xfrm>
          <a:prstGeom prst="roundRect">
            <a:avLst>
              <a:gd name="adj" fmla="val 3639"/>
            </a:avLst>
          </a:prstGeom>
          <a:solidFill>
            <a:srgbClr val="E3F1EE"/>
          </a:solidFill>
          <a:ln w="12700">
            <a:solidFill>
              <a:srgbClr val="E3F1E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573704" y="1719072"/>
            <a:ext cx="347472" cy="347472"/>
          </a:xfrm>
          <a:prstGeom prst="ellipse">
            <a:avLst/>
          </a:prstGeom>
          <a:solidFill>
            <a:srgbClr val="1B998B"/>
          </a:solidFill>
          <a:ln w="12700">
            <a:solidFill>
              <a:srgbClr val="1B998B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573704" y="17190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2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4012616" y="1700784"/>
            <a:ext cx="1781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3C5D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ArcGIS Pro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3591992" y="2212848"/>
            <a:ext cx="2183816" cy="2423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1E293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ปรับ DEM · Fill · Flow Direction · Flow Accumulation · HAND · CN</a:t>
            </a:r>
            <a:endParaRPr lang="en-US" sz="1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1E293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hex 1 ตร.กม. + เครือข่ายการไหล</a:t>
            </a:r>
            <a:endParaRPr lang="en-US" sz="1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1E293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ลุ่มน้ำต้นน้ำ · โดเมน 2D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986120" y="3035808"/>
            <a:ext cx="219456" cy="237744"/>
          </a:xfrm>
          <a:prstGeom prst="rightArrow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269584" y="1554480"/>
            <a:ext cx="2513000" cy="3200400"/>
          </a:xfrm>
          <a:prstGeom prst="roundRect">
            <a:avLst>
              <a:gd name="adj" fmla="val 3639"/>
            </a:avLst>
          </a:prstGeom>
          <a:solidFill>
            <a:srgbClr val="EFEDFB"/>
          </a:solidFill>
          <a:ln w="12700">
            <a:solidFill>
              <a:srgbClr val="EFEDFB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434176" y="1719072"/>
            <a:ext cx="347472" cy="347472"/>
          </a:xfrm>
          <a:prstGeom prst="ellipse">
            <a:avLst/>
          </a:prstGeom>
          <a:solidFill>
            <a:srgbClr val="1B998B"/>
          </a:solidFill>
          <a:ln w="12700">
            <a:solidFill>
              <a:srgbClr val="1B998B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434176" y="17190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6873088" y="1700784"/>
            <a:ext cx="1781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3C5D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GitHub Actions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6452464" y="2212848"/>
            <a:ext cx="2183816" cy="2423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1E293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ทุก 1 ชม.: โมเดล hex v3 + ต้นน้ำ + ระยะเวลาท่วม</a:t>
            </a:r>
            <a:endParaRPr lang="en-US" sz="1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1E293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ทุก 6 ชม.: แบบจำลอง 2D</a:t>
            </a:r>
            <a:endParaRPr lang="en-US" sz="1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1E293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ทุกสัปดาห์: สอบเทียบ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8846591" y="3035808"/>
            <a:ext cx="219456" cy="237744"/>
          </a:xfrm>
          <a:prstGeom prst="rightArrow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9130055" y="1554480"/>
            <a:ext cx="2513000" cy="3200400"/>
          </a:xfrm>
          <a:prstGeom prst="roundRect">
            <a:avLst>
              <a:gd name="adj" fmla="val 3639"/>
            </a:avLst>
          </a:prstGeom>
          <a:solidFill>
            <a:srgbClr val="FDF3E5"/>
          </a:solidFill>
          <a:ln w="12700">
            <a:solidFill>
              <a:srgbClr val="FDF3E5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9294647" y="1719072"/>
            <a:ext cx="347472" cy="347472"/>
          </a:xfrm>
          <a:prstGeom prst="ellipse">
            <a:avLst/>
          </a:prstGeom>
          <a:solidFill>
            <a:srgbClr val="1B998B"/>
          </a:solidFill>
          <a:ln w="12700">
            <a:solidFill>
              <a:srgbClr val="1B998B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9294647" y="17190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4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9733559" y="1700784"/>
            <a:ext cx="1781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3C5D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เว็บแอป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9312935" y="2212848"/>
            <a:ext cx="2183816" cy="2423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1E293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GitHub Pages + Leaflet</a:t>
            </a:r>
            <a:endParaRPr lang="en-US" sz="1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1E293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แผนที่ ตาราง กราฟ</a:t>
            </a:r>
            <a:endParaRPr lang="en-US" sz="1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1E293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ArcGIS Pro toolbox รันบนเครื่องได้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548640" y="4983480"/>
            <a:ext cx="5486400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9525">
            <a:solidFill>
              <a:srgbClr val="D5DEE6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749808" y="5148072"/>
            <a:ext cx="51023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3C5D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ทำไมออกแบบแบบนี้</a:t>
            </a:r>
            <a:endParaRPr lang="en-US" sz="1500" dirty="0"/>
          </a:p>
        </p:txBody>
      </p:sp>
      <p:sp>
        <p:nvSpPr>
          <p:cNvPr id="29" name="Text 27"/>
          <p:cNvSpPr txBox="1"/>
          <p:nvPr/>
        </p:nvSpPr>
        <p:spPr>
          <a:xfrm>
            <a:off x="749808" y="5678424"/>
            <a:ext cx="5084064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spcAft>
                <a:spcPts val="400"/>
              </a:spcAft>
              <a:buNone/>
            </a:pPr>
            <a:r>
              <a:rPr lang="en-US" sz="1350" dirty="0">
                <a:solidFill>
                  <a:srgbClr val="1E293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งานภูมิประเทศใช้เวลา 30–60 นาทีแต่ทำครั้งเดียว ส่วนรอบรายชั่วโมงเหลือ numpy ใช้เวลา 12–30 วินาที</a:t>
            </a:r>
            <a:endParaRPr lang="en-US" sz="1350" dirty="0"/>
          </a:p>
        </p:txBody>
      </p:sp>
      <p:sp>
        <p:nvSpPr>
          <p:cNvPr id="30" name="Shape 28"/>
          <p:cNvSpPr/>
          <p:nvPr/>
        </p:nvSpPr>
        <p:spPr>
          <a:xfrm>
            <a:off x="6245352" y="4983480"/>
            <a:ext cx="5394960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9525">
            <a:solidFill>
              <a:srgbClr val="D5DEE6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6446520" y="5148072"/>
            <a:ext cx="501091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3C5D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ต้นทุน</a:t>
            </a:r>
            <a:endParaRPr lang="en-US" sz="1500" dirty="0"/>
          </a:p>
        </p:txBody>
      </p:sp>
      <p:sp>
        <p:nvSpPr>
          <p:cNvPr id="32" name="Text 30"/>
          <p:cNvSpPr txBox="1"/>
          <p:nvPr/>
        </p:nvSpPr>
        <p:spPr>
          <a:xfrm>
            <a:off x="6446520" y="5678424"/>
            <a:ext cx="4992624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spcAft>
                <a:spcPts val="400"/>
              </a:spcAft>
              <a:buNone/>
            </a:pPr>
            <a:r>
              <a:rPr lang="en-US" sz="1350" dirty="0">
                <a:solidFill>
                  <a:srgbClr val="1E293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ไม่มีเซิร์ฟเวอร์ ไม่มีฐานข้อมูล ไม่ต้องใช้ ArcGIS Online · ใช้ license ArcGIS Pro เฉพาะขั้นเตรียมข้อมูล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4748B"/>
                </a:solidFill>
                <a:latin typeface="Prompt"/>
                <a:ea typeface="Prompt"/>
                <a:cs typeface="Prompt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1B998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วิธีการ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3C5D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ขั้นตอนวิเคราะห์ภูมิประเทศใน ArcGIS Pro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3547872" cy="2194560"/>
          </a:xfrm>
          <a:prstGeom prst="roundRect">
            <a:avLst>
              <a:gd name="adj" fmla="val 4167"/>
            </a:avLst>
          </a:prstGeom>
          <a:solidFill>
            <a:srgbClr val="EEF5F9"/>
          </a:solidFill>
          <a:ln w="9525">
            <a:solidFill>
              <a:srgbClr val="EEF5F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49808" y="1737360"/>
            <a:ext cx="384048" cy="384048"/>
          </a:xfrm>
          <a:prstGeom prst="ellipse">
            <a:avLst/>
          </a:prstGeom>
          <a:solidFill>
            <a:srgbClr val="1B998B"/>
          </a:solidFill>
          <a:ln w="12700">
            <a:solidFill>
              <a:srgbClr val="1B998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49808" y="1737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261872" y="1719072"/>
            <a:ext cx="2651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3C5D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ปรับ DEM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749808" y="2249424"/>
            <a:ext cx="3145536" cy="1362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spcAft>
                <a:spcPts val="400"/>
              </a:spcAft>
              <a:buNone/>
            </a:pPr>
            <a:r>
              <a:rPr lang="en-US" sz="1450" dirty="0">
                <a:solidFill>
                  <a:srgbClr val="1E293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FABDEM 30 ม. (ตัดอาคาร/ต้นไม้) · burn ลำน้ำ OSM -0.5 ถึง -3 ม. · ยกคันกั้นน้ำ +1 ม.</a:t>
            </a:r>
            <a:endParaRPr lang="en-US" sz="1450" dirty="0"/>
          </a:p>
        </p:txBody>
      </p:sp>
      <p:sp>
        <p:nvSpPr>
          <p:cNvPr id="9" name="Shape 7"/>
          <p:cNvSpPr/>
          <p:nvPr/>
        </p:nvSpPr>
        <p:spPr>
          <a:xfrm>
            <a:off x="4279392" y="1554480"/>
            <a:ext cx="3547872" cy="2194560"/>
          </a:xfrm>
          <a:prstGeom prst="roundRect">
            <a:avLst>
              <a:gd name="adj" fmla="val 4167"/>
            </a:avLst>
          </a:prstGeom>
          <a:solidFill>
            <a:srgbClr val="EEF5F9"/>
          </a:solidFill>
          <a:ln w="9525">
            <a:solidFill>
              <a:srgbClr val="EEF5F9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480560" y="1737360"/>
            <a:ext cx="384048" cy="384048"/>
          </a:xfrm>
          <a:prstGeom prst="ellipse">
            <a:avLst/>
          </a:prstGeom>
          <a:solidFill>
            <a:srgbClr val="1B998B"/>
          </a:solidFill>
          <a:ln w="12700">
            <a:solidFill>
              <a:srgbClr val="1B998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480560" y="1737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4992624" y="1719072"/>
            <a:ext cx="2651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3C5D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อุทกวิทยาพื้นฐาน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4480560" y="2249424"/>
            <a:ext cx="3145536" cy="1362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spcAft>
                <a:spcPts val="400"/>
              </a:spcAft>
              <a:buNone/>
            </a:pPr>
            <a:r>
              <a:rPr lang="en-US" sz="1450" dirty="0">
                <a:solidFill>
                  <a:srgbClr val="1E293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Fill → Flow Direction (D8) → Flow Accumulation · ลำน้ำ &gt; 5 และ &gt; 1,000 ตร.กม.</a:t>
            </a:r>
            <a:endParaRPr lang="en-US" sz="1450" dirty="0"/>
          </a:p>
        </p:txBody>
      </p:sp>
      <p:sp>
        <p:nvSpPr>
          <p:cNvPr id="14" name="Shape 12"/>
          <p:cNvSpPr/>
          <p:nvPr/>
        </p:nvSpPr>
        <p:spPr>
          <a:xfrm>
            <a:off x="8010144" y="1554480"/>
            <a:ext cx="3547872" cy="2194560"/>
          </a:xfrm>
          <a:prstGeom prst="roundRect">
            <a:avLst>
              <a:gd name="adj" fmla="val 4167"/>
            </a:avLst>
          </a:prstGeom>
          <a:solidFill>
            <a:srgbClr val="EEF5F9"/>
          </a:solidFill>
          <a:ln w="9525">
            <a:solidFill>
              <a:srgbClr val="EEF5F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211312" y="1737360"/>
            <a:ext cx="384048" cy="384048"/>
          </a:xfrm>
          <a:prstGeom prst="ellipse">
            <a:avLst/>
          </a:prstGeom>
          <a:solidFill>
            <a:srgbClr val="1B998B"/>
          </a:solidFill>
          <a:ln w="12700">
            <a:solidFill>
              <a:srgbClr val="1B998B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211312" y="1737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3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8723376" y="1719072"/>
            <a:ext cx="2651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3C5D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HAND และแอ่ง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8211312" y="2249424"/>
            <a:ext cx="3145536" cy="1362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spcAft>
                <a:spcPts val="400"/>
              </a:spcAft>
              <a:buNone/>
            </a:pPr>
            <a:r>
              <a:rPr lang="en-US" sz="1450" dirty="0">
                <a:solidFill>
                  <a:srgbClr val="1E293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Flow Distance (VERTICAL) ความสูงเหนือลำน้ำ · Sink = Fill - DEM · Slope</a:t>
            </a:r>
            <a:endParaRPr lang="en-US" sz="1450" dirty="0"/>
          </a:p>
        </p:txBody>
      </p:sp>
      <p:sp>
        <p:nvSpPr>
          <p:cNvPr id="19" name="Shape 17"/>
          <p:cNvSpPr/>
          <p:nvPr/>
        </p:nvSpPr>
        <p:spPr>
          <a:xfrm>
            <a:off x="548640" y="3931920"/>
            <a:ext cx="3547872" cy="2194560"/>
          </a:xfrm>
          <a:prstGeom prst="roundRect">
            <a:avLst>
              <a:gd name="adj" fmla="val 4167"/>
            </a:avLst>
          </a:prstGeom>
          <a:solidFill>
            <a:srgbClr val="EEF5F9"/>
          </a:solidFill>
          <a:ln w="9525">
            <a:solidFill>
              <a:srgbClr val="EEF5F9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49808" y="4114800"/>
            <a:ext cx="384048" cy="384048"/>
          </a:xfrm>
          <a:prstGeom prst="ellipse">
            <a:avLst/>
          </a:prstGeom>
          <a:solidFill>
            <a:srgbClr val="1B998B"/>
          </a:solidFill>
          <a:ln w="12700">
            <a:solidFill>
              <a:srgbClr val="1B998B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49808" y="4114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4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1261872" y="4096512"/>
            <a:ext cx="2651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3C5D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Curve Number</a:t>
            </a:r>
            <a:endParaRPr lang="en-US" sz="1600" dirty="0"/>
          </a:p>
        </p:txBody>
      </p:sp>
      <p:sp>
        <p:nvSpPr>
          <p:cNvPr id="23" name="Text 21"/>
          <p:cNvSpPr txBox="1"/>
          <p:nvPr/>
        </p:nvSpPr>
        <p:spPr>
          <a:xfrm>
            <a:off x="749808" y="4626864"/>
            <a:ext cx="3145536" cy="1362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spcAft>
                <a:spcPts val="400"/>
              </a:spcAft>
              <a:buNone/>
            </a:pPr>
            <a:r>
              <a:rPr lang="en-US" sz="1450" dirty="0">
                <a:solidFill>
                  <a:srgbClr val="1E293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ESA WorldCover × กลุ่มดิน HSG C/D (HAND &lt; 5 ม. = D)</a:t>
            </a:r>
            <a:endParaRPr lang="en-US" sz="1450" dirty="0"/>
          </a:p>
        </p:txBody>
      </p:sp>
      <p:sp>
        <p:nvSpPr>
          <p:cNvPr id="24" name="Shape 22"/>
          <p:cNvSpPr/>
          <p:nvPr/>
        </p:nvSpPr>
        <p:spPr>
          <a:xfrm>
            <a:off x="4279392" y="3931920"/>
            <a:ext cx="3547872" cy="2194560"/>
          </a:xfrm>
          <a:prstGeom prst="roundRect">
            <a:avLst>
              <a:gd name="adj" fmla="val 4167"/>
            </a:avLst>
          </a:prstGeom>
          <a:solidFill>
            <a:srgbClr val="EEF5F9"/>
          </a:solidFill>
          <a:ln w="9525">
            <a:solidFill>
              <a:srgbClr val="EEF5F9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480560" y="4114800"/>
            <a:ext cx="384048" cy="384048"/>
          </a:xfrm>
          <a:prstGeom prst="ellipse">
            <a:avLst/>
          </a:prstGeom>
          <a:solidFill>
            <a:srgbClr val="1B998B"/>
          </a:solidFill>
          <a:ln w="12700">
            <a:solidFill>
              <a:srgbClr val="1B998B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4480560" y="4114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5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4992624" y="4096512"/>
            <a:ext cx="2651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3C5D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Hex + เครือข่าย</a:t>
            </a:r>
            <a:endParaRPr lang="en-US" sz="1600" dirty="0"/>
          </a:p>
        </p:txBody>
      </p:sp>
      <p:sp>
        <p:nvSpPr>
          <p:cNvPr id="28" name="Text 26"/>
          <p:cNvSpPr txBox="1"/>
          <p:nvPr/>
        </p:nvSpPr>
        <p:spPr>
          <a:xfrm>
            <a:off x="4480560" y="4626864"/>
            <a:ext cx="3145536" cy="1362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spcAft>
                <a:spcPts val="400"/>
              </a:spcAft>
              <a:buNone/>
            </a:pPr>
            <a:r>
              <a:rPr lang="en-US" sz="1450" dirty="0">
                <a:solidFill>
                  <a:srgbClr val="1E293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Generate Tessellation 1 ตร.กม. · 28,542 ขอบ · ระดับจุดล้น · hypsometry · คลอง 501 กม. · ประตูน้ำ 20 แห่ง</a:t>
            </a:r>
            <a:endParaRPr lang="en-US" sz="1450" dirty="0"/>
          </a:p>
        </p:txBody>
      </p:sp>
      <p:sp>
        <p:nvSpPr>
          <p:cNvPr id="29" name="Shape 27"/>
          <p:cNvSpPr/>
          <p:nvPr/>
        </p:nvSpPr>
        <p:spPr>
          <a:xfrm>
            <a:off x="8010144" y="3931920"/>
            <a:ext cx="3547872" cy="2194560"/>
          </a:xfrm>
          <a:prstGeom prst="roundRect">
            <a:avLst>
              <a:gd name="adj" fmla="val 4167"/>
            </a:avLst>
          </a:prstGeom>
          <a:solidFill>
            <a:srgbClr val="EEF5F9"/>
          </a:solidFill>
          <a:ln w="9525">
            <a:solidFill>
              <a:srgbClr val="EEF5F9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211312" y="4114800"/>
            <a:ext cx="384048" cy="384048"/>
          </a:xfrm>
          <a:prstGeom prst="ellipse">
            <a:avLst/>
          </a:prstGeom>
          <a:solidFill>
            <a:srgbClr val="1B998B"/>
          </a:solidFill>
          <a:ln w="12700">
            <a:solidFill>
              <a:srgbClr val="1B998B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8211312" y="4114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6</a:t>
            </a:r>
            <a:endParaRPr lang="en-US" sz="1300" dirty="0"/>
          </a:p>
        </p:txBody>
      </p:sp>
      <p:sp>
        <p:nvSpPr>
          <p:cNvPr id="32" name="Text 30"/>
          <p:cNvSpPr txBox="1"/>
          <p:nvPr/>
        </p:nvSpPr>
        <p:spPr>
          <a:xfrm>
            <a:off x="8723376" y="4096512"/>
            <a:ext cx="2651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3C5D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ต้นน้ำ + 2D</a:t>
            </a:r>
            <a:endParaRPr lang="en-US" sz="1600" dirty="0"/>
          </a:p>
        </p:txBody>
      </p:sp>
      <p:sp>
        <p:nvSpPr>
          <p:cNvPr id="33" name="Text 31"/>
          <p:cNvSpPr txBox="1"/>
          <p:nvPr/>
        </p:nvSpPr>
        <p:spPr>
          <a:xfrm>
            <a:off x="8211312" y="4626864"/>
            <a:ext cx="3145536" cy="1362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spcAft>
                <a:spcPts val="400"/>
              </a:spcAft>
              <a:buNone/>
            </a:pPr>
            <a:r>
              <a:rPr lang="en-US" sz="1450" dirty="0">
                <a:solidFill>
                  <a:srgbClr val="1E293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DEM ภูมิภาค 90 ม. 5 จังหวัด · 794 zones + เวลาเดินทาง · กริด 120 ม. 3 จุดวิกฤต + ชุดข้อมูล HEC-RAS</a:t>
            </a:r>
            <a:endParaRPr lang="en-US" sz="1450" dirty="0"/>
          </a:p>
        </p:txBody>
      </p:sp>
      <p:sp>
        <p:nvSpPr>
          <p:cNvPr id="34" name="Text 32"/>
          <p:cNvSpPr txBox="1"/>
          <p:nvPr/>
        </p:nvSpPr>
        <p:spPr>
          <a:xfrm>
            <a:off x="548640" y="6400800"/>
            <a:ext cx="99971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ArcGIS Pro toolbox NakhonSawanFlood.pyt: 0) Build All · 1) Static · 1b) Upstream · 1c) Network · 1d) 2D Hotspots · 2) Run Update · 2b) 2D · 2c) Calibrate · 3) Publish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4748B"/>
                </a:solidFill>
                <a:latin typeface="Prompt"/>
                <a:ea typeface="Prompt"/>
                <a:cs typeface="Prompt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1B998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วิธีการ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3C5D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โมเดลรายชั่วโมง: น้ำไหลจากที่สูงลงที่ต่ำ ขังในแอ่ง และระบายออก</a:t>
            </a:r>
            <a:endParaRPr lang="en-US" sz="2800" dirty="0"/>
          </a:p>
        </p:txBody>
      </p:sp>
      <p:pic>
        <p:nvPicPr>
          <p:cNvPr id="4" name="Image 0" descr="/home/claude/rpt/fig/d_model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463040"/>
            <a:ext cx="11094415" cy="347472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5074920"/>
            <a:ext cx="2633472" cy="1188720"/>
          </a:xfrm>
          <a:prstGeom prst="roundRect">
            <a:avLst>
              <a:gd name="adj" fmla="val 7692"/>
            </a:avLst>
          </a:prstGeom>
          <a:solidFill>
            <a:srgbClr val="EEF5F9"/>
          </a:solidFill>
          <a:ln w="9525">
            <a:solidFill>
              <a:srgbClr val="EEF5F9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49808" y="5239512"/>
            <a:ext cx="22494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B3C5D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ไหลหลายทิศ</a:t>
            </a:r>
            <a:endParaRPr lang="en-US" sz="1350" dirty="0"/>
          </a:p>
        </p:txBody>
      </p:sp>
      <p:sp>
        <p:nvSpPr>
          <p:cNvPr id="7" name="Text 4"/>
          <p:cNvSpPr txBox="1"/>
          <p:nvPr/>
        </p:nvSpPr>
        <p:spPr>
          <a:xfrm>
            <a:off x="749808" y="5769864"/>
            <a:ext cx="2231136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spcAft>
                <a:spcPts val="400"/>
              </a:spcAft>
              <a:buNone/>
            </a:pPr>
            <a:r>
              <a:rPr lang="en-US" sz="1100" dirty="0">
                <a:solidFill>
                  <a:srgbClr val="1E293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แบ่งน้ำไปทุก hex ท้ายน้ำตามสัดส่วนเส้นทาง D8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3364992" y="5074920"/>
            <a:ext cx="2633472" cy="1188720"/>
          </a:xfrm>
          <a:prstGeom prst="roundRect">
            <a:avLst>
              <a:gd name="adj" fmla="val 7692"/>
            </a:avLst>
          </a:prstGeom>
          <a:solidFill>
            <a:srgbClr val="EEF5F9"/>
          </a:solidFill>
          <a:ln w="9525">
            <a:solidFill>
              <a:srgbClr val="EEF5F9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3566160" y="5239512"/>
            <a:ext cx="22494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B3C5D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Fill-spill</a:t>
            </a:r>
            <a:endParaRPr lang="en-US" sz="1350" dirty="0"/>
          </a:p>
        </p:txBody>
      </p:sp>
      <p:sp>
        <p:nvSpPr>
          <p:cNvPr id="10" name="Text 7"/>
          <p:cNvSpPr txBox="1"/>
          <p:nvPr/>
        </p:nvSpPr>
        <p:spPr>
          <a:xfrm>
            <a:off x="3566160" y="5769864"/>
            <a:ext cx="2231136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spcAft>
                <a:spcPts val="400"/>
              </a:spcAft>
              <a:buNone/>
            </a:pPr>
            <a:r>
              <a:rPr lang="en-US" sz="1100" dirty="0">
                <a:solidFill>
                  <a:srgbClr val="1E293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น้ำล้นข้ามจุดล้นเมื่อระดับผิวน้ำสูงกว่าสันแอ่ง ไหลย้อนได้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6181344" y="5074920"/>
            <a:ext cx="2633472" cy="1188720"/>
          </a:xfrm>
          <a:prstGeom prst="roundRect">
            <a:avLst>
              <a:gd name="adj" fmla="val 7692"/>
            </a:avLst>
          </a:prstGeom>
          <a:solidFill>
            <a:srgbClr val="EEF5F9"/>
          </a:solidFill>
          <a:ln w="9525">
            <a:solidFill>
              <a:srgbClr val="EEF5F9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382512" y="5239512"/>
            <a:ext cx="22494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B3C5D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โครงสร้างระบายน้ำ</a:t>
            </a:r>
            <a:endParaRPr lang="en-US" sz="1350" dirty="0"/>
          </a:p>
        </p:txBody>
      </p:sp>
      <p:sp>
        <p:nvSpPr>
          <p:cNvPr id="13" name="Text 10"/>
          <p:cNvSpPr txBox="1"/>
          <p:nvPr/>
        </p:nvSpPr>
        <p:spPr>
          <a:xfrm>
            <a:off x="6382512" y="5769864"/>
            <a:ext cx="2231136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spcAft>
                <a:spcPts val="400"/>
              </a:spcAft>
              <a:buNone/>
            </a:pPr>
            <a:r>
              <a:rPr lang="en-US" sz="1100" dirty="0">
                <a:solidFill>
                  <a:srgbClr val="1E293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คลองเร่งการระบาย · ท่อเมือง · สถานีสูบ · ประตูน้ำปิดเมื่อแม่น้ำสูง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8997696" y="5074920"/>
            <a:ext cx="2633472" cy="1188720"/>
          </a:xfrm>
          <a:prstGeom prst="roundRect">
            <a:avLst>
              <a:gd name="adj" fmla="val 7692"/>
            </a:avLst>
          </a:prstGeom>
          <a:solidFill>
            <a:srgbClr val="EEF5F9"/>
          </a:solidFill>
          <a:ln w="9525">
            <a:solidFill>
              <a:srgbClr val="EEF5F9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9198864" y="5239512"/>
            <a:ext cx="22494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B3C5D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แยกสาเหตุ</a:t>
            </a:r>
            <a:endParaRPr lang="en-US" sz="1350" dirty="0"/>
          </a:p>
        </p:txBody>
      </p:sp>
      <p:sp>
        <p:nvSpPr>
          <p:cNvPr id="16" name="Text 13"/>
          <p:cNvSpPr txBox="1"/>
          <p:nvPr/>
        </p:nvSpPr>
        <p:spPr>
          <a:xfrm>
            <a:off x="9198864" y="5769864"/>
            <a:ext cx="2231136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spcAft>
                <a:spcPts val="400"/>
              </a:spcAft>
              <a:buNone/>
            </a:pPr>
            <a:r>
              <a:rPr lang="en-US" sz="1100" dirty="0">
                <a:solidFill>
                  <a:srgbClr val="1E293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รัน 2 รอบ มี/ไม่มีน้ำล้นตลิ่ง เพื่อแยกฝนกับแม่น้ำ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4748B"/>
                </a:solidFill>
                <a:latin typeface="Prompt"/>
                <a:ea typeface="Prompt"/>
                <a:cs typeface="Prompt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1B998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วิธีการ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3C5D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วิธีคำนวณระยะเวลาท่วม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914400" y="2971800"/>
            <a:ext cx="10332720" cy="0"/>
          </a:xfrm>
          <a:prstGeom prst="line">
            <a:avLst/>
          </a:prstGeom>
          <a:noFill/>
          <a:ln w="19050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5" name="Shape 3"/>
          <p:cNvSpPr/>
          <p:nvPr/>
        </p:nvSpPr>
        <p:spPr>
          <a:xfrm>
            <a:off x="914400" y="2148840"/>
            <a:ext cx="4846320" cy="640080"/>
          </a:xfrm>
          <a:prstGeom prst="roundRect">
            <a:avLst>
              <a:gd name="adj" fmla="val 11429"/>
            </a:avLst>
          </a:prstGeom>
          <a:solidFill>
            <a:srgbClr val="D7EEF6"/>
          </a:solidFill>
          <a:ln w="12700">
            <a:solidFill>
              <a:srgbClr val="D7EEF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05840" y="2148840"/>
            <a:ext cx="4663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3C5D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ท่วมมาแล้ว: ชั่วโมงต่อเนื่องที่ลึกตั้งแต่ 10 ซม.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943600" y="2148840"/>
            <a:ext cx="5212080" cy="640080"/>
          </a:xfrm>
          <a:prstGeom prst="roundRect">
            <a:avLst>
              <a:gd name="adj" fmla="val 11429"/>
            </a:avLst>
          </a:prstGeom>
          <a:solidFill>
            <a:srgbClr val="EDE7FE"/>
          </a:solidFill>
          <a:ln w="12700">
            <a:solidFill>
              <a:srgbClr val="EDE7FE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035040" y="2148840"/>
            <a:ext cx="5029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7C3AED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คาดลดใน: ชั่วโมงแรกที่ต่ำกว่า 10 ซม.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742432" y="2862072"/>
            <a:ext cx="219456" cy="219456"/>
          </a:xfrm>
          <a:prstGeom prst="ellipse">
            <a:avLst/>
          </a:prstGeom>
          <a:solidFill>
            <a:srgbClr val="D64545"/>
          </a:solidFill>
          <a:ln w="12700">
            <a:solidFill>
              <a:srgbClr val="D64545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394960" y="313639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64545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ตอนนี้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914400" y="3136392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ย้อนหลัง 30 วัน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7589520" y="313639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+72 ชม. → ต่อด้วยอัตราน้ำลด (สูงสุด 14 วัน)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48640" y="3840480"/>
            <a:ext cx="3547872" cy="2331720"/>
          </a:xfrm>
          <a:prstGeom prst="roundRect">
            <a:avLst>
              <a:gd name="adj" fmla="val 3922"/>
            </a:avLst>
          </a:prstGeom>
          <a:solidFill>
            <a:srgbClr val="EEF5F9"/>
          </a:solidFill>
          <a:ln w="9525">
            <a:solidFill>
              <a:srgbClr val="EEF5F9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49808" y="4023360"/>
            <a:ext cx="384048" cy="384048"/>
          </a:xfrm>
          <a:prstGeom prst="ellipse">
            <a:avLst/>
          </a:prstGeom>
          <a:solidFill>
            <a:srgbClr val="1B998B"/>
          </a:solidFill>
          <a:ln w="12700">
            <a:solidFill>
              <a:srgbClr val="1B998B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49808" y="4023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1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1261872" y="4005072"/>
            <a:ext cx="2651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3C5D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น้ำฝนขัง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749808" y="4535424"/>
            <a:ext cx="3145536" cy="1499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spcAft>
                <a:spcPts val="400"/>
              </a:spcAft>
              <a:buNone/>
            </a:pPr>
            <a:r>
              <a:rPr lang="en-US" sz="1400" dirty="0">
                <a:solidFill>
                  <a:srgbClr val="1E293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จำลองฝนย้อนหลัง 30 วันต่อเนื่อง (cold start) · ไปข้างหน้าด้วยฝนพยากรณ์ 72 ชม. · เกิน 72 ชม. ใช้อัตราการลดใน 12 ชม. สุดท้าย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4279392" y="3840480"/>
            <a:ext cx="3547872" cy="2331720"/>
          </a:xfrm>
          <a:prstGeom prst="roundRect">
            <a:avLst>
              <a:gd name="adj" fmla="val 3922"/>
            </a:avLst>
          </a:prstGeom>
          <a:solidFill>
            <a:srgbClr val="EEF5F9"/>
          </a:solidFill>
          <a:ln w="9525">
            <a:solidFill>
              <a:srgbClr val="EEF5F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480560" y="4023360"/>
            <a:ext cx="384048" cy="384048"/>
          </a:xfrm>
          <a:prstGeom prst="ellipse">
            <a:avLst/>
          </a:prstGeom>
          <a:solidFill>
            <a:srgbClr val="1B998B"/>
          </a:solidFill>
          <a:ln w="12700">
            <a:solidFill>
              <a:srgbClr val="1B998B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480560" y="4023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2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4992624" y="4005072"/>
            <a:ext cx="2651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3C5D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น้ำล้นตลิ่ง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4480560" y="4535424"/>
            <a:ext cx="3145536" cy="1499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spcAft>
                <a:spcPts val="400"/>
              </a:spcAft>
              <a:buNone/>
            </a:pPr>
            <a:r>
              <a:rPr lang="en-US" sz="1400" dirty="0">
                <a:solidFill>
                  <a:srgbClr val="1E293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ท่วมมาแล้ว = นับจากเวลาที่สถานีหลักของลำน้ำ (≤ 10 กม.) ขึ้นเหนือตลิ่ง · ปริมาณน้ำในแม่น้ำลดตาม recession ที่วัดจากช่วงน้ำลดจริง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8010144" y="3840480"/>
            <a:ext cx="3547872" cy="2331720"/>
          </a:xfrm>
          <a:prstGeom prst="roundRect">
            <a:avLst>
              <a:gd name="adj" fmla="val 3922"/>
            </a:avLst>
          </a:prstGeom>
          <a:solidFill>
            <a:srgbClr val="EEF5F9"/>
          </a:solidFill>
          <a:ln w="9525">
            <a:solidFill>
              <a:srgbClr val="EEF5F9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8211312" y="4023360"/>
            <a:ext cx="384048" cy="384048"/>
          </a:xfrm>
          <a:prstGeom prst="ellipse">
            <a:avLst/>
          </a:prstGeom>
          <a:solidFill>
            <a:srgbClr val="1B998B"/>
          </a:solidFill>
          <a:ln w="12700">
            <a:solidFill>
              <a:srgbClr val="1B998B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8211312" y="4023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3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8723376" y="4005072"/>
            <a:ext cx="2651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3C5D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สรุปรายอำเภอ</a:t>
            </a:r>
            <a:endParaRPr lang="en-US" sz="1600" dirty="0"/>
          </a:p>
        </p:txBody>
      </p:sp>
      <p:sp>
        <p:nvSpPr>
          <p:cNvPr id="27" name="Text 25"/>
          <p:cNvSpPr txBox="1"/>
          <p:nvPr/>
        </p:nvSpPr>
        <p:spPr>
          <a:xfrm>
            <a:off x="8211312" y="4535424"/>
            <a:ext cx="3145536" cy="1499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spcAft>
                <a:spcPts val="400"/>
              </a:spcAft>
              <a:buNone/>
            </a:pPr>
            <a:r>
              <a:rPr lang="en-US" sz="1400" dirty="0">
                <a:solidFill>
                  <a:srgbClr val="1E293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มัธยฐานถ่วงพื้นที่ท่วมจริง · ค่าสูงสุด · พื้นที่แยก 5 ช่วง: &lt; 1, 1–3, 3–7, 7–14, &gt; 14 วัน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4748B"/>
                </a:solidFill>
                <a:latin typeface="Prompt"/>
                <a:ea typeface="Prompt"/>
                <a:cs typeface="Prompt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1B998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วิธีการ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3C5D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แบบจำลอง 2 มิติ 120 ม. ยืนยันภาพในจุดวิกฤต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93776" y="1453896"/>
            <a:ext cx="5961888" cy="4544568"/>
          </a:xfrm>
          <a:prstGeom prst="roundRect">
            <a:avLst>
              <a:gd name="adj" fmla="val 1610"/>
            </a:avLst>
          </a:prstGeom>
          <a:solidFill>
            <a:srgbClr val="FFFFFF"/>
          </a:solidFill>
          <a:ln w="9525">
            <a:solidFill>
              <a:srgbClr val="D5DE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/home/claude/rpt/img/crop_2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508760"/>
            <a:ext cx="5852160" cy="443484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6720840" y="1508760"/>
            <a:ext cx="4919472" cy="1051560"/>
          </a:xfrm>
          <a:prstGeom prst="roundRect">
            <a:avLst>
              <a:gd name="adj" fmla="val 8696"/>
            </a:avLst>
          </a:prstGeom>
          <a:solidFill>
            <a:srgbClr val="EEF5F9"/>
          </a:solidFill>
          <a:ln w="12700">
            <a:solidFill>
              <a:srgbClr val="EEF5F9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6949440" y="1673352"/>
            <a:ext cx="4553712" cy="5257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3C5D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52.8 → 70.4</a:t>
            </a:r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  ตร.กม.</a:t>
            </a:r>
            <a:endParaRPr lang="en-US" sz="2400" dirty="0"/>
          </a:p>
        </p:txBody>
      </p:sp>
      <p:sp>
        <p:nvSpPr>
          <p:cNvPr id="8" name="Text 5"/>
          <p:cNvSpPr txBox="1"/>
          <p:nvPr/>
        </p:nvSpPr>
        <p:spPr>
          <a:xfrm>
            <a:off x="6949440" y="2097634"/>
            <a:ext cx="455371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ลาดยาว–แม่วงก์ (สะแกกรัง) · ตอนนี้ → สูงสุด 72 ชม.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6720840" y="2697480"/>
            <a:ext cx="4919472" cy="1051560"/>
          </a:xfrm>
          <a:prstGeom prst="roundRect">
            <a:avLst>
              <a:gd name="adj" fmla="val 8696"/>
            </a:avLst>
          </a:prstGeom>
          <a:solidFill>
            <a:srgbClr val="EEF5F9"/>
          </a:solidFill>
          <a:ln w="12700">
            <a:solidFill>
              <a:srgbClr val="EEF5F9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949440" y="2862072"/>
            <a:ext cx="4553712" cy="5257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998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7.9 → 8.4</a:t>
            </a:r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  ตร.กม.</a:t>
            </a:r>
            <a:endParaRPr lang="en-US" sz="2400" dirty="0"/>
          </a:p>
        </p:txBody>
      </p:sp>
      <p:sp>
        <p:nvSpPr>
          <p:cNvPr id="11" name="Text 8"/>
          <p:cNvSpPr txBox="1"/>
          <p:nvPr/>
        </p:nvSpPr>
        <p:spPr>
          <a:xfrm>
            <a:off x="6949440" y="3286354"/>
            <a:ext cx="455371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เมืองนครสวรรค์ (ปากน้ำโพ) · ตอนนี้ → สูงสุด 72 ชม.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6720840" y="3886200"/>
            <a:ext cx="4919472" cy="1051560"/>
          </a:xfrm>
          <a:prstGeom prst="roundRect">
            <a:avLst>
              <a:gd name="adj" fmla="val 8696"/>
            </a:avLst>
          </a:prstGeom>
          <a:solidFill>
            <a:srgbClr val="EEF5F9"/>
          </a:solidFill>
          <a:ln w="12700">
            <a:solidFill>
              <a:srgbClr val="EEF5F9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6949440" y="4050792"/>
            <a:ext cx="4553712" cy="5257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2A541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0.7 → 0.7</a:t>
            </a:r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  ตร.กม.</a:t>
            </a:r>
            <a:endParaRPr lang="en-US" sz="2400" dirty="0"/>
          </a:p>
        </p:txBody>
      </p:sp>
      <p:sp>
        <p:nvSpPr>
          <p:cNvPr id="14" name="Text 11"/>
          <p:cNvSpPr txBox="1"/>
          <p:nvPr/>
        </p:nvSpPr>
        <p:spPr>
          <a:xfrm>
            <a:off x="6949440" y="4475074"/>
            <a:ext cx="455371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ชุมแสง (น่าน–ยม) · ตอนนี้ → สูงสุด 72 ชม.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6720840" y="5120640"/>
            <a:ext cx="4919472" cy="100584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9525">
            <a:solidFill>
              <a:srgbClr val="D5DEE6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922008" y="5303520"/>
            <a:ext cx="451713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spcAft>
                <a:spcPts val="400"/>
              </a:spcAft>
              <a:buNone/>
            </a:pPr>
            <a:r>
              <a:rPr lang="en-US" sz="1150" dirty="0">
                <a:solidFill>
                  <a:srgbClr val="1E293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Local-inertial (Bates et al. 2010) · เริ่มจากสภาพน้ำของโมเดล hex เมื่อ 48 ชม.ก่อน · ระดับน้ำสถานีเป็นขอบเขตแม่น้ำ มีตลิ่งกั้น · รันทุก 6 ชม. และส่งออกให้ HEC-RAS 2D ได้</a:t>
            </a:r>
            <a:endParaRPr lang="en-US" sz="1150" dirty="0"/>
          </a:p>
        </p:txBody>
      </p:sp>
      <p:sp>
        <p:nvSpPr>
          <p:cNvPr id="17" name="Text 14"/>
          <p:cNvSpPr txBox="1"/>
          <p:nvPr/>
        </p:nvSpPr>
        <p:spPr>
          <a:xfrm>
            <a:off x="548640" y="6400800"/>
            <a:ext cx="99971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ภาพ: ความลึกน้ำจากแบบจำลอง 2D ลาดยาว–แม่วงก์ (สะแกกรัง) ซ้อนกับ hex และสถานีระดับน้ำ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4748B"/>
                </a:solidFill>
                <a:latin typeface="Prompt"/>
                <a:ea typeface="Prompt"/>
                <a:cs typeface="Prompt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1B998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คุณภาพผลลัพธ์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3C5D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การสอบเทียบ: ความคลาดเคลื่อนลดลง 43% เมื่อเทียบกับแบบจำลอง 2D</a:t>
            </a:r>
            <a:endParaRPr lang="en-US" sz="28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463040"/>
          <a:ext cx="5760720" cy="4480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6675120" y="1554480"/>
            <a:ext cx="4965192" cy="3017520"/>
          </a:xfrm>
          <a:prstGeom prst="roundRect">
            <a:avLst>
              <a:gd name="adj" fmla="val 3030"/>
            </a:avLst>
          </a:prstGeom>
          <a:solidFill>
            <a:srgbClr val="EEF5F9"/>
          </a:solidFill>
          <a:ln w="9525">
            <a:solidFill>
              <a:srgbClr val="EEF5F9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876288" y="1719072"/>
            <a:ext cx="458114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3C5D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สิ่งที่การสอบเทียบบอก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6876288" y="2249424"/>
            <a:ext cx="4562856" cy="2185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5000"/>
              </a:lnSpc>
              <a:spcAft>
                <a:spcPts val="400"/>
              </a:spcAft>
              <a:buSzPct val="100000"/>
              <a:buChar char="•"/>
            </a:pPr>
            <a:r>
              <a:rPr lang="en-US" sz="1450" dirty="0">
                <a:solidFill>
                  <a:srgbClr val="1E293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ค่าที่ใช้: t_mult 0.5 · weir_c 0.05 · dcap_mult 1.7</a:t>
            </a:r>
            <a:endParaRPr lang="en-US" sz="1450" dirty="0"/>
          </a:p>
          <a:p>
            <a:pPr marL="177800" indent="-177800">
              <a:lnSpc>
                <a:spcPct val="105000"/>
              </a:lnSpc>
              <a:spcAft>
                <a:spcPts val="400"/>
              </a:spcAft>
              <a:buSzPct val="100000"/>
              <a:buChar char="•"/>
            </a:pPr>
            <a:r>
              <a:rPr lang="en-US" sz="1450" dirty="0">
                <a:solidFill>
                  <a:srgbClr val="1E293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โมเดลเดิมแผ่น้ำข้าม hex มากไป และเก็บน้ำในแอ่ง/คันนาน้อยไป</a:t>
            </a:r>
            <a:endParaRPr lang="en-US" sz="1450" dirty="0"/>
          </a:p>
          <a:p>
            <a:pPr marL="177800" indent="-177800">
              <a:lnSpc>
                <a:spcPct val="105000"/>
              </a:lnSpc>
              <a:spcAft>
                <a:spcPts val="400"/>
              </a:spcAft>
              <a:buSzPct val="100000"/>
              <a:buChar char="•"/>
            </a:pPr>
            <a:r>
              <a:rPr lang="en-US" sz="1450" dirty="0">
                <a:solidFill>
                  <a:srgbClr val="1E293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ระบายเร็วขึ้น 2 เท่าให้ผลใกล้ 2D กว่า</a:t>
            </a:r>
            <a:endParaRPr lang="en-US" sz="1450" dirty="0"/>
          </a:p>
          <a:p>
            <a:pPr marL="177800" indent="-177800">
              <a:lnSpc>
                <a:spcPct val="105000"/>
              </a:lnSpc>
              <a:spcAft>
                <a:spcPts val="400"/>
              </a:spcAft>
              <a:buSzPct val="100000"/>
              <a:buChar char="•"/>
            </a:pPr>
            <a:r>
              <a:rPr lang="en-US" sz="1450" dirty="0">
                <a:solidFill>
                  <a:srgbClr val="1E293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รันซ้ำอัตโนมัติทุกสัปดาห์ (อาทิตย์ 07:00 น.)</a:t>
            </a:r>
            <a:endParaRPr lang="en-US" sz="1450" dirty="0"/>
          </a:p>
        </p:txBody>
      </p:sp>
      <p:sp>
        <p:nvSpPr>
          <p:cNvPr id="8" name="Shape 5"/>
          <p:cNvSpPr/>
          <p:nvPr/>
        </p:nvSpPr>
        <p:spPr>
          <a:xfrm>
            <a:off x="6675120" y="4754880"/>
            <a:ext cx="4965192" cy="1371600"/>
          </a:xfrm>
          <a:prstGeom prst="roundRect">
            <a:avLst>
              <a:gd name="adj" fmla="val 6667"/>
            </a:avLst>
          </a:prstGeom>
          <a:solidFill>
            <a:srgbClr val="FFF4E5"/>
          </a:solidFill>
          <a:ln w="9525">
            <a:solidFill>
              <a:srgbClr val="FFF4E5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876288" y="4919472"/>
            <a:ext cx="458114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3C5D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ข้อควรระวัง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6876288" y="5449824"/>
            <a:ext cx="4562856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spcAft>
                <a:spcPts val="400"/>
              </a:spcAft>
              <a:buNone/>
            </a:pPr>
            <a:r>
              <a:rPr lang="en-US" sz="1350" dirty="0">
                <a:solidFill>
                  <a:srgbClr val="1E293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เทียบกับแบบจำลอง 2D จากเหตุการณ์เดียว ยังไม่ได้เทียบกับพื้นที่ท่วมจริงจากดาวเทียม GISTDA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4748B"/>
                </a:solidFill>
                <a:latin typeface="Prompt"/>
                <a:ea typeface="Prompt"/>
                <a:cs typeface="Prompt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1B998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ข้อมูลอ้างอิง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3C5D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แหล่งข้อมูลที่ใช้</a:t>
            </a:r>
            <a:endParaRPr lang="en-US" sz="28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94415" cy="914400"/>
        </p:xfrm>
        <a:graphic>
          <a:graphicData uri="http://schemas.openxmlformats.org/drawingml/2006/table">
            <a:tbl>
              <a:tblPr/>
              <a:tblGrid>
                <a:gridCol w="3017520"/>
                <a:gridCol w="3108960"/>
                <a:gridCol w="1280160"/>
                <a:gridCol w="3685032"/>
              </a:tblGrid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Prompt" pitchFamily="34" charset="0"/>
                          <a:ea typeface="Prompt" pitchFamily="34" charset="-122"/>
                          <a:cs typeface="Prompt" pitchFamily="34" charset="-120"/>
                        </a:rPr>
                        <a:t>ข้อมูล</a:t>
                      </a:r>
                      <a:endParaRPr lang="en-US" sz="1200" dirty="0">
                        <a:latin typeface="Prompt" charset="0"/>
                        <a:ea typeface="Prompt" charset="0"/>
                        <a:cs typeface="Promp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Prompt" pitchFamily="34" charset="0"/>
                          <a:ea typeface="Prompt" pitchFamily="34" charset="-122"/>
                          <a:cs typeface="Prompt" pitchFamily="34" charset="-120"/>
                        </a:rPr>
                        <a:t>แหล่ง</a:t>
                      </a:r>
                      <a:endParaRPr lang="en-US" sz="1200" dirty="0">
                        <a:latin typeface="Prompt" charset="0"/>
                        <a:ea typeface="Prompt" charset="0"/>
                        <a:cs typeface="Promp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Prompt" pitchFamily="34" charset="0"/>
                          <a:ea typeface="Prompt" pitchFamily="34" charset="-122"/>
                          <a:cs typeface="Prompt" pitchFamily="34" charset="-120"/>
                        </a:rPr>
                        <a:t>ความถี่</a:t>
                      </a:r>
                      <a:endParaRPr lang="en-US" sz="1200" dirty="0">
                        <a:latin typeface="Prompt" charset="0"/>
                        <a:ea typeface="Prompt" charset="0"/>
                        <a:cs typeface="Promp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Prompt" pitchFamily="34" charset="0"/>
                          <a:ea typeface="Prompt" pitchFamily="34" charset="-122"/>
                          <a:cs typeface="Prompt" pitchFamily="34" charset="-120"/>
                        </a:rPr>
                        <a:t>ใช้ทำอะไร</a:t>
                      </a:r>
                      <a:endParaRPr lang="en-US" sz="1200" dirty="0">
                        <a:latin typeface="Prompt" charset="0"/>
                        <a:ea typeface="Prompt" charset="0"/>
                        <a:cs typeface="Promp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5D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E293B"/>
                          </a:solidFill>
                          <a:latin typeface="Prompt" pitchFamily="34" charset="0"/>
                          <a:ea typeface="Prompt" pitchFamily="34" charset="-122"/>
                          <a:cs typeface="Prompt" pitchFamily="34" charset="-120"/>
                        </a:rPr>
                        <a:t>ฝนรายชั่วโมง + พยากรณ์ 72 ชม.</a:t>
                      </a:r>
                      <a:endParaRPr lang="en-US" sz="1150" dirty="0">
                        <a:latin typeface="Prompt" charset="0"/>
                        <a:ea typeface="Prompt" charset="0"/>
                        <a:cs typeface="Promp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E293B"/>
                          </a:solidFill>
                          <a:latin typeface="Prompt" pitchFamily="34" charset="0"/>
                          <a:ea typeface="Prompt" pitchFamily="34" charset="-122"/>
                          <a:cs typeface="Prompt" pitchFamily="34" charset="-120"/>
                        </a:rPr>
                        <a:t>Open-Meteo (ECMWF/GFS)</a:t>
                      </a:r>
                      <a:endParaRPr lang="en-US" sz="1150" dirty="0">
                        <a:latin typeface="Prompt" charset="0"/>
                        <a:ea typeface="Prompt" charset="0"/>
                        <a:cs typeface="Promp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E293B"/>
                          </a:solidFill>
                          <a:latin typeface="Prompt" pitchFamily="34" charset="0"/>
                          <a:ea typeface="Prompt" pitchFamily="34" charset="-122"/>
                          <a:cs typeface="Prompt" pitchFamily="34" charset="-120"/>
                        </a:rPr>
                        <a:t>~1 ชม.</a:t>
                      </a:r>
                      <a:endParaRPr lang="en-US" sz="1150" dirty="0">
                        <a:latin typeface="Prompt" charset="0"/>
                        <a:ea typeface="Prompt" charset="0"/>
                        <a:cs typeface="Promp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E293B"/>
                          </a:solidFill>
                          <a:latin typeface="Prompt" pitchFamily="34" charset="0"/>
                          <a:ea typeface="Prompt" pitchFamily="34" charset="-122"/>
                          <a:cs typeface="Prompt" pitchFamily="34" charset="-120"/>
                        </a:rPr>
                        <a:t>ฝนต่อเนื่องทั้ง 5 จังหวัด</a:t>
                      </a:r>
                      <a:endParaRPr lang="en-US" sz="1150" dirty="0">
                        <a:latin typeface="Prompt" charset="0"/>
                        <a:ea typeface="Prompt" charset="0"/>
                        <a:cs typeface="Promp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E293B"/>
                          </a:solidFill>
                          <a:latin typeface="Prompt" pitchFamily="34" charset="0"/>
                          <a:ea typeface="Prompt" pitchFamily="34" charset="-122"/>
                          <a:cs typeface="Prompt" pitchFamily="34" charset="-120"/>
                        </a:rPr>
                        <a:t>ฝนสถานีโทรมาตร 24 ชม.</a:t>
                      </a:r>
                      <a:endParaRPr lang="en-US" sz="1150" dirty="0">
                        <a:latin typeface="Prompt" charset="0"/>
                        <a:ea typeface="Prompt" charset="0"/>
                        <a:cs typeface="Promp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E293B"/>
                          </a:solidFill>
                          <a:latin typeface="Prompt" pitchFamily="34" charset="0"/>
                          <a:ea typeface="Prompt" pitchFamily="34" charset="-122"/>
                          <a:cs typeface="Prompt" pitchFamily="34" charset="-120"/>
                        </a:rPr>
                        <a:t>ThaiWater (สสน.)</a:t>
                      </a:r>
                      <a:endParaRPr lang="en-US" sz="1150" dirty="0">
                        <a:latin typeface="Prompt" charset="0"/>
                        <a:ea typeface="Prompt" charset="0"/>
                        <a:cs typeface="Promp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E293B"/>
                          </a:solidFill>
                          <a:latin typeface="Prompt" pitchFamily="34" charset="0"/>
                          <a:ea typeface="Prompt" pitchFamily="34" charset="-122"/>
                          <a:cs typeface="Prompt" pitchFamily="34" charset="-120"/>
                        </a:rPr>
                        <a:t>10–60 นาที</a:t>
                      </a:r>
                      <a:endParaRPr lang="en-US" sz="1150" dirty="0">
                        <a:latin typeface="Prompt" charset="0"/>
                        <a:ea typeface="Prompt" charset="0"/>
                        <a:cs typeface="Promp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E293B"/>
                          </a:solidFill>
                          <a:latin typeface="Prompt" pitchFamily="34" charset="0"/>
                          <a:ea typeface="Prompt" pitchFamily="34" charset="-122"/>
                          <a:cs typeface="Prompt" pitchFamily="34" charset="-120"/>
                        </a:rPr>
                        <a:t>ปรับแก้ฝนแบบจำลอง (798 สถานี)</a:t>
                      </a:r>
                      <a:endParaRPr lang="en-US" sz="1150" dirty="0">
                        <a:latin typeface="Prompt" charset="0"/>
                        <a:ea typeface="Prompt" charset="0"/>
                        <a:cs typeface="Promp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E293B"/>
                          </a:solidFill>
                          <a:latin typeface="Prompt" pitchFamily="34" charset="0"/>
                          <a:ea typeface="Prompt" pitchFamily="34" charset="-122"/>
                          <a:cs typeface="Prompt" pitchFamily="34" charset="-120"/>
                        </a:rPr>
                        <a:t>ระดับน้ำ ปริมาณน้ำ ความจุลำน้ำ</a:t>
                      </a:r>
                      <a:endParaRPr lang="en-US" sz="1150" dirty="0">
                        <a:latin typeface="Prompt" charset="0"/>
                        <a:ea typeface="Prompt" charset="0"/>
                        <a:cs typeface="Promp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E293B"/>
                          </a:solidFill>
                          <a:latin typeface="Prompt" pitchFamily="34" charset="0"/>
                          <a:ea typeface="Prompt" pitchFamily="34" charset="-122"/>
                          <a:cs typeface="Prompt" pitchFamily="34" charset="-120"/>
                        </a:rPr>
                        <a:t>ThaiWater / กรมชลประทาน</a:t>
                      </a:r>
                      <a:endParaRPr lang="en-US" sz="1150" dirty="0">
                        <a:latin typeface="Prompt" charset="0"/>
                        <a:ea typeface="Prompt" charset="0"/>
                        <a:cs typeface="Promp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E293B"/>
                          </a:solidFill>
                          <a:latin typeface="Prompt" pitchFamily="34" charset="0"/>
                          <a:ea typeface="Prompt" pitchFamily="34" charset="-122"/>
                          <a:cs typeface="Prompt" pitchFamily="34" charset="-120"/>
                        </a:rPr>
                        <a:t>10–60 นาที</a:t>
                      </a:r>
                      <a:endParaRPr lang="en-US" sz="1150" dirty="0">
                        <a:latin typeface="Prompt" charset="0"/>
                        <a:ea typeface="Prompt" charset="0"/>
                        <a:cs typeface="Promp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E293B"/>
                          </a:solidFill>
                          <a:latin typeface="Prompt" pitchFamily="34" charset="0"/>
                          <a:ea typeface="Prompt" pitchFamily="34" charset="-122"/>
                          <a:cs typeface="Prompt" pitchFamily="34" charset="-120"/>
                        </a:rPr>
                        <a:t>น้ำล้นตลิ่ง backwater hydrograph</a:t>
                      </a:r>
                      <a:endParaRPr lang="en-US" sz="1150" dirty="0">
                        <a:latin typeface="Prompt" charset="0"/>
                        <a:ea typeface="Prompt" charset="0"/>
                        <a:cs typeface="Promp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E293B"/>
                          </a:solidFill>
                          <a:latin typeface="Prompt" pitchFamily="34" charset="0"/>
                          <a:ea typeface="Prompt" pitchFamily="34" charset="-122"/>
                          <a:cs typeface="Prompt" pitchFamily="34" charset="-120"/>
                        </a:rPr>
                        <a:t>ประวัติระดับน้ำรายชั่วโมง 30 วัน</a:t>
                      </a:r>
                      <a:endParaRPr lang="en-US" sz="1150" dirty="0">
                        <a:latin typeface="Prompt" charset="0"/>
                        <a:ea typeface="Prompt" charset="0"/>
                        <a:cs typeface="Promp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E293B"/>
                          </a:solidFill>
                          <a:latin typeface="Prompt" pitchFamily="34" charset="0"/>
                          <a:ea typeface="Prompt" pitchFamily="34" charset="-122"/>
                          <a:cs typeface="Prompt" pitchFamily="34" charset="-120"/>
                        </a:rPr>
                        <a:t>ThaiWater waterlevel_graph</a:t>
                      </a:r>
                      <a:endParaRPr lang="en-US" sz="1150" dirty="0">
                        <a:latin typeface="Prompt" charset="0"/>
                        <a:ea typeface="Prompt" charset="0"/>
                        <a:cs typeface="Promp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E293B"/>
                          </a:solidFill>
                          <a:latin typeface="Prompt" pitchFamily="34" charset="0"/>
                          <a:ea typeface="Prompt" pitchFamily="34" charset="-122"/>
                          <a:cs typeface="Prompt" pitchFamily="34" charset="-120"/>
                        </a:rPr>
                        <a:t>ทุกรอบ</a:t>
                      </a:r>
                      <a:endParaRPr lang="en-US" sz="1150" dirty="0">
                        <a:latin typeface="Prompt" charset="0"/>
                        <a:ea typeface="Prompt" charset="0"/>
                        <a:cs typeface="Promp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E293B"/>
                          </a:solidFill>
                          <a:latin typeface="Prompt" pitchFamily="34" charset="0"/>
                          <a:ea typeface="Prompt" pitchFamily="34" charset="-122"/>
                          <a:cs typeface="Prompt" pitchFamily="34" charset="-120"/>
                        </a:rPr>
                        <a:t>rating curve · อัตราน้ำลด</a:t>
                      </a:r>
                      <a:endParaRPr lang="en-US" sz="1150" dirty="0">
                        <a:latin typeface="Prompt" charset="0"/>
                        <a:ea typeface="Prompt" charset="0"/>
                        <a:cs typeface="Promp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E293B"/>
                          </a:solidFill>
                          <a:latin typeface="Prompt" pitchFamily="34" charset="0"/>
                          <a:ea typeface="Prompt" pitchFamily="34" charset="-122"/>
                          <a:cs typeface="Prompt" pitchFamily="34" charset="-120"/>
                        </a:rPr>
                        <a:t>พื้นที่น้ำท่วมจากดาวเทียม</a:t>
                      </a:r>
                      <a:endParaRPr lang="en-US" sz="1150" dirty="0">
                        <a:latin typeface="Prompt" charset="0"/>
                        <a:ea typeface="Prompt" charset="0"/>
                        <a:cs typeface="Promp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E293B"/>
                          </a:solidFill>
                          <a:latin typeface="Prompt" pitchFamily="34" charset="0"/>
                          <a:ea typeface="Prompt" pitchFamily="34" charset="-122"/>
                          <a:cs typeface="Prompt" pitchFamily="34" charset="-120"/>
                        </a:rPr>
                        <a:t>GISTDA Disaster API</a:t>
                      </a:r>
                      <a:endParaRPr lang="en-US" sz="1150" dirty="0">
                        <a:latin typeface="Prompt" charset="0"/>
                        <a:ea typeface="Prompt" charset="0"/>
                        <a:cs typeface="Promp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E293B"/>
                          </a:solidFill>
                          <a:latin typeface="Prompt" pitchFamily="34" charset="0"/>
                          <a:ea typeface="Prompt" pitchFamily="34" charset="-122"/>
                          <a:cs typeface="Prompt" pitchFamily="34" charset="-120"/>
                        </a:rPr>
                        <a:t>รายวัน</a:t>
                      </a:r>
                      <a:endParaRPr lang="en-US" sz="1150" dirty="0">
                        <a:latin typeface="Prompt" charset="0"/>
                        <a:ea typeface="Prompt" charset="0"/>
                        <a:cs typeface="Promp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E293B"/>
                          </a:solidFill>
                          <a:latin typeface="Prompt" pitchFamily="34" charset="0"/>
                          <a:ea typeface="Prompt" pitchFamily="34" charset="-122"/>
                          <a:cs typeface="Prompt" pitchFamily="34" charset="-120"/>
                        </a:rPr>
                        <a:t>แสดงเทียบ (ต้องมี API key)</a:t>
                      </a:r>
                      <a:endParaRPr lang="en-US" sz="1150" dirty="0">
                        <a:latin typeface="Prompt" charset="0"/>
                        <a:ea typeface="Prompt" charset="0"/>
                        <a:cs typeface="Promp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E293B"/>
                          </a:solidFill>
                          <a:latin typeface="Prompt" pitchFamily="34" charset="0"/>
                          <a:ea typeface="Prompt" pitchFamily="34" charset="-122"/>
                          <a:cs typeface="Prompt" pitchFamily="34" charset="-120"/>
                        </a:rPr>
                        <a:t>DEM 30 ม. / 90 ม.</a:t>
                      </a:r>
                      <a:endParaRPr lang="en-US" sz="1150" dirty="0">
                        <a:latin typeface="Prompt" charset="0"/>
                        <a:ea typeface="Prompt" charset="0"/>
                        <a:cs typeface="Promp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E293B"/>
                          </a:solidFill>
                          <a:latin typeface="Prompt" pitchFamily="34" charset="0"/>
                          <a:ea typeface="Prompt" pitchFamily="34" charset="-122"/>
                          <a:cs typeface="Prompt" pitchFamily="34" charset="-120"/>
                        </a:rPr>
                        <a:t>FABDEM V1-2 · Copernicus GLO-30</a:t>
                      </a:r>
                      <a:endParaRPr lang="en-US" sz="1150" dirty="0">
                        <a:latin typeface="Prompt" charset="0"/>
                        <a:ea typeface="Prompt" charset="0"/>
                        <a:cs typeface="Promp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E293B"/>
                          </a:solidFill>
                          <a:latin typeface="Prompt" pitchFamily="34" charset="0"/>
                          <a:ea typeface="Prompt" pitchFamily="34" charset="-122"/>
                          <a:cs typeface="Prompt" pitchFamily="34" charset="-120"/>
                        </a:rPr>
                        <a:t>คงที่</a:t>
                      </a:r>
                      <a:endParaRPr lang="en-US" sz="1150" dirty="0">
                        <a:latin typeface="Prompt" charset="0"/>
                        <a:ea typeface="Prompt" charset="0"/>
                        <a:cs typeface="Promp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E293B"/>
                          </a:solidFill>
                          <a:latin typeface="Prompt" pitchFamily="34" charset="0"/>
                          <a:ea typeface="Prompt" pitchFamily="34" charset="-122"/>
                          <a:cs typeface="Prompt" pitchFamily="34" charset="-120"/>
                        </a:rPr>
                        <a:t>ทิศการไหล HAND แอ่ง เครือข่าย</a:t>
                      </a:r>
                      <a:endParaRPr lang="en-US" sz="1150" dirty="0">
                        <a:latin typeface="Prompt" charset="0"/>
                        <a:ea typeface="Prompt" charset="0"/>
                        <a:cs typeface="Promp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E293B"/>
                          </a:solidFill>
                          <a:latin typeface="Prompt" pitchFamily="34" charset="0"/>
                          <a:ea typeface="Prompt" pitchFamily="34" charset="-122"/>
                          <a:cs typeface="Prompt" pitchFamily="34" charset="-120"/>
                        </a:rPr>
                        <a:t>สิ่งปกคลุมดิน</a:t>
                      </a:r>
                      <a:endParaRPr lang="en-US" sz="1150" dirty="0">
                        <a:latin typeface="Prompt" charset="0"/>
                        <a:ea typeface="Prompt" charset="0"/>
                        <a:cs typeface="Promp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E293B"/>
                          </a:solidFill>
                          <a:latin typeface="Prompt" pitchFamily="34" charset="0"/>
                          <a:ea typeface="Prompt" pitchFamily="34" charset="-122"/>
                          <a:cs typeface="Prompt" pitchFamily="34" charset="-120"/>
                        </a:rPr>
                        <a:t>ESA WorldCover 2021</a:t>
                      </a:r>
                      <a:endParaRPr lang="en-US" sz="1150" dirty="0">
                        <a:latin typeface="Prompt" charset="0"/>
                        <a:ea typeface="Prompt" charset="0"/>
                        <a:cs typeface="Promp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E293B"/>
                          </a:solidFill>
                          <a:latin typeface="Prompt" pitchFamily="34" charset="0"/>
                          <a:ea typeface="Prompt" pitchFamily="34" charset="-122"/>
                          <a:cs typeface="Prompt" pitchFamily="34" charset="-120"/>
                        </a:rPr>
                        <a:t>คงที่</a:t>
                      </a:r>
                      <a:endParaRPr lang="en-US" sz="1150" dirty="0">
                        <a:latin typeface="Prompt" charset="0"/>
                        <a:ea typeface="Prompt" charset="0"/>
                        <a:cs typeface="Promp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E293B"/>
                          </a:solidFill>
                          <a:latin typeface="Prompt" pitchFamily="34" charset="0"/>
                          <a:ea typeface="Prompt" pitchFamily="34" charset="-122"/>
                          <a:cs typeface="Prompt" pitchFamily="34" charset="-120"/>
                        </a:rPr>
                        <a:t>Curve Number · Manning n</a:t>
                      </a:r>
                      <a:endParaRPr lang="en-US" sz="1150" dirty="0">
                        <a:latin typeface="Prompt" charset="0"/>
                        <a:ea typeface="Prompt" charset="0"/>
                        <a:cs typeface="Promp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E293B"/>
                          </a:solidFill>
                          <a:latin typeface="Prompt" pitchFamily="34" charset="0"/>
                          <a:ea typeface="Prompt" pitchFamily="34" charset="-122"/>
                          <a:cs typeface="Prompt" pitchFamily="34" charset="-120"/>
                        </a:rPr>
                        <a:t>ลำน้ำ คลอง คันกั้นน้ำ ประตูน้ำ</a:t>
                      </a:r>
                      <a:endParaRPr lang="en-US" sz="1150" dirty="0">
                        <a:latin typeface="Prompt" charset="0"/>
                        <a:ea typeface="Prompt" charset="0"/>
                        <a:cs typeface="Promp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E293B"/>
                          </a:solidFill>
                          <a:latin typeface="Prompt" pitchFamily="34" charset="0"/>
                          <a:ea typeface="Prompt" pitchFamily="34" charset="-122"/>
                          <a:cs typeface="Prompt" pitchFamily="34" charset="-120"/>
                        </a:rPr>
                        <a:t>OpenStreetMap</a:t>
                      </a:r>
                      <a:endParaRPr lang="en-US" sz="1150" dirty="0">
                        <a:latin typeface="Prompt" charset="0"/>
                        <a:ea typeface="Prompt" charset="0"/>
                        <a:cs typeface="Promp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E293B"/>
                          </a:solidFill>
                          <a:latin typeface="Prompt" pitchFamily="34" charset="0"/>
                          <a:ea typeface="Prompt" pitchFamily="34" charset="-122"/>
                          <a:cs typeface="Prompt" pitchFamily="34" charset="-120"/>
                        </a:rPr>
                        <a:t>คงที่</a:t>
                      </a:r>
                      <a:endParaRPr lang="en-US" sz="1150" dirty="0">
                        <a:latin typeface="Prompt" charset="0"/>
                        <a:ea typeface="Prompt" charset="0"/>
                        <a:cs typeface="Promp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E293B"/>
                          </a:solidFill>
                          <a:latin typeface="Prompt" pitchFamily="34" charset="0"/>
                          <a:ea typeface="Prompt" pitchFamily="34" charset="-122"/>
                          <a:cs typeface="Prompt" pitchFamily="34" charset="-120"/>
                        </a:rPr>
                        <a:t>burn DEM · โครงสร้างระบายน้ำ</a:t>
                      </a:r>
                      <a:endParaRPr lang="en-US" sz="1150" dirty="0">
                        <a:latin typeface="Prompt" charset="0"/>
                        <a:ea typeface="Prompt" charset="0"/>
                        <a:cs typeface="Promp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E293B"/>
                          </a:solidFill>
                          <a:latin typeface="Prompt" pitchFamily="34" charset="0"/>
                          <a:ea typeface="Prompt" pitchFamily="34" charset="-122"/>
                          <a:cs typeface="Prompt" pitchFamily="34" charset="-120"/>
                        </a:rPr>
                        <a:t>ขอบเขตจังหวัด/อำเภอ</a:t>
                      </a:r>
                      <a:endParaRPr lang="en-US" sz="1150" dirty="0">
                        <a:latin typeface="Prompt" charset="0"/>
                        <a:ea typeface="Prompt" charset="0"/>
                        <a:cs typeface="Promp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E293B"/>
                          </a:solidFill>
                          <a:latin typeface="Prompt" pitchFamily="34" charset="0"/>
                          <a:ea typeface="Prompt" pitchFamily="34" charset="-122"/>
                          <a:cs typeface="Prompt" pitchFamily="34" charset="-120"/>
                        </a:rPr>
                        <a:t>geoBoundaries</a:t>
                      </a:r>
                      <a:endParaRPr lang="en-US" sz="1150" dirty="0">
                        <a:latin typeface="Prompt" charset="0"/>
                        <a:ea typeface="Prompt" charset="0"/>
                        <a:cs typeface="Promp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E293B"/>
                          </a:solidFill>
                          <a:latin typeface="Prompt" pitchFamily="34" charset="0"/>
                          <a:ea typeface="Prompt" pitchFamily="34" charset="-122"/>
                          <a:cs typeface="Prompt" pitchFamily="34" charset="-120"/>
                        </a:rPr>
                        <a:t>คงที่</a:t>
                      </a:r>
                      <a:endParaRPr lang="en-US" sz="1150" dirty="0">
                        <a:latin typeface="Prompt" charset="0"/>
                        <a:ea typeface="Prompt" charset="0"/>
                        <a:cs typeface="Promp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E293B"/>
                          </a:solidFill>
                          <a:latin typeface="Prompt" pitchFamily="34" charset="0"/>
                          <a:ea typeface="Prompt" pitchFamily="34" charset="-122"/>
                          <a:cs typeface="Prompt" pitchFamily="34" charset="-120"/>
                        </a:rPr>
                        <a:t>hex และสรุปรายอำเภอ</a:t>
                      </a:r>
                      <a:endParaRPr lang="en-US" sz="1150" dirty="0">
                        <a:latin typeface="Prompt" charset="0"/>
                        <a:ea typeface="Prompt" charset="0"/>
                        <a:cs typeface="Promp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E293B"/>
                          </a:solidFill>
                          <a:latin typeface="Prompt" pitchFamily="34" charset="0"/>
                          <a:ea typeface="Prompt" pitchFamily="34" charset="-122"/>
                          <a:cs typeface="Prompt" pitchFamily="34" charset="-120"/>
                        </a:rPr>
                        <a:t>ภาพฝน/เรดาร์ประกอบ</a:t>
                      </a:r>
                      <a:endParaRPr lang="en-US" sz="1150" dirty="0">
                        <a:latin typeface="Prompt" charset="0"/>
                        <a:ea typeface="Prompt" charset="0"/>
                        <a:cs typeface="Promp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E293B"/>
                          </a:solidFill>
                          <a:latin typeface="Prompt" pitchFamily="34" charset="0"/>
                          <a:ea typeface="Prompt" pitchFamily="34" charset="-122"/>
                          <a:cs typeface="Prompt" pitchFamily="34" charset="-120"/>
                        </a:rPr>
                        <a:t>Windy.com (embed)</a:t>
                      </a:r>
                      <a:endParaRPr lang="en-US" sz="1150" dirty="0">
                        <a:latin typeface="Prompt" charset="0"/>
                        <a:ea typeface="Prompt" charset="0"/>
                        <a:cs typeface="Promp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E293B"/>
                          </a:solidFill>
                          <a:latin typeface="Prompt" pitchFamily="34" charset="0"/>
                          <a:ea typeface="Prompt" pitchFamily="34" charset="-122"/>
                          <a:cs typeface="Prompt" pitchFamily="34" charset="-120"/>
                        </a:rPr>
                        <a:t>–</a:t>
                      </a:r>
                      <a:endParaRPr lang="en-US" sz="1150" dirty="0">
                        <a:latin typeface="Prompt" charset="0"/>
                        <a:ea typeface="Prompt" charset="0"/>
                        <a:cs typeface="Promp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E293B"/>
                          </a:solidFill>
                          <a:latin typeface="Prompt" pitchFamily="34" charset="0"/>
                          <a:ea typeface="Prompt" pitchFamily="34" charset="-122"/>
                          <a:cs typeface="Prompt" pitchFamily="34" charset="-120"/>
                        </a:rPr>
                        <a:t>แสดงผลเท่านั้น</a:t>
                      </a:r>
                      <a:endParaRPr lang="en-US" sz="1150" dirty="0">
                        <a:latin typeface="Prompt" charset="0"/>
                        <a:ea typeface="Prompt" charset="0"/>
                        <a:cs typeface="Prompt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6400800"/>
            <a:ext cx="99971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FABDEM ใช้ได้เฉพาะงานไม่แสวงหากำไร (CC BY-NC-SA 4.0) — ถ้าใช้เชิงพาณิชย์ให้เปลี่ยนเป็น Copernicus DEM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4748B"/>
                </a:solidFill>
                <a:latin typeface="Prompt"/>
                <a:ea typeface="Prompt"/>
                <a:cs typeface="Prompt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1B998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ข้อจำกัด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3C5D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ข้อจำกัดที่ต้องรู้ก่อนนำไปใช้ตัดสินใจ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3547872" cy="2194560"/>
          </a:xfrm>
          <a:prstGeom prst="roundRect">
            <a:avLst>
              <a:gd name="adj" fmla="val 4167"/>
            </a:avLst>
          </a:prstGeom>
          <a:solidFill>
            <a:srgbClr val="EEF5F9"/>
          </a:solidFill>
          <a:ln w="9525">
            <a:solidFill>
              <a:srgbClr val="EEF5F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49808" y="1737360"/>
            <a:ext cx="384048" cy="384048"/>
          </a:xfrm>
          <a:prstGeom prst="ellipse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49808" y="1737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!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261872" y="1719072"/>
            <a:ext cx="2651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3C5D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เป็น screening model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749808" y="2249424"/>
            <a:ext cx="3145536" cy="1362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spcAft>
                <a:spcPts val="400"/>
              </a:spcAft>
              <a:buNone/>
            </a:pPr>
            <a:r>
              <a:rPr lang="en-US" sz="1450" dirty="0">
                <a:solidFill>
                  <a:srgbClr val="1E293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hex 1 ตร.กม. บอกแนวโน้มและจัดลำดับพื้นที่ ความลึกเป็นค่าประมาณ ไม่ใช่ระดับถนน/บ้าน</a:t>
            </a:r>
            <a:endParaRPr lang="en-US" sz="1450" dirty="0"/>
          </a:p>
        </p:txBody>
      </p:sp>
      <p:sp>
        <p:nvSpPr>
          <p:cNvPr id="9" name="Shape 7"/>
          <p:cNvSpPr/>
          <p:nvPr/>
        </p:nvSpPr>
        <p:spPr>
          <a:xfrm>
            <a:off x="4279392" y="1554480"/>
            <a:ext cx="3547872" cy="2194560"/>
          </a:xfrm>
          <a:prstGeom prst="roundRect">
            <a:avLst>
              <a:gd name="adj" fmla="val 4167"/>
            </a:avLst>
          </a:prstGeom>
          <a:solidFill>
            <a:srgbClr val="EEF5F9"/>
          </a:solidFill>
          <a:ln w="9525">
            <a:solidFill>
              <a:srgbClr val="EEF5F9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480560" y="1737360"/>
            <a:ext cx="384048" cy="384048"/>
          </a:xfrm>
          <a:prstGeom prst="ellipse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480560" y="1737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!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4992624" y="1719072"/>
            <a:ext cx="2651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3C5D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ยังไม่ได้ validate กับน้ำท่วมจริง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4480560" y="2249424"/>
            <a:ext cx="3145536" cy="1362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spcAft>
                <a:spcPts val="400"/>
              </a:spcAft>
              <a:buNone/>
            </a:pPr>
            <a:r>
              <a:rPr lang="en-US" sz="1450" dirty="0">
                <a:solidFill>
                  <a:srgbClr val="1E293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สอบเทียบกับแบบจำลอง 2D เหตุการณ์เดียว ยังไม่เทียบ GISTDA หรือข้อมูลภาคสนาม</a:t>
            </a:r>
            <a:endParaRPr lang="en-US" sz="1450" dirty="0"/>
          </a:p>
        </p:txBody>
      </p:sp>
      <p:sp>
        <p:nvSpPr>
          <p:cNvPr id="14" name="Shape 12"/>
          <p:cNvSpPr/>
          <p:nvPr/>
        </p:nvSpPr>
        <p:spPr>
          <a:xfrm>
            <a:off x="8010144" y="1554480"/>
            <a:ext cx="3547872" cy="2194560"/>
          </a:xfrm>
          <a:prstGeom prst="roundRect">
            <a:avLst>
              <a:gd name="adj" fmla="val 4167"/>
            </a:avLst>
          </a:prstGeom>
          <a:solidFill>
            <a:srgbClr val="EEF5F9"/>
          </a:solidFill>
          <a:ln w="9525">
            <a:solidFill>
              <a:srgbClr val="EEF5F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211312" y="1737360"/>
            <a:ext cx="384048" cy="384048"/>
          </a:xfrm>
          <a:prstGeom prst="ellipse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211312" y="1737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!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8723376" y="1719072"/>
            <a:ext cx="2651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3C5D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ฝนขึ้นกับแบบจำลองอากาศ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8211312" y="2249424"/>
            <a:ext cx="3145536" cy="1362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spcAft>
                <a:spcPts val="400"/>
              </a:spcAft>
              <a:buNone/>
            </a:pPr>
            <a:r>
              <a:rPr lang="en-US" sz="1450" dirty="0">
                <a:solidFill>
                  <a:srgbClr val="1E293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Open-Meteo สูงกว่าสถานีราว 1.8 เท่าในรอบนี้ (ปรับแก้แล้วเฉพาะ 24 ชม. ล่าสุด)</a:t>
            </a:r>
            <a:endParaRPr lang="en-US" sz="1450" dirty="0"/>
          </a:p>
        </p:txBody>
      </p:sp>
      <p:sp>
        <p:nvSpPr>
          <p:cNvPr id="19" name="Shape 17"/>
          <p:cNvSpPr/>
          <p:nvPr/>
        </p:nvSpPr>
        <p:spPr>
          <a:xfrm>
            <a:off x="548640" y="3931920"/>
            <a:ext cx="3547872" cy="2194560"/>
          </a:xfrm>
          <a:prstGeom prst="roundRect">
            <a:avLst>
              <a:gd name="adj" fmla="val 4167"/>
            </a:avLst>
          </a:prstGeom>
          <a:solidFill>
            <a:srgbClr val="EEF5F9"/>
          </a:solidFill>
          <a:ln w="9525">
            <a:solidFill>
              <a:srgbClr val="EEF5F9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49808" y="4114800"/>
            <a:ext cx="384048" cy="384048"/>
          </a:xfrm>
          <a:prstGeom prst="ellipse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49808" y="4114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!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1261872" y="4096512"/>
            <a:ext cx="2651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3C5D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แม่น้ำและเขื่อน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749808" y="4626864"/>
            <a:ext cx="3145536" cy="1362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spcAft>
                <a:spcPts val="400"/>
              </a:spcAft>
              <a:buNone/>
            </a:pPr>
            <a:r>
              <a:rPr lang="en-US" sz="1450" dirty="0">
                <a:solidFill>
                  <a:srgbClr val="1E293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ไม่ได้พยากรณ์การระบายเขื่อน · recession แบบ exponential เดียว · สถานี Ct.5A ใช้ rating curve</a:t>
            </a:r>
            <a:endParaRPr lang="en-US" sz="1450" dirty="0"/>
          </a:p>
        </p:txBody>
      </p:sp>
      <p:sp>
        <p:nvSpPr>
          <p:cNvPr id="24" name="Shape 22"/>
          <p:cNvSpPr/>
          <p:nvPr/>
        </p:nvSpPr>
        <p:spPr>
          <a:xfrm>
            <a:off x="4279392" y="3931920"/>
            <a:ext cx="3547872" cy="2194560"/>
          </a:xfrm>
          <a:prstGeom prst="roundRect">
            <a:avLst>
              <a:gd name="adj" fmla="val 4167"/>
            </a:avLst>
          </a:prstGeom>
          <a:solidFill>
            <a:srgbClr val="EEF5F9"/>
          </a:solidFill>
          <a:ln w="9525">
            <a:solidFill>
              <a:srgbClr val="EEF5F9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480560" y="4114800"/>
            <a:ext cx="384048" cy="384048"/>
          </a:xfrm>
          <a:prstGeom prst="ellipse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4480560" y="4114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!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4992624" y="4096512"/>
            <a:ext cx="2651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3C5D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โครงสร้างระบายน้ำไม่ครบ</a:t>
            </a:r>
            <a:endParaRPr lang="en-US" sz="1500" dirty="0"/>
          </a:p>
        </p:txBody>
      </p:sp>
      <p:sp>
        <p:nvSpPr>
          <p:cNvPr id="28" name="Text 26"/>
          <p:cNvSpPr txBox="1"/>
          <p:nvPr/>
        </p:nvSpPr>
        <p:spPr>
          <a:xfrm>
            <a:off x="4480560" y="4626864"/>
            <a:ext cx="3145536" cy="1362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spcAft>
                <a:spcPts val="400"/>
              </a:spcAft>
              <a:buNone/>
            </a:pPr>
            <a:r>
              <a:rPr lang="en-US" sz="1450" dirty="0">
                <a:solidFill>
                  <a:srgbClr val="1E293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OSM ไม่มีสถานีสูบในจังหวัด · ประตูน้ำ 20 แห่ง · ต้องเพิ่มข้อมูลจริงใน CSV</a:t>
            </a:r>
            <a:endParaRPr lang="en-US" sz="1450" dirty="0"/>
          </a:p>
        </p:txBody>
      </p:sp>
      <p:sp>
        <p:nvSpPr>
          <p:cNvPr id="29" name="Shape 27"/>
          <p:cNvSpPr/>
          <p:nvPr/>
        </p:nvSpPr>
        <p:spPr>
          <a:xfrm>
            <a:off x="8010144" y="3931920"/>
            <a:ext cx="3547872" cy="2194560"/>
          </a:xfrm>
          <a:prstGeom prst="roundRect">
            <a:avLst>
              <a:gd name="adj" fmla="val 4167"/>
            </a:avLst>
          </a:prstGeom>
          <a:solidFill>
            <a:srgbClr val="EEF5F9"/>
          </a:solidFill>
          <a:ln w="9525">
            <a:solidFill>
              <a:srgbClr val="EEF5F9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211312" y="4114800"/>
            <a:ext cx="384048" cy="384048"/>
          </a:xfrm>
          <a:prstGeom prst="ellipse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8211312" y="4114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!</a:t>
            </a:r>
            <a:endParaRPr lang="en-US" sz="1300" dirty="0"/>
          </a:p>
        </p:txBody>
      </p:sp>
      <p:sp>
        <p:nvSpPr>
          <p:cNvPr id="32" name="Text 30"/>
          <p:cNvSpPr txBox="1"/>
          <p:nvPr/>
        </p:nvSpPr>
        <p:spPr>
          <a:xfrm>
            <a:off x="8723376" y="4096512"/>
            <a:ext cx="2651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3C5D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ระยะเวลาในที่ลาด</a:t>
            </a:r>
            <a:endParaRPr lang="en-US" sz="1500" dirty="0"/>
          </a:p>
        </p:txBody>
      </p:sp>
      <p:sp>
        <p:nvSpPr>
          <p:cNvPr id="33" name="Text 31"/>
          <p:cNvSpPr txBox="1"/>
          <p:nvPr/>
        </p:nvSpPr>
        <p:spPr>
          <a:xfrm>
            <a:off x="8211312" y="4626864"/>
            <a:ext cx="3145536" cy="1362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spcAft>
                <a:spcPts val="400"/>
              </a:spcAft>
              <a:buNone/>
            </a:pPr>
            <a:r>
              <a:rPr lang="en-US" sz="1450" dirty="0">
                <a:solidFill>
                  <a:srgbClr val="1E293B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2.8 ตร.กม. ที่ลาดยาวตะวันตกขึ้น &gt; 14 วัน น่าจะนานเกินจริง (ค่าระบายสอบเทียบจากที่ราบ)</a:t>
            </a:r>
            <a:endParaRPr lang="en-US" sz="14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4748B"/>
                </a:solidFill>
                <a:latin typeface="Prompt"/>
                <a:ea typeface="Prompt"/>
                <a:cs typeface="Prompt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82A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48640"/>
            <a:ext cx="9144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ข้อเสนอขั้นต่อไป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554480"/>
            <a:ext cx="457200" cy="457200"/>
          </a:xfrm>
          <a:prstGeom prst="ellipse">
            <a:avLst/>
          </a:prstGeom>
          <a:solidFill>
            <a:srgbClr val="1B998B"/>
          </a:solidFill>
          <a:ln w="12700">
            <a:solidFill>
              <a:srgbClr val="1B998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554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1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234440" y="1508760"/>
            <a:ext cx="10332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Validate กับน้ำท่วมจริง</a:t>
            </a:r>
            <a:endParaRPr lang="en-US" sz="1700" dirty="0"/>
          </a:p>
          <a:p>
            <a:pPr indent="0" marL="0">
              <a:buNone/>
            </a:pPr>
            <a:r>
              <a:rPr lang="en-US" sz="1300" dirty="0">
                <a:solidFill>
                  <a:srgbClr val="CFE3EE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ขอ GISTDA API key แล้วเพิ่มพื้นที่ท่วมจากดาวเทียมเป็นเป้าหมายการสอบเทียบ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548640" y="2487168"/>
            <a:ext cx="457200" cy="457200"/>
          </a:xfrm>
          <a:prstGeom prst="ellipse">
            <a:avLst/>
          </a:prstGeom>
          <a:solidFill>
            <a:srgbClr val="1B998B"/>
          </a:solidFill>
          <a:ln w="12700">
            <a:solidFill>
              <a:srgbClr val="1B998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248716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2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2441448"/>
            <a:ext cx="10332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ข้อมูลระบายน้ำจริง</a:t>
            </a:r>
            <a:endParaRPr lang="en-US" sz="1700" dirty="0"/>
          </a:p>
          <a:p>
            <a:pPr indent="0" marL="0">
              <a:buNone/>
            </a:pPr>
            <a:r>
              <a:rPr lang="en-US" sz="1300" dirty="0">
                <a:solidFill>
                  <a:srgbClr val="CFE3EE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ความจุสถานีสูบ ประตูระบายน้ำ จาก ชป./อปท. ใส่ใน drainage_assets_user.csv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548640" y="3419856"/>
            <a:ext cx="457200" cy="457200"/>
          </a:xfrm>
          <a:prstGeom prst="ellipse">
            <a:avLst/>
          </a:prstGeom>
          <a:solidFill>
            <a:srgbClr val="1B998B"/>
          </a:solidFill>
          <a:ln w="12700">
            <a:solidFill>
              <a:srgbClr val="1B998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341985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3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234440" y="3374136"/>
            <a:ext cx="10332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เปิดใช้งานสาธารณะ</a:t>
            </a:r>
            <a:endParaRPr lang="en-US" sz="1700" dirty="0"/>
          </a:p>
          <a:p>
            <a:pPr indent="0" marL="0">
              <a:buNone/>
            </a:pPr>
            <a:r>
              <a:rPr lang="en-US" sz="1300" dirty="0">
                <a:solidFill>
                  <a:srgbClr val="CFE3EE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push ขึ้น GitHub · เปิด Pages · ตรวจว่า runner ต่างประเทศดึง ThaiWater ได้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548640" y="4352544"/>
            <a:ext cx="457200" cy="457200"/>
          </a:xfrm>
          <a:prstGeom prst="ellipse">
            <a:avLst/>
          </a:prstGeom>
          <a:solidFill>
            <a:srgbClr val="1B998B"/>
          </a:solidFill>
          <a:ln w="12700">
            <a:solidFill>
              <a:srgbClr val="1B998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43525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4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1234440" y="4306824"/>
            <a:ext cx="10332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ผลกระทบ</a:t>
            </a:r>
            <a:endParaRPr lang="en-US" sz="1700" dirty="0"/>
          </a:p>
          <a:p>
            <a:pPr indent="0" marL="0">
              <a:buNone/>
            </a:pPr>
            <a:r>
              <a:rPr lang="en-US" sz="1300" dirty="0">
                <a:solidFill>
                  <a:srgbClr val="CFE3EE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ซ้อนประชากร ถนน โรงเรียน โรงพยาบาล → รายงานรายตำบล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548640" y="5285232"/>
            <a:ext cx="457200" cy="457200"/>
          </a:xfrm>
          <a:prstGeom prst="ellipse">
            <a:avLst/>
          </a:prstGeom>
          <a:solidFill>
            <a:srgbClr val="1B998B"/>
          </a:solidFill>
          <a:ln w="12700">
            <a:solidFill>
              <a:srgbClr val="1B998B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48640" y="52852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5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1234440" y="5239512"/>
            <a:ext cx="10332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ฝนเรดาร์/ดาวเทียม</a:t>
            </a:r>
            <a:endParaRPr lang="en-US" sz="1700" dirty="0"/>
          </a:p>
          <a:p>
            <a:pPr indent="0" marL="0">
              <a:buNone/>
            </a:pPr>
            <a:r>
              <a:rPr lang="en-US" sz="1300" dirty="0">
                <a:solidFill>
                  <a:srgbClr val="CFE3EE"/>
                </a:solidFill>
                <a:latin typeface="Prompt" pitchFamily="34" charset="0"/>
                <a:ea typeface="Prompt" pitchFamily="34" charset="-122"/>
                <a:cs typeface="Prompt" pitchFamily="34" charset="-120"/>
              </a:rPr>
              <a:t>GSMaP/IMERG หรือเรดาร์กรมอุตุฯ แทนฝนแบบจำลองช่วงย้อนหลัง</a:t>
            </a:r>
            <a:endParaRPr lang="en-US" sz="1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Promp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Prompt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Nakhon Sawan Flood Watch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Nakhon Sawan Flood Watch — สรุปผลสำหรับผู้บริหารและทีมเทคนิค</dc:title>
  <dc:subject>PptxGenJS Presentation</dc:subject>
  <dc:creator>Att</dc:creator>
  <cp:lastModifiedBy>Att</cp:lastModifiedBy>
  <cp:revision>1</cp:revision>
  <dcterms:created xsi:type="dcterms:W3CDTF">2026-09-28T15:01:24Z</dcterms:created>
  <dcterms:modified xsi:type="dcterms:W3CDTF">2026-09-28T15:01:24Z</dcterms:modified>
</cp:coreProperties>
</file>