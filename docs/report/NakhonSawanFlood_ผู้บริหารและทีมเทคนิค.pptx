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24"/>
    <p:sldId id="274" r:id="rId25"/>
    <p:sldId id="275" r:id="rId26"/>
    <p:sldId id="276" r:id="rId27"/>
    <p:sldId id="277" r:id="rId28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พื้นที่ท่วมขังรายอำเภอ (ตร.กม.)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สูงสุดใน 72 ชม.</c:v>
                </c:pt>
              </c:strCache>
            </c:strRef>
          </c:tx>
          <c:spPr>
            <a:solidFill>
              <a:srgbClr val="8FD3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พยุหะคีรี</c:v>
                  </c:pt>
                  <c:pt idx="1">
                    <c:v>แม่เปิน</c:v>
                  </c:pt>
                  <c:pt idx="2">
                    <c:v>เมืองนครสวรรค์</c:v>
                  </c:pt>
                  <c:pt idx="3">
                    <c:v>ชุมแสง</c:v>
                  </c:pt>
                  <c:pt idx="4">
                    <c:v>ชุมตาบง</c:v>
                  </c:pt>
                  <c:pt idx="5">
                    <c:v>บรรพตพิสัย</c:v>
                  </c:pt>
                  <c:pt idx="6">
                    <c:v>แม่วงก์</c:v>
                  </c:pt>
                  <c:pt idx="7">
                    <c:v>ลาดยาว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</c:v>
                </c:pt>
                <c:pt idx="1">
                  <c:v>0.4</c:v>
                </c:pt>
                <c:pt idx="2">
                  <c:v>1</c:v>
                </c:pt>
                <c:pt idx="3">
                  <c:v>0.2</c:v>
                </c:pt>
                <c:pt idx="4">
                  <c:v>1</c:v>
                </c:pt>
                <c:pt idx="5">
                  <c:v>3.9</c:v>
                </c:pt>
                <c:pt idx="6">
                  <c:v>11.4</c:v>
                </c:pt>
                <c:pt idx="7">
                  <c:v>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ตอนนี้ (ลึก 25 ซม. ขึ้นไป)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พยุหะคีรี</c:v>
                  </c:pt>
                  <c:pt idx="1">
                    <c:v>แม่เปิน</c:v>
                  </c:pt>
                  <c:pt idx="2">
                    <c:v>เมืองนครสวรรค์</c:v>
                  </c:pt>
                  <c:pt idx="3">
                    <c:v>ชุมแสง</c:v>
                  </c:pt>
                  <c:pt idx="4">
                    <c:v>ชุมตาบง</c:v>
                  </c:pt>
                  <c:pt idx="5">
                    <c:v>บรรพตพิสัย</c:v>
                  </c:pt>
                  <c:pt idx="6">
                    <c:v>แม่วงก์</c:v>
                  </c:pt>
                  <c:pt idx="7">
                    <c:v>ลาดยาว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</c:v>
                </c:pt>
                <c:pt idx="1">
                  <c:v>0.4</c:v>
                </c:pt>
                <c:pt idx="2">
                  <c:v>0.5</c:v>
                </c:pt>
                <c:pt idx="3">
                  <c:v>0.2</c:v>
                </c:pt>
                <c:pt idx="4">
                  <c:v>1</c:v>
                </c:pt>
                <c:pt idx="5">
                  <c:v>4.1</c:v>
                </c:pt>
                <c:pt idx="6">
                  <c:v>10.8</c:v>
                </c:pt>
                <c:pt idx="7">
                  <c:v>40.4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พื้นที่ลึก 10 ซม. ขึ้นไป แยกตามเวลาที่คาดว่าน้ำจะลด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1 วัน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1.3</c:v>
                </c:pt>
                <c:pt idx="1">
                  <c:v>0.4</c:v>
                </c:pt>
                <c:pt idx="2">
                  <c:v>2</c:v>
                </c:pt>
                <c:pt idx="3">
                  <c:v>0.6</c:v>
                </c:pt>
                <c:pt idx="4">
                  <c:v>0.3</c:v>
                </c:pt>
                <c:pt idx="5">
                  <c:v>0.8</c:v>
                </c:pt>
                <c:pt idx="6">
                  <c:v>0.5</c:v>
                </c:pt>
                <c:pt idx="7">
                  <c:v>0.6</c:v>
                </c:pt>
                <c:pt idx="8">
                  <c:v>9.9</c:v>
                </c:pt>
                <c:pt idx="9">
                  <c:v>2.7</c:v>
                </c:pt>
                <c:pt idx="10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1–3 วัน</c:v>
                </c:pt>
              </c:strCache>
            </c:strRef>
          </c:tx>
          <c:spPr>
            <a:solidFill>
              <a:srgbClr val="FDE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</c:v>
                </c:pt>
                <c:pt idx="1">
                  <c:v>0.4</c:v>
                </c:pt>
                <c:pt idx="2">
                  <c:v>0.5</c:v>
                </c:pt>
                <c:pt idx="3">
                  <c:v>0.5</c:v>
                </c:pt>
                <c:pt idx="4">
                  <c:v>0.2</c:v>
                </c:pt>
                <c:pt idx="5">
                  <c:v>0.4</c:v>
                </c:pt>
                <c:pt idx="6">
                  <c:v>0</c:v>
                </c:pt>
                <c:pt idx="7">
                  <c:v>1.2</c:v>
                </c:pt>
                <c:pt idx="8">
                  <c:v>7.8</c:v>
                </c:pt>
                <c:pt idx="9">
                  <c:v>8.3</c:v>
                </c:pt>
                <c:pt idx="10">
                  <c:v>17.6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3–7 วัน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21.6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7–14 วัน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&gt; 14 วัน</c:v>
                </c:pt>
              </c:strCache>
            </c:strRef>
          </c:tx>
          <c:spPr>
            <a:solidFill>
              <a:srgbClr val="7F1D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ตร.กม.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ปริมาตรน้ำท่าที่ไหลเข้านครสวรรค์ (ล้าน ลบ.ม.)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 วันที่ผ่านมา</c:v>
                </c:pt>
              </c:strCache>
            </c:strRef>
          </c:tx>
          <c:spPr>
            <a:solidFill>
              <a:srgbClr val="A3B3C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กำแพงเพชร</c:v>
                  </c:pt>
                  <c:pt idx="1">
                    <c:v>พิษณุโลก</c:v>
                  </c:pt>
                  <c:pt idx="2">
                    <c:v>พิจิตร</c:v>
                  </c:pt>
                  <c:pt idx="3">
                    <c:v>เพชรบูรณ์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</c:v>
                </c:pt>
                <c:pt idx="1">
                  <c:v>146.9</c:v>
                </c:pt>
                <c:pt idx="2">
                  <c:v>84.8</c:v>
                </c:pt>
                <c:pt idx="3">
                  <c:v>25.2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72 ชม. ข้างหน้า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4155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กำแพงเพชร</c:v>
                  </c:pt>
                  <c:pt idx="1">
                    <c:v>พิษณุโลก</c:v>
                  </c:pt>
                  <c:pt idx="2">
                    <c:v>พิจิตร</c:v>
                  </c:pt>
                  <c:pt idx="3">
                    <c:v>เพชรบูรณ์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91.4</c:v>
                </c:pt>
                <c:pt idx="1">
                  <c:v>18.2</c:v>
                </c:pt>
                <c:pt idx="2">
                  <c:v>17.4</c:v>
                </c:pt>
                <c:pt idx="3">
                  <c:v>5.1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34155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แม่วงก์-สะแกกรัง (Ct.5A) — ค่าตรวจวัด 7 วันและพยากรณ์ 72 ชม.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ค่าตรวจวัด</c:v>
                </c:pt>
              </c:strCache>
            </c:strRef>
          </c:tx>
          <c:spPr>
            <a:solidFill>
              <a:srgbClr val="0B3C5D"/>
            </a:solidFill>
            <a:ln w="2540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90</c:v>
                </c:pt>
                <c:pt idx="1">
                  <c:v>76</c:v>
                </c:pt>
                <c:pt idx="2">
                  <c:v>66</c:v>
                </c:pt>
                <c:pt idx="3">
                  <c:v>58</c:v>
                </c:pt>
                <c:pt idx="4">
                  <c:v>53</c:v>
                </c:pt>
                <c:pt idx="5">
                  <c:v>51</c:v>
                </c:pt>
                <c:pt idx="6">
                  <c:v>51</c:v>
                </c:pt>
                <c:pt idx="7">
                  <c:v>52</c:v>
                </c:pt>
                <c:pt idx="8">
                  <c:v>55</c:v>
                </c:pt>
                <c:pt idx="9">
                  <c:v>55</c:v>
                </c:pt>
                <c:pt idx="10">
                  <c:v>58</c:v>
                </c:pt>
                <c:pt idx="11">
                  <c:v>54</c:v>
                </c:pt>
                <c:pt idx="12">
                  <c:v>47</c:v>
                </c:pt>
                <c:pt idx="13">
                  <c:v>42</c:v>
                </c:pt>
                <c:pt idx="14">
                  <c:v>39</c:v>
                </c:pt>
                <c:pt idx="15">
                  <c:v>36</c:v>
                </c:pt>
                <c:pt idx="16">
                  <c:v>34</c:v>
                </c:pt>
                <c:pt idx="17">
                  <c:v>33</c:v>
                </c:pt>
                <c:pt idx="18">
                  <c:v>33</c:v>
                </c:pt>
                <c:pt idx="19">
                  <c:v>33</c:v>
                </c:pt>
                <c:pt idx="20">
                  <c:v>38</c:v>
                </c:pt>
                <c:pt idx="21">
                  <c:v>46</c:v>
                </c:pt>
                <c:pt idx="22">
                  <c:v>58</c:v>
                </c:pt>
                <c:pt idx="23">
                  <c:v>74</c:v>
                </c:pt>
                <c:pt idx="24">
                  <c:v>83</c:v>
                </c:pt>
                <c:pt idx="25">
                  <c:v>80</c:v>
                </c:pt>
                <c:pt idx="26">
                  <c:v>78</c:v>
                </c:pt>
                <c:pt idx="27">
                  <c:v>85</c:v>
                </c:pt>
                <c:pt idx="28">
                  <c:v>91</c:v>
                </c:pt>
                <c:pt idx="29">
                  <c:v>101</c:v>
                </c:pt>
                <c:pt idx="30">
                  <c:v>120</c:v>
                </c:pt>
                <c:pt idx="31">
                  <c:v>145</c:v>
                </c:pt>
                <c:pt idx="32">
                  <c:v>169</c:v>
                </c:pt>
                <c:pt idx="33">
                  <c:v>185</c:v>
                </c:pt>
                <c:pt idx="34">
                  <c:v>182</c:v>
                </c:pt>
                <c:pt idx="35">
                  <c:v>178</c:v>
                </c:pt>
                <c:pt idx="36">
                  <c:v>181</c:v>
                </c:pt>
                <c:pt idx="37">
                  <c:v>195</c:v>
                </c:pt>
                <c:pt idx="38">
                  <c:v>193</c:v>
                </c:pt>
                <c:pt idx="39">
                  <c:v>197</c:v>
                </c:pt>
                <c:pt idx="40">
                  <c:v>202</c:v>
                </c:pt>
                <c:pt idx="41">
                  <c:v>209</c:v>
                </c:pt>
                <c:pt idx="42">
                  <c:v>220</c:v>
                </c:pt>
                <c:pt idx="43">
                  <c:v>241</c:v>
                </c:pt>
                <c:pt idx="44">
                  <c:v>288</c:v>
                </c:pt>
                <c:pt idx="45">
                  <c:v>317</c:v>
                </c:pt>
                <c:pt idx="46">
                  <c:v>330</c:v>
                </c:pt>
                <c:pt idx="47">
                  <c:v>331</c:v>
                </c:pt>
                <c:pt idx="48">
                  <c:v>351</c:v>
                </c:pt>
                <c:pt idx="49">
                  <c:v>362</c:v>
                </c:pt>
                <c:pt idx="50">
                  <c:v>362</c:v>
                </c:pt>
                <c:pt idx="51">
                  <c:v>358</c:v>
                </c:pt>
                <c:pt idx="52">
                  <c:v>355</c:v>
                </c:pt>
                <c:pt idx="53">
                  <c:v>349</c:v>
                </c:pt>
                <c:pt idx="54">
                  <c:v>344</c:v>
                </c:pt>
                <c:pt idx="55">
                  <c:v>358</c:v>
                </c:pt>
                <c:pt idx="56">
                  <c:v>386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พยากรณ์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Sheet1!$C$2:$C$82</c:f>
              <c:numCache>
                <c:formatCode>General</c:formatCode>
                <c:ptCount val="81"/>
                <c:pt idx="56">
                  <c:v>386</c:v>
                </c:pt>
                <c:pt idx="57">
                  <c:v>404</c:v>
                </c:pt>
                <c:pt idx="58">
                  <c:v>418</c:v>
                </c:pt>
                <c:pt idx="59">
                  <c:v>429</c:v>
                </c:pt>
                <c:pt idx="60">
                  <c:v>437</c:v>
                </c:pt>
                <c:pt idx="61">
                  <c:v>398</c:v>
                </c:pt>
                <c:pt idx="62">
                  <c:v>362</c:v>
                </c:pt>
                <c:pt idx="63">
                  <c:v>329</c:v>
                </c:pt>
                <c:pt idx="64">
                  <c:v>300</c:v>
                </c:pt>
                <c:pt idx="65">
                  <c:v>273</c:v>
                </c:pt>
                <c:pt idx="66">
                  <c:v>249</c:v>
                </c:pt>
                <c:pt idx="67">
                  <c:v>226</c:v>
                </c:pt>
                <c:pt idx="68">
                  <c:v>206</c:v>
                </c:pt>
                <c:pt idx="69">
                  <c:v>188</c:v>
                </c:pt>
                <c:pt idx="70">
                  <c:v>172</c:v>
                </c:pt>
                <c:pt idx="71">
                  <c:v>157</c:v>
                </c:pt>
                <c:pt idx="72">
                  <c:v>143</c:v>
                </c:pt>
                <c:pt idx="73">
                  <c:v>131</c:v>
                </c:pt>
                <c:pt idx="74">
                  <c:v>119</c:v>
                </c:pt>
                <c:pt idx="75">
                  <c:v>109</c:v>
                </c:pt>
                <c:pt idx="76">
                  <c:v>100</c:v>
                </c:pt>
                <c:pt idx="77">
                  <c:v>91</c:v>
                </c:pt>
                <c:pt idx="78">
                  <c:v>84</c:v>
                </c:pt>
                <c:pt idx="79">
                  <c:v>77</c:v>
                </c:pt>
                <c:pt idx="80">
                  <c:v>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ความจุลำน้ำ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232</c:v>
                </c:pt>
                <c:pt idx="1">
                  <c:v>232</c:v>
                </c:pt>
                <c:pt idx="2">
                  <c:v>232</c:v>
                </c:pt>
                <c:pt idx="3">
                  <c:v>232</c:v>
                </c:pt>
                <c:pt idx="4">
                  <c:v>232</c:v>
                </c:pt>
                <c:pt idx="5">
                  <c:v>232</c:v>
                </c:pt>
                <c:pt idx="6">
                  <c:v>232</c:v>
                </c:pt>
                <c:pt idx="7">
                  <c:v>232</c:v>
                </c:pt>
                <c:pt idx="8">
                  <c:v>232</c:v>
                </c:pt>
                <c:pt idx="9">
                  <c:v>232</c:v>
                </c:pt>
                <c:pt idx="10">
                  <c:v>232</c:v>
                </c:pt>
                <c:pt idx="11">
                  <c:v>232</c:v>
                </c:pt>
                <c:pt idx="12">
                  <c:v>232</c:v>
                </c:pt>
                <c:pt idx="13">
                  <c:v>232</c:v>
                </c:pt>
                <c:pt idx="14">
                  <c:v>232</c:v>
                </c:pt>
                <c:pt idx="15">
                  <c:v>232</c:v>
                </c:pt>
                <c:pt idx="16">
                  <c:v>232</c:v>
                </c:pt>
                <c:pt idx="17">
                  <c:v>232</c:v>
                </c:pt>
                <c:pt idx="18">
                  <c:v>232</c:v>
                </c:pt>
                <c:pt idx="19">
                  <c:v>232</c:v>
                </c:pt>
                <c:pt idx="20">
                  <c:v>232</c:v>
                </c:pt>
                <c:pt idx="21">
                  <c:v>232</c:v>
                </c:pt>
                <c:pt idx="22">
                  <c:v>232</c:v>
                </c:pt>
                <c:pt idx="23">
                  <c:v>232</c:v>
                </c:pt>
                <c:pt idx="24">
                  <c:v>232</c:v>
                </c:pt>
                <c:pt idx="25">
                  <c:v>232</c:v>
                </c:pt>
                <c:pt idx="26">
                  <c:v>232</c:v>
                </c:pt>
                <c:pt idx="27">
                  <c:v>232</c:v>
                </c:pt>
                <c:pt idx="28">
                  <c:v>232</c:v>
                </c:pt>
                <c:pt idx="29">
                  <c:v>232</c:v>
                </c:pt>
                <c:pt idx="30">
                  <c:v>232</c:v>
                </c:pt>
                <c:pt idx="31">
                  <c:v>232</c:v>
                </c:pt>
                <c:pt idx="32">
                  <c:v>232</c:v>
                </c:pt>
                <c:pt idx="33">
                  <c:v>232</c:v>
                </c:pt>
                <c:pt idx="34">
                  <c:v>232</c:v>
                </c:pt>
                <c:pt idx="35">
                  <c:v>232</c:v>
                </c:pt>
                <c:pt idx="36">
                  <c:v>232</c:v>
                </c:pt>
                <c:pt idx="37">
                  <c:v>232</c:v>
                </c:pt>
                <c:pt idx="38">
                  <c:v>232</c:v>
                </c:pt>
                <c:pt idx="39">
                  <c:v>232</c:v>
                </c:pt>
                <c:pt idx="40">
                  <c:v>232</c:v>
                </c:pt>
                <c:pt idx="41">
                  <c:v>232</c:v>
                </c:pt>
                <c:pt idx="42">
                  <c:v>232</c:v>
                </c:pt>
                <c:pt idx="43">
                  <c:v>232</c:v>
                </c:pt>
                <c:pt idx="44">
                  <c:v>232</c:v>
                </c:pt>
                <c:pt idx="45">
                  <c:v>232</c:v>
                </c:pt>
                <c:pt idx="46">
                  <c:v>232</c:v>
                </c:pt>
                <c:pt idx="47">
                  <c:v>232</c:v>
                </c:pt>
                <c:pt idx="48">
                  <c:v>232</c:v>
                </c:pt>
                <c:pt idx="49">
                  <c:v>232</c:v>
                </c:pt>
                <c:pt idx="50">
                  <c:v>232</c:v>
                </c:pt>
                <c:pt idx="51">
                  <c:v>232</c:v>
                </c:pt>
                <c:pt idx="52">
                  <c:v>232</c:v>
                </c:pt>
                <c:pt idx="53">
                  <c:v>232</c:v>
                </c:pt>
                <c:pt idx="54">
                  <c:v>232</c:v>
                </c:pt>
                <c:pt idx="55">
                  <c:v>232</c:v>
                </c:pt>
                <c:pt idx="56">
                  <c:v>232</c:v>
                </c:pt>
                <c:pt idx="57">
                  <c:v>232</c:v>
                </c:pt>
                <c:pt idx="58">
                  <c:v>232</c:v>
                </c:pt>
                <c:pt idx="59">
                  <c:v>232</c:v>
                </c:pt>
                <c:pt idx="60">
                  <c:v>232</c:v>
                </c:pt>
                <c:pt idx="61">
                  <c:v>232</c:v>
                </c:pt>
                <c:pt idx="62">
                  <c:v>232</c:v>
                </c:pt>
                <c:pt idx="63">
                  <c:v>232</c:v>
                </c:pt>
                <c:pt idx="64">
                  <c:v>232</c:v>
                </c:pt>
                <c:pt idx="65">
                  <c:v>232</c:v>
                </c:pt>
                <c:pt idx="66">
                  <c:v>232</c:v>
                </c:pt>
                <c:pt idx="67">
                  <c:v>232</c:v>
                </c:pt>
                <c:pt idx="68">
                  <c:v>232</c:v>
                </c:pt>
                <c:pt idx="69">
                  <c:v>232</c:v>
                </c:pt>
                <c:pt idx="70">
                  <c:v>232</c:v>
                </c:pt>
                <c:pt idx="71">
                  <c:v>232</c:v>
                </c:pt>
                <c:pt idx="72">
                  <c:v>232</c:v>
                </c:pt>
                <c:pt idx="73">
                  <c:v>232</c:v>
                </c:pt>
                <c:pt idx="74">
                  <c:v>232</c:v>
                </c:pt>
                <c:pt idx="75">
                  <c:v>232</c:v>
                </c:pt>
                <c:pt idx="76">
                  <c:v>232</c:v>
                </c:pt>
                <c:pt idx="77">
                  <c:v>232</c:v>
                </c:pt>
                <c:pt idx="78">
                  <c:v>232</c:v>
                </c:pt>
                <c:pt idx="79">
                  <c:v>232</c:v>
                </c:pt>
                <c:pt idx="80">
                  <c:v>232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ลบ.ม./วิ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คะแนนความคลาดเคลื่อนเทียบแบบจำลอง 2D (ต่ำ = ดี)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คะแนน</c:v>
                </c:pt>
              </c:strCache>
            </c:strRef>
          </c:tx>
          <c:spPr>
            <a:solidFill>
              <a:srgbClr val="A3B3C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B3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D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ค่าเริ่มต้น</c:v>
                  </c:pt>
                  <c:pt idx="1">
                    <c:v>รอบ 1</c:v>
                  </c:pt>
                  <c:pt idx="2">
                    <c:v>รอบ 2 (ใช้งาน)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0.8571</c:v>
                </c:pt>
                <c:pt idx="1">
                  <c:v>0.6443</c:v>
                </c:pt>
                <c:pt idx="2">
                  <c:v>0.4887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3C5D"/>
                </a:solidFill>
                <a:latin typeface="Prompt"/>
              </a:rPr>
              <a:t>พื้นที่ท่วม 60 วันขึ้นไปในตำบลที่ศึกษา (ตร.กม.)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ท่วม 60 วันขึ้นไป (ตร.กม.)</c:v>
                </c:pt>
              </c:strCache>
            </c:strRef>
          </c:tx>
          <c:spPr>
            <a:solidFill>
              <a:srgbClr val="0B3C5D"/>
            </a:solidFill>
          </c:spPr>
          <c:dPt>
            <c:idx val="1"/>
            <c:spPr>
              <a:solidFill>
                <a:srgbClr val="A3B3C2"/>
              </a:solidFill>
            </c:spPr>
          </c:dPt>
          <c:dPt>
            <c:idx val="2"/>
            <c:spPr>
              <a:solidFill>
                <a:srgbClr val="A3B3C2"/>
              </a:solidFill>
            </c:spPr>
          </c:dPt>
          <c:dPt>
            <c:idx val="3"/>
            <c:spPr>
              <a:solidFill>
                <a:srgbClr val="A3B3C2"/>
              </a:solidFill>
            </c:spPr>
          </c:dPt>
          <c:dPt>
            <c:idx val="6"/>
            <c:spPr>
              <a:solidFill>
                <a:srgbClr val="A3B3C2"/>
              </a:solidFill>
            </c:spPr>
          </c:dPt>
          <c:cat>
            <c:strRef>
              <c:f>Sheet1!$A$2:$A$10</c:f>
              <c:strCache>
                <c:ptCount val="9"/>
                <c:pt idx="0">
                  <c:v>2560</c:v>
                </c:pt>
                <c:pt idx="1">
                  <c:v>2561</c:v>
                </c:pt>
                <c:pt idx="2">
                  <c:v>2562</c:v>
                </c:pt>
                <c:pt idx="3">
                  <c:v>2563</c:v>
                </c:pt>
                <c:pt idx="4">
                  <c:v>2564</c:v>
                </c:pt>
                <c:pt idx="5">
                  <c:v>2565</c:v>
                </c:pt>
                <c:pt idx="6">
                  <c:v>2566</c:v>
                </c:pt>
                <c:pt idx="7">
                  <c:v>2567</c:v>
                </c:pt>
                <c:pt idx="8">
                  <c:v>2568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98.0</c:v>
                </c:pt>
                <c:pt idx="1">
                  <c:v>12.2</c:v>
                </c:pt>
                <c:pt idx="2">
                  <c:v>8.2</c:v>
                </c:pt>
                <c:pt idx="3">
                  <c:v>0.2</c:v>
                </c:pt>
                <c:pt idx="4">
                  <c:v>123.1</c:v>
                </c:pt>
                <c:pt idx="5">
                  <c:v>116.9</c:v>
                </c:pt>
                <c:pt idx="6">
                  <c:v>34.7</c:v>
                </c:pt>
                <c:pt idx="7">
                  <c:v>69.4</c:v>
                </c:pt>
                <c:pt idx="8">
                  <c:v>166.9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E293B"/>
                  </a:solidFill>
                  <a:latin typeface="Promp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Promp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Promp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4748B"/>
          </a:solidFill>
          <a:latin typeface="Promp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3C5D"/>
                </a:solidFill>
                <a:latin typeface="Prompt"/>
              </a:rPr>
              <a:t>สถานการณ์สมมติ 21 วัน · 12 ตำบล (ตร.กม.)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พื้นที่ท่วมสูงสุด</c:v>
                </c:pt>
              </c:strCache>
            </c:strRef>
          </c:tx>
          <c:spPr>
            <a:solidFill>
              <a:srgbClr val="A3B3C2"/>
            </a:solidFill>
          </c:spPr>
          <c:cat>
            <c:strRef>
              <c:f>Sheet1!$A$2:$A$6</c:f>
              <c:strCache>
                <c:ptCount val="5"/>
                <c:pt idx="0">
                  <c:v>A ฝน 150 · น้ำต่ำ</c:v>
                </c:pt>
                <c:pt idx="1">
                  <c:v>B ฝน 150 · เต็มตลิ่ง</c:v>
                </c:pt>
                <c:pt idx="2">
                  <c:v>C ฝน 250 · น้ำต่ำ</c:v>
                </c:pt>
                <c:pt idx="3">
                  <c:v>D ฝน 250 · เต็มตลิ่ง</c:v>
                </c:pt>
                <c:pt idx="4">
                  <c:v>E ฝน 250 · ล้นตลิ่ง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5.74</c:v>
                </c:pt>
                <c:pt idx="1">
                  <c:v>5.74</c:v>
                </c:pt>
                <c:pt idx="2">
                  <c:v>326.78</c:v>
                </c:pt>
                <c:pt idx="3">
                  <c:v>367.67</c:v>
                </c:pt>
                <c:pt idx="4">
                  <c:v>448.44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ขัง 7 วันขึ้นไป</c:v>
                </c:pt>
              </c:strCache>
            </c:strRef>
          </c:tx>
          <c:spPr>
            <a:solidFill>
              <a:srgbClr val="0B3C5D"/>
            </a:solidFill>
          </c:spPr>
          <c:cat>
            <c:strRef>
              <c:f>Sheet1!$A$2:$A$6</c:f>
              <c:strCache>
                <c:ptCount val="5"/>
                <c:pt idx="0">
                  <c:v>A ฝน 150 · น้ำต่ำ</c:v>
                </c:pt>
                <c:pt idx="1">
                  <c:v>B ฝน 150 · เต็มตลิ่ง</c:v>
                </c:pt>
                <c:pt idx="2">
                  <c:v>C ฝน 250 · น้ำต่ำ</c:v>
                </c:pt>
                <c:pt idx="3">
                  <c:v>D ฝน 250 · เต็มตลิ่ง</c:v>
                </c:pt>
                <c:pt idx="4">
                  <c:v>E ฝน 250 · ล้นตลิ่ง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1.94</c:v>
                </c:pt>
                <c:pt idx="1">
                  <c:v>1.94</c:v>
                </c:pt>
                <c:pt idx="2">
                  <c:v>118.15</c:v>
                </c:pt>
                <c:pt idx="3">
                  <c:v>159.74</c:v>
                </c:pt>
                <c:pt idx="4">
                  <c:v>278.2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1E293B"/>
                  </a:solidFill>
                  <a:latin typeface="Promp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800">
                <a:latin typeface="Promp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Prompt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Prompt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64748B"/>
          </a:solidFill>
          <a:latin typeface="Promp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3C5D"/>
                </a:solidFill>
                <a:latin typeface="Prompt"/>
              </a:rPr>
              <a:t>ปี 2568: พื้นที่ท่วมรายวันในตำบลที่ศึกษา (ตร.กม.)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ดาวเทียม</c:v>
                </c:pt>
              </c:strCache>
            </c:strRef>
          </c:tx>
          <c:spPr>
            <a:ln w="25400">
              <a:solidFill>
                <a:srgbClr val="2563EB"/>
              </a:solidFill>
            </a:ln>
          </c:spPr>
          <c:marker>
            <c:symbol val="circle"/>
            <c:size val="5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24/08</c:v>
                </c:pt>
                <c:pt idx="1">
                  <c:v>30/08</c:v>
                </c:pt>
                <c:pt idx="2">
                  <c:v>05/09</c:v>
                </c:pt>
                <c:pt idx="3">
                  <c:v>11/09</c:v>
                </c:pt>
                <c:pt idx="4">
                  <c:v>17/09</c:v>
                </c:pt>
                <c:pt idx="5">
                  <c:v>23/09</c:v>
                </c:pt>
                <c:pt idx="6">
                  <c:v>29/09</c:v>
                </c:pt>
                <c:pt idx="7">
                  <c:v>05/10</c:v>
                </c:pt>
                <c:pt idx="8">
                  <c:v>11/10</c:v>
                </c:pt>
                <c:pt idx="9">
                  <c:v>23/10</c:v>
                </c:pt>
                <c:pt idx="10">
                  <c:v>04/11</c:v>
                </c:pt>
                <c:pt idx="11">
                  <c:v>10/11</c:v>
                </c:pt>
                <c:pt idx="12">
                  <c:v>22/11</c:v>
                </c:pt>
                <c:pt idx="13">
                  <c:v>28/11</c:v>
                </c:pt>
                <c:pt idx="14">
                  <c:v>04/12</c:v>
                </c:pt>
                <c:pt idx="15">
                  <c:v>10/12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0.6</c:v>
                </c:pt>
                <c:pt idx="1">
                  <c:v>0.9</c:v>
                </c:pt>
                <c:pt idx="2">
                  <c:v>1.7</c:v>
                </c:pt>
                <c:pt idx="3">
                  <c:v>15.3</c:v>
                </c:pt>
                <c:pt idx="4">
                  <c:v>98.2</c:v>
                </c:pt>
                <c:pt idx="5">
                  <c:v>156.6</c:v>
                </c:pt>
                <c:pt idx="6">
                  <c:v>252.3</c:v>
                </c:pt>
                <c:pt idx="7">
                  <c:v>239.5</c:v>
                </c:pt>
                <c:pt idx="8">
                  <c:v>216.2</c:v>
                </c:pt>
                <c:pt idx="9">
                  <c:v>210.1</c:v>
                </c:pt>
                <c:pt idx="10">
                  <c:v>200.6</c:v>
                </c:pt>
                <c:pt idx="11">
                  <c:v>229.7</c:v>
                </c:pt>
                <c:pt idx="12">
                  <c:v>187.4</c:v>
                </c:pt>
                <c:pt idx="13">
                  <c:v>184.8</c:v>
                </c:pt>
                <c:pt idx="14">
                  <c:v>122.7</c:v>
                </c:pt>
                <c:pt idx="15">
                  <c:v>128.2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แบบจำลอง</c:v>
                </c:pt>
              </c:strCache>
            </c:strRef>
          </c:tx>
          <c:spPr>
            <a:ln w="25400">
              <a:solidFill>
                <a:srgbClr val="D64545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D64545"/>
              </a:solidFill>
              <a:ln>
                <a:solidFill>
                  <a:srgbClr val="D64545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24/08</c:v>
                </c:pt>
                <c:pt idx="1">
                  <c:v>30/08</c:v>
                </c:pt>
                <c:pt idx="2">
                  <c:v>05/09</c:v>
                </c:pt>
                <c:pt idx="3">
                  <c:v>11/09</c:v>
                </c:pt>
                <c:pt idx="4">
                  <c:v>17/09</c:v>
                </c:pt>
                <c:pt idx="5">
                  <c:v>23/09</c:v>
                </c:pt>
                <c:pt idx="6">
                  <c:v>29/09</c:v>
                </c:pt>
                <c:pt idx="7">
                  <c:v>05/10</c:v>
                </c:pt>
                <c:pt idx="8">
                  <c:v>11/10</c:v>
                </c:pt>
                <c:pt idx="9">
                  <c:v>23/10</c:v>
                </c:pt>
                <c:pt idx="10">
                  <c:v>04/11</c:v>
                </c:pt>
                <c:pt idx="11">
                  <c:v>10/11</c:v>
                </c:pt>
                <c:pt idx="12">
                  <c:v>22/11</c:v>
                </c:pt>
                <c:pt idx="13">
                  <c:v>28/11</c:v>
                </c:pt>
                <c:pt idx="14">
                  <c:v>04/12</c:v>
                </c:pt>
                <c:pt idx="15">
                  <c:v>10/12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14.1</c:v>
                </c:pt>
                <c:pt idx="1">
                  <c:v>14.3</c:v>
                </c:pt>
                <c:pt idx="2">
                  <c:v>14.4</c:v>
                </c:pt>
                <c:pt idx="3">
                  <c:v>14.6</c:v>
                </c:pt>
                <c:pt idx="4">
                  <c:v>14.7</c:v>
                </c:pt>
                <c:pt idx="5">
                  <c:v>14.7</c:v>
                </c:pt>
                <c:pt idx="6">
                  <c:v>19.8</c:v>
                </c:pt>
                <c:pt idx="7">
                  <c:v>178.7</c:v>
                </c:pt>
                <c:pt idx="8">
                  <c:v>251.6</c:v>
                </c:pt>
                <c:pt idx="9">
                  <c:v>297.0</c:v>
                </c:pt>
                <c:pt idx="10">
                  <c:v>241.2</c:v>
                </c:pt>
                <c:pt idx="11">
                  <c:v>282.8</c:v>
                </c:pt>
                <c:pt idx="12">
                  <c:v>255.4</c:v>
                </c:pt>
                <c:pt idx="13">
                  <c:v>227.4</c:v>
                </c:pt>
                <c:pt idx="14">
                  <c:v>202.8</c:v>
                </c:pt>
                <c:pt idx="15">
                  <c:v>162.0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800">
                <a:latin typeface="Prompt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Prompt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Promp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64748B"/>
          </a:solidFill>
          <a:latin typeface="Promp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เปิดด้วยภาพรวม: ระบบนี้ติดตามพื้นที่น้ำท่วมขังทั้งจังหวัดนครสวรรค์ อัปเดตทุกชั่วโมง ใช้ ArcGIS Pro วิเคราะห์ภูมิประเทศ และเผยแพร่เป็นเว็บแอปสาธารณะ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เน้นว่าระบบไม่ได้บอกแค่ว่าท่วมที่ไหน แต่บอกความลึก ระยะเวลา และสาเหตุ ซึ่งช่วยจัดลำดับการช่วยเหลือและการสูบน้ำ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ตัวเลขทั้งหมดเป็นผลแบบจำลองรอบ 20:57 น. วันที่ 28 ก.ย. 2569 พื้นที่คิดตามสัดส่วนพื้นที่ท่วมจริงใน hex ไม่ได้นับทั้ง hex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ภาพเรดาร์ไม่ถูกเมฆบัง จึงเห็นน้ำท่วมย้อนหลังได้ทุก 6–12 วัน ปีน้ำมาก (2560, 2564, 2565, 2568) ท่วมนาน 60 วันขึ้นไปราว 100–170 ตร.กม. จุดที่ท่วมซ้ำและนานที่สุดคือตำบลรอบบึงบอระเพ็ด โดยเฉพาะทับกฤช ซึ่งตรงกับที่คนในพื้นที่บอกว่าน้ำขัง 2–3 เดือน ปี 2564 ทับกฤชท่วม 0 → 71 ตร.กม. ใน 6 วัน และยังท่วม ~40 ตร.กม. ถึง 13 ธ.ค. ลักษณะท่วมเร็ว–ลดช้าแบบนี้เป็นน้ำจากแม่น้ำ ไม่ใช่ฝนในพื้นที่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ฝน 150 มม. น้ำเกือบทั้งหมดถูกเก็บในคันนา ; ฝน 250 มม. เริ่มท่วมกว้าง แต่ถ้าไม่มีน้ำจากแม่น้ำ แบบจำลองจับพื้นที่ท่วมนานจริงได้แค่ 29% เพิ่มน้ำเท้อเต็มตลิ่งได้ 42% และเมื่อมีน้ำล้นตลิ่งเข้าบึงบอระเพ็ดได้ 81% → กลไกหลักของการท่วมนานคือน้ำจากน่าน/เจ้าพระยาย้อนเข้าบึง ฝนอย่างเดียวทำให้แบบจำลองท่วมนานเกินจริงในตำบลตอนใน (ท่าตะโก พนมรอก หัวถนน)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ใช้พารามิเตอร์ชุดเดียวกันทุกปี: ตลิ่งใช้งานต่ำกว่าตลิ่งสถานี 1 ม., น้ำเข้าทุ่งรวมไม่เกิน 400 ลบ.ม./วิ, บึงบอระเพ็ดเก็บน้ำที่ +24.5 ม. พื้นที่ท่วม 30 วันขึ้นไปจำลองได้ใกล้ของจริง (ต่างกันไม่เกิน ~20%) ที่ยังไม่ตรง: ปี 65 และ 68 น้ำมาช้ากว่าจริง 1–2 สัปดาห์ และไผ่สิงห์ท่วมจริงนานกว่าแบบจำลองมาก ขั้นต่อไปคือใส่ปริมาณน้ำไหลเข้าจากเหนือ (Y.17/N.7A) และระดับน้ำบึงบอระเพ็ด/การเปิดประตูจากกรมชลประทาน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NAKHON SAWAN FLOOD WATCH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ระบบติดตามน้ำท่วมขัง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จังหวัดนครสวรรค์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 Near-realtime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สรุปผลการพัฒนา วิธีวิเคราะห์ ผลลัพธ์ และข้อจำกัด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3D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สำหรับผู้บริหารและทีมเทคนิค · ข้อมูล ณ 28 ก.ย. 2569 · ปรับปรุงผลแอ่งท่าตะโก 30 ก.ย. 2569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48856" y="768096"/>
            <a:ext cx="4864608" cy="532180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/home/claude/rpt/img/crop_dur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822960"/>
            <a:ext cx="4754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เป้าหมาย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ระบบตอบ 4 คำถามสำคัญของการเฝ้าระวังน้ำท่วมขัง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830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498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647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ท่วมที่ไหน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95144"/>
            <a:ext cx="223113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 hex 1 ตร.กม. ครอบคลุมทั้งจังหวัด 9,721 hex และภาพ 2D ละเอียดใน 3 จุดวิกฤต + แอ่งท่าตะโก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17830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78224" y="17647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ลึกเท่าไร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295144"/>
            <a:ext cx="223113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ความลึกน้ำ 5 ชั้น ตั้งแต่เฝ้าระวัง 10–25 ซม. จนถึงท่วมสูงมากกว่า 1 ม. พร้อมสัดส่วนพื้นที่ท่วมใน hex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82512" y="17830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825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94576" y="17647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นานแค่ไหน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295144"/>
            <a:ext cx="223113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ท่วมมาแล้วกี่ชั่วโมง และคาดว่าจะลดต่ำกว่า 10 ซม. เมื่อไร ทั้งรายจุดและรายอำเภอ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33472" cy="2743200"/>
          </a:xfrm>
          <a:prstGeom prst="roundRect">
            <a:avLst>
              <a:gd name="adj" fmla="val 347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98864" y="178308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1988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17647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น้ำมาจากไหน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295144"/>
            <a:ext cx="223113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แยกน้ำฝนในพื้นที่กับน้ำล้นตลิ่ง และน้ำที่ไหลมาจากกำแพงเพชร พิจิตร พิษณุโลก เพชรบูรณ์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49808" y="4828032"/>
            <a:ext cx="107103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อัปเดตอัตโนมัติทุก 1 ชั่วโมง · เปิดดูได้ทุกคนผ่านอินเทอร์เน็ต · ไม่มีค่าเซิร์ฟเวอร์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358384"/>
            <a:ext cx="1069207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ข้อมูลฝน/ระดับน้ำดึงจากหน่วยงานและแหล่งเปิด ประมวลผลบน GitHub Actions และแสดงบน GitHub Pages ส่วนงานวิเคราะห์ภูมิประเทศทำครั้งเดียวใน ArcGIS Pro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 ณ 28 ก.ย. 2569 เวลา 20:57 น.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สถานการณ์ล่าสุด: พื้นที่ท่วมขังกระจุกที่ลาดยาวและแม่วงก์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71907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59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9938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ท่วมขังลึกตั้งแต่ 25 ซม. ตอนนี้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07992" y="171907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83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07992" y="239938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ลึกตั้งแต่ 10 ซม. (รวมเฝ้าระวัง)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0144" y="155448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38744" y="171907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66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238744" y="239938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พื้นที่ท่วมขังสูงสุดที่คาดใน 72 ชม.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341071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42 ชม.</a:t>
            </a:r>
            <a:pPr indent="0" marL="0">
              <a:buNone/>
            </a:pP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9102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 (มัธยฐานถ่วงพื้นที่)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324612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507992" y="341071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37 ชม.</a:t>
            </a:r>
            <a:pPr indent="0" marL="0">
              <a:buNone/>
            </a:pP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409102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คาดว่าน้ำจะลดใน (มัธยฐาน)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3246120"/>
            <a:ext cx="3547872" cy="1508760"/>
          </a:xfrm>
          <a:prstGeom prst="roundRect">
            <a:avLst>
              <a:gd name="adj" fmla="val 6061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38744" y="3410712"/>
            <a:ext cx="318211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5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132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ล้าน ลบ.ม.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238744" y="409102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น้ำจาก 4 จังหวัดต้นน้ำเข้า นว. ใน 72 ชม.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49808" y="5239512"/>
            <a:ext cx="107103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ข้อสังเกต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76986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ลาดยาว แม่วงก์ และบรรพตพิสัย รวมกันเป็น 87% ของพื้นที่ลึกตั้งแต่ 10 ซม. · แม่น้ำแม่วงก์ที่สถานี Ct.5A ล้นตลิ่ง 1.11 ม. มาแล้ว 39 ชม. และยังขึ้นอยู่ · แม่น้ำปิง น่าน เจ้าพระยา ยังต่ำกว่าตลิ่ง 2–3 ม.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ผลิตภัณฑ์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หน้าเว็บแอปที่ผู้ใช้เห็น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7333488" cy="4626864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home/claude/rpt/img/app_du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7223760" cy="45171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600200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1838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157276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แผนที่ความลึก 5 ชั้น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เลื่อนดูย้อนหลัง 7 วันถึงพยากรณ์ +72 ชม.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183880" y="2496312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18388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4688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โหมดระยะเวลาท่วม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 + คาดการณ์ ราย hex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183880" y="3392424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18388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36499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แท็บอำเภอ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พื้นที่ท่วม ระยะเวลา และแถบสีแยกช่วงเวลาที่น้ำจะลด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183880" y="4288536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18388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426110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แท็บต้นน้ำ / ระดับน้ำ / ฝน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hydrograph สถานี RID สถานการณ์ตลิ่ง ฝนสถานี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183880" y="5184648"/>
            <a:ext cx="365760" cy="3657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8183880" y="5184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5157216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แท็บ 2D จุดวิกฤต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ความลึกละเอียด 120 ม. ตอนนี้ถึง +72 ชม.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รีเฟรชข้อมูลเองทุก 5 นาที · ใช้บนมือถือได้ · คลิก hex เพื่อดูความลึก สาเหตุ ระยะเวลา ฝนสะสม และค่า HAND/CN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ผลการวิเคราะห์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พื้นที่ท่วมขังรายอำเภอ: ลาดยาวมากที่สุดและยังเพิ่มขึ้นใน 72 ชม.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822192" cy="4572000"/>
          </a:xfrm>
          <a:prstGeom prst="roundRect">
            <a:avLst>
              <a:gd name="adj" fmla="val 239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019288" y="1719072"/>
            <a:ext cx="3438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อ่านกราฟนี้อย่างไร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19288" y="2249424"/>
            <a:ext cx="341985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ตอนนี้ = พื้นที่ลึกตั้งแต่ 25 ซม. ณ เวลาปัจจุบัน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72 ชม. = พื้นที่สูงสุดในช่วงพยากรณ์ รวมฝนพยากรณ์และน้ำล้นตลิ่ง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ลาดยาว 40 → 54 ตร.กม. เพราะแม่น้ำแม่วงก์ยังเกินความจุลำน้ำ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อำเภออื่นทรงตัวหรือลดลง เพราะฝนพยากรณ์ 72 ชม. น้อย (≤ 21 มม.)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ผลการวิเคราะห์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ระยะเวลาท่วม: 70% ของพื้นที่คาดว่าน้ำลดภายใน 3 วัน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08760"/>
            <a:ext cx="363931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0" y="1673352"/>
            <a:ext cx="32735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58 ตร.กม.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200046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ลดต่ำกว่า 10 ซม. ภายใน 3 วัน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01000" y="2880360"/>
            <a:ext cx="363931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0" y="3044952"/>
            <a:ext cx="32735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 ตร.กม.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571646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ต้องใช้ 3–7 วัน (ส่วนใหญ่ลาดยาว)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01000" y="4251960"/>
            <a:ext cx="363931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229600" y="4416552"/>
            <a:ext cx="32735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2.8 ตร.กม.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943246"/>
            <a:ext cx="3273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เกิน 14 วัน · แอ่งที่ลาดยาวตะวันตก (น่าจะนานเกินจริง)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 = ชั่วโมงต่อเนื่องที่ลึกตั้งแต่ 10 ซม. · คาดลดใน = ชั่วโมงแรกในอนาคตที่ต่ำกว่า 10 ซม. · พื้นที่ล้นตลิ่งนับจากเวลาที่สถานีขึ้นเหนือตลิ่ง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ผลการวิเคราะห์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น้ำจากต้นน้ำ 4 จังหวัด: กำแพงเพชรส่งน้ำเข้ามากที่สุด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782312" cy="960120"/>
          </a:xfrm>
          <a:prstGeom prst="roundRect">
            <a:avLst>
              <a:gd name="adj" fmla="val 9524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059168" y="16824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แม่น้ำปิง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 P.17 · 778 / 1,835 ลบ.ม./วิ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0149840" y="16642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42%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149840" y="21214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ของความจุ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0" y="2670048"/>
            <a:ext cx="4782312" cy="960120"/>
          </a:xfrm>
          <a:prstGeom prst="roundRect">
            <a:avLst>
              <a:gd name="adj" fmla="val 9524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059168" y="279806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แม่น้ำน่าน-ยม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 N.67 · 1,038 / 1,435 ลบ.ม./วิ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0149840" y="277977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72%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149840" y="3236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ของความจุ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0" y="3785616"/>
            <a:ext cx="4782312" cy="960120"/>
          </a:xfrm>
          <a:prstGeom prst="roundRect">
            <a:avLst>
              <a:gd name="adj" fmla="val 9524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7059168" y="39136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แม่น้ำเจ้าพระยา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 C.2 · 1,969 / 3,735 ลบ.ม./วิ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0149840" y="38953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53%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0149840" y="4352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ของความจุ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0" y="4901184"/>
            <a:ext cx="4782312" cy="960120"/>
          </a:xfrm>
          <a:prstGeom prst="roundRect">
            <a:avLst>
              <a:gd name="adj" fmla="val 9524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059168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แม่วงก์-สะแกกรัง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 Ct.5A · 385 / 232 ลบ.ม./วิ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10149840" y="50109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166%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0149840" y="5468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ของความจุ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ปริมาตรจากแบบจำลอง SCS-CN ราย zone (794 zones) ปรับขนาดด้วยปริมาณน้ำจริงสถานี P.17 และ N.67 · ความจุ = qmax ของสถานีกรมชลประทาน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ผลการวิเคราะห์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แม่วงก์ (Ct.5A) ล้นตลิ่ง: คาดสูงสุด 437 ลบ.ม./วิ แล้วลดต่ำกว่าความจุในราว 33 ชม.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49808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554480"/>
            <a:ext cx="3364992" cy="4572000"/>
          </a:xfrm>
          <a:prstGeom prst="roundRect">
            <a:avLst>
              <a:gd name="adj" fmla="val 271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476488" y="171907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ที่มาของพยากรณ์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76488" y="2249424"/>
            <a:ext cx="296265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ใช้ค่าตรวจวัดรายชั่วโมง 30 วันจาก ThaiWater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สถานีไม่รายงานปริมาณน้ำ → คำนวณจาก rating curve ที่ฟิตจากอดีต 265 คู่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น้ำยังขึ้น 6.9 ลบ.ม./วิ/ชม. → ขึ้นต่อแบบหน่วง 12 ชม.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แล้วลดตามอัตราน้ำลดจริงของสถานี k = 31 ชม.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ส่วนเกินความจุ 232 ลบ.ม./วิ คือน้ำที่ไหลเข้าที่ราบลาดยาว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สถาปัตยกรรม: วิเคราะห์หนักครั้งเดียว แล้วอัปเดตเบาทุกชั่วโมง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3000" cy="3200400"/>
          </a:xfrm>
          <a:prstGeom prst="roundRect">
            <a:avLst>
              <a:gd name="adj" fmla="val 3639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แหล่งข้อมูล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21838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Open-Meteo ฝนรายชั่วโมง + พยากรณ์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ThaiWater ฝนสถานี ระดับน้ำ ปริมาณน้ำ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GISTDA · Windy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DEM · WorldCover · OSM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5648" y="303580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09112" y="1554480"/>
            <a:ext cx="2513000" cy="3200400"/>
          </a:xfrm>
          <a:prstGeom prst="roundRect">
            <a:avLst>
              <a:gd name="adj" fmla="val 3639"/>
            </a:avLst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73704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7370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12616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212848"/>
            <a:ext cx="21838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 DEM · Fill · Flow Direction · Flow Accumulation · HAND · CN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1 ตร.กม. + เครือข่ายการไหล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ลุ่มน้ำต้นน้ำ · โดเมน 2D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6120" y="303580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69584" y="1554480"/>
            <a:ext cx="2513000" cy="3200400"/>
          </a:xfrm>
          <a:prstGeom prst="roundRect">
            <a:avLst>
              <a:gd name="adj" fmla="val 3639"/>
            </a:avLst>
          </a:prstGeom>
          <a:solidFill>
            <a:srgbClr val="EFEDFB"/>
          </a:solidFill>
          <a:ln w="12700">
            <a:solidFill>
              <a:srgbClr val="EFEDF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34176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3417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3088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52464" y="2212848"/>
            <a:ext cx="21838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1 ชม.: โมเดล hex v3 + ต้นน้ำ + ระยะเวลาท่วม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6 ชม.: แบบจำลอง 2D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ทุกสัปดาห์: สอบเทียบ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46591" y="303580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130055" y="1554480"/>
            <a:ext cx="2513000" cy="3200400"/>
          </a:xfrm>
          <a:prstGeom prst="roundRect">
            <a:avLst>
              <a:gd name="adj" fmla="val 3639"/>
            </a:avLst>
          </a:prstGeom>
          <a:solidFill>
            <a:srgbClr val="FDF3E5"/>
          </a:solidFill>
          <a:ln w="12700">
            <a:solidFill>
              <a:srgbClr val="FDF3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294647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294647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3559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เว็บแอป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12935" y="2212848"/>
            <a:ext cx="218381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GitHub Pages + Leaflet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 ตาราง กราฟ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 toolbox รันบนเครื่องได้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749808" y="514807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ทำไมออกแบบแบบนี้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678424"/>
            <a:ext cx="5084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งานภูมิประเทศใช้เวลา 30–60 นาทีแต่ทำครั้งเดียว ส่วนรอบรายชั่วโมงเหลือ numpy ใช้เวลา 12–30 วินาที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45352" y="49834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46520" y="514807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ต้นทุน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678424"/>
            <a:ext cx="4992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ไม่มีเซิร์ฟเวอร์ ไม่มีฐานข้อมูล ไม่ต้องใช้ ArcGIS Online · ใช้ license ArcGIS Pro เฉพาะขั้นเตรียมข้อมูล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ขั้นตอนวิเคราะห์ภูมิประเทศใน ArcGIS Pro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 DEM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FABDEM 30 ม. (ตัดอาคาร/ต้นไม้) · burn ลำน้ำ OSM -0.5 ถึง -3 ม. · ยกคันกั้นน้ำ +1 ม.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805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อุทกวิทยาพื้นฐาน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Fill → Flow Direction (D8) → Flow Accumulation · ลำน้ำ &gt; 5 และ &gt; 1,000 ตร.กม.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11312" y="1737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1131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HAND และแอ่ง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Flow Distance (VERTICAL) ความสูงเหนือลำน้ำ · Sink = Fill - DEM · Slope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" y="41148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498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Curve Number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ESA WorldCover × กลุ่มดิน HSG C/D (HAND &lt; 5 ม. = D)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279392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4805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+ เครือข่าย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Generate Tessellation 1 ตร.กม. · 28,542 ขอบ · ระดับจุดล้น · hypsometry · คลอง 501 กม. · ประตูน้ำ 20 แห่ง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010144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211312" y="411480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21131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ต้นน้ำ + 2D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DEM ภูมิภาค 90 ม. 5 จังหวัด · 794 zones + เวลาเดินทาง · กริด 120 ม. 3 จุดวิกฤต + ชุดข้อมูล HEC-RAS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 toolbox NakhonSawanFlood.pyt: 0) Build All · 1) Static · 1b) Upstream · 1c) Network · 1d) 2D Hotspots · 2) Run Update · 2b) 2D · 2c) Calibrate · 3) Publish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โมเดลรายชั่วโมง: น้ำไหลจากที่สูงลงที่ต่ำ ขังในแอ่ง และระบายออก</a:t>
            </a:r>
            <a:endParaRPr lang="en-US" sz="2800" dirty="0"/>
          </a:p>
        </p:txBody>
      </p:sp>
      <p:pic>
        <p:nvPicPr>
          <p:cNvPr id="4" name="Image 0" descr="/home/claude/rpt/fig/d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11094415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749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49808" y="523951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ไหลหลายทิศ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769864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แบ่งน้ำไปทุก hex ท้ายน้ำตามสัดส่วนเส้นทาง D8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64992" y="50749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566160" y="523951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Fill-spill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5769864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น้ำล้นข้ามจุดล้นเมื่อระดับผิวน้ำสูงกว่าสันแอ่ง ไหลย้อนได้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81344" y="50749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82512" y="523951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โครงสร้างระบายน้ำ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382512" y="5769864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คลองเร่งการระบาย · ท่อเมือง · สถานีสูบ · ประตูน้ำปิดเมื่อแม่น้ำสูง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97696" y="5074920"/>
            <a:ext cx="2633472" cy="1188720"/>
          </a:xfrm>
          <a:prstGeom prst="roundRect">
            <a:avLst>
              <a:gd name="adj" fmla="val 769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98864" y="5239512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แยกสาเหตุ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198864" y="5769864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รัน 2 รอบ มี/ไม่มีน้ำล้นตลิ่ง เพื่อแยกฝนกับแม่น้ำ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วิธีคำนวณระยะเวลาท่วม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10332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4884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D7EEF6"/>
          </a:solidFill>
          <a:ln w="12700">
            <a:solidFill>
              <a:srgbClr val="D7EEF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ท่วมมาแล้ว: ชั่วโมงต่อเนื่องที่ลึกตั้งแต่ 10 ซม.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2148840"/>
            <a:ext cx="5212080" cy="640080"/>
          </a:xfrm>
          <a:prstGeom prst="roundRect">
            <a:avLst>
              <a:gd name="adj" fmla="val 11429"/>
            </a:avLst>
          </a:prstGeom>
          <a:solidFill>
            <a:srgbClr val="EDE7FE"/>
          </a:solidFill>
          <a:ln w="12700">
            <a:solidFill>
              <a:srgbClr val="EDE7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035040" y="2148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คาดลดใน: ชั่วโมงแรกที่ต่ำกว่า 10 ซม.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42432" y="2862072"/>
            <a:ext cx="219456" cy="21945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39496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ตอนนี้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ย้อนหลัง 30 วัน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+72 ชม. → ต่อด้วยอัตราน้ำลด (สูงสุด 14 วัน)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47872" cy="2331720"/>
          </a:xfrm>
          <a:prstGeom prst="roundRect">
            <a:avLst>
              <a:gd name="adj" fmla="val 392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" y="4023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4980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4005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น้ำฝนขัง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535424"/>
            <a:ext cx="31455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จำลองฝนย้อนหลัง 30 วันต่อเนื่อง (cold start) · ไปข้างหน้าด้วยฝนพยากรณ์ 72 ชม. · เกิน 72 ชม. ใช้อัตราการลดใน 12 ชม. สุดท้าย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79392" y="3840480"/>
            <a:ext cx="3547872" cy="2331720"/>
          </a:xfrm>
          <a:prstGeom prst="roundRect">
            <a:avLst>
              <a:gd name="adj" fmla="val 392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80560" y="4023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48056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92624" y="4005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น้ำล้นตลิ่ง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535424"/>
            <a:ext cx="31455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ท่วมมาแล้ว = นับจากเวลาที่สถานีหลักของลำน้ำ (≤ 10 กม.) ขึ้นเหนือตลิ่ง · ปริมาณน้ำในแม่น้ำลดตาม recession ที่วัดจากช่วงน้ำลดจริง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0144" y="3840480"/>
            <a:ext cx="3547872" cy="2331720"/>
          </a:xfrm>
          <a:prstGeom prst="roundRect">
            <a:avLst>
              <a:gd name="adj" fmla="val 392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211312" y="402336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211312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723376" y="4005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สรุปรายอำเภอ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4535424"/>
            <a:ext cx="31455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มัธยฐานถ่วงพื้นที่ท่วมจริง · ค่าสูงสุด · พื้นที่แยก 5 ช่วง: &lt; 1, 1–3, 3–7, 7–14, &gt; 14 วัน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 2 มิติ 120 ม. ยืนยันภาพในจุดวิกฤต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5961888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home/claude/rpt/img/crop_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85216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508760"/>
            <a:ext cx="4919472" cy="1051560"/>
          </a:xfrm>
          <a:prstGeom prst="roundRect">
            <a:avLst>
              <a:gd name="adj" fmla="val 869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949440" y="1673352"/>
            <a:ext cx="45537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52.8 → 70.4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09763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ลาดยาว–แม่วงก์ (สะแกกรัง) · ตอนนี้ → สูงสุด 72 ชม.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20840" y="2697480"/>
            <a:ext cx="4919472" cy="1051560"/>
          </a:xfrm>
          <a:prstGeom prst="roundRect">
            <a:avLst>
              <a:gd name="adj" fmla="val 869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949440" y="2862072"/>
            <a:ext cx="45537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7.9 → 8.4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328635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เมืองนครสวรรค์ (ปากน้ำโพ) · ตอนนี้ → สูงสุด 72 ชม.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20840" y="3886200"/>
            <a:ext cx="4919472" cy="1051560"/>
          </a:xfrm>
          <a:prstGeom prst="roundRect">
            <a:avLst>
              <a:gd name="adj" fmla="val 869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949440" y="4050792"/>
            <a:ext cx="45537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0.7 → 0.7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ตร.กม.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475074"/>
            <a:ext cx="4553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ชุมแสง (น่าน–ยม) · ตอนนี้ → สูงสุด 72 ชม.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20840" y="5120640"/>
            <a:ext cx="491947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922008" y="5303520"/>
            <a:ext cx="4517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Local-inertial (Bates et al. 2010) · เริ่มจากสภาพน้ำของโมเดล hex เมื่อ 48 ชม.ก่อน · ระดับน้ำสถานีเป็นขอบเขตแม่น้ำ มีตลิ่งกั้น · รันทุก 6 ชม. และส่งออกให้ HEC-RAS 2D ได้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ภาพ: ความลึกน้ำจากแบบจำลอง 2D ลาดยาว–แม่วงก์ (สะแกกรัง) ซ้อนกับ hex และสถานีระดับน้ำ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คุณภาพผลลัพธ์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การสอบเทียบ: ความคลาดเคลื่อนลดลง 43% เมื่อเทียบกับแบบจำลอง 2D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554480"/>
            <a:ext cx="4965192" cy="3017520"/>
          </a:xfrm>
          <a:prstGeom prst="roundRect">
            <a:avLst>
              <a:gd name="adj" fmla="val 3030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876288" y="1719072"/>
            <a:ext cx="4581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สิ่งที่การสอบเทียบบอก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76288" y="2249424"/>
            <a:ext cx="456285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ค่าที่ใช้: t_mult 0.5 · weir_c 0.05 · dcap_mult 1.7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โมเดลเดิมแผ่น้ำข้าม hex มากไป และเก็บน้ำในแอ่ง/คันนาน้อยไป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ระบายเร็วขึ้น 2 เท่าให้ผลใกล้ 2D กว่า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รันซ้ำอัตโนมัติทุกสัปดาห์ (อาทิตย์ 07:00 น.)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75120" y="4754880"/>
            <a:ext cx="4965192" cy="137160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876288" y="4919472"/>
            <a:ext cx="4581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ข้อควรระวัง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76288" y="5449824"/>
            <a:ext cx="45628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ค่านี้เทียบกับ 2D · แอ่งท่าตะโกเทียบดาวเทียมแล้ว (สไลด์ถัดไป) · ระบบสะสม Sentinel-1 วันละ 2 รอบไว้สอบเทียบ hex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แอ่งท่าตะโก · น้ำท่วมจริง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แอ่งท่าตะโก: ท่วมซ้ำซากนาน 2–3 เดือน — ภาพเรดาร์ 9 ปียืนยัน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" y="1426464"/>
            <a:ext cx="5093208" cy="4471416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map_s1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4983480" cy="43616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91616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จำนวนปีที่ท่วมต่อเนื่อง 30 วันขึ้นไป (Sentinel-1 ปี 2560–2568)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897880" y="1371600"/>
          <a:ext cx="57607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897880" y="4224528"/>
            <a:ext cx="1828800" cy="141732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99048" y="435254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173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ตร.กม.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501868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ท่วม 30 วันขึ้นไป อย่างน้อย 3 ใน 9 ปี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224528"/>
            <a:ext cx="1828800" cy="141732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065008" y="435254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64545"/>
                </a:solidFill>
                <a:latin typeface="Prompt"/>
                <a:ea typeface="Prompt"/>
                <a:cs typeface="Prompt"/>
              </a:rPr>
              <a:t>70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ตร.กม.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501868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ทับกฤช · ท่วมนานมัธยฐาน 72–84 วัน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4224528"/>
            <a:ext cx="1828800" cy="1417320"/>
          </a:xfrm>
          <a:prstGeom prst="roundRect">
            <a:avLst>
              <a:gd name="adj" fmla="val 6000"/>
            </a:avLst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30968" y="435254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4</a:t>
            </a:r>
            <a:r>
              <a:rPr sz="13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  ตำบล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0968" y="5018684"/>
            <a:ext cx="1463040" cy="6377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รอบบึงบอระเพ็ดท่วมนานที่สุด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5760720"/>
            <a:ext cx="5760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ทับกฤช วังมหากร พนมเศษ พระนอน (+ ไผ่สิงห์) · ตำบลตอนในท่าตะโกแทบไม่ท่วมนาน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ที่มา: Sentinel-1 RTC VV (Microsoft Planetary Computer) วงโคจร 62 · 148 ภาพ ส.ค.–15 ธ.ค. ปี 2560–2568 · น้ำใต้ต้นข้าว/พืชสูงตรวจไม่พบ (อาจนับต่ำ) · ระยะเวลาถูกตัดที่ 15 ธ.ค.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แอ่งท่าตะโก · สาเหตุ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สาเหตุหลักคือน้ำจากแม่น้ำ ไม่ใช่ฝนที่ตกในแอ่ง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57200" y="1371600"/>
          <a:ext cx="60350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48640" y="4754880"/>
            <a:ext cx="5852160" cy="1481328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9808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ตรงกับที่ดาวเทียมเห็นท่วมนานแค่ไหน (สัดส่วนที่จับได้ · POD)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2578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A3B3C2"/>
                </a:solidFill>
                <a:latin typeface="Prompt"/>
                <a:ea typeface="Prompt"/>
                <a:cs typeface="Prompt"/>
              </a:rPr>
              <a:t>0.29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60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C ฝนอย่างเดียว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7" y="52578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0.42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24327" y="5760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D + น้ำเต็มตลิ่ง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525780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64545"/>
                </a:solidFill>
                <a:latin typeface="Prompt"/>
                <a:ea typeface="Prompt"/>
                <a:cs typeface="Prompt"/>
              </a:rPr>
              <a:t>0.81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8" y="57607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E + น้ำล้นตลิ่ง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7416" y="1426464"/>
            <a:ext cx="4937760" cy="4334256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map_sc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81328"/>
            <a:ext cx="4828032" cy="42245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12280" y="5779008"/>
            <a:ext cx="4828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สถานการณ์ E: เวลาที่น้ำลดนับจากฝนเริ่มตก — น้ำขังเกิน 14 วันรวมที่ขอบบึงบอระเพ็ด (ทับกฤช พนมเศษ วังมหากร)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แบบจำลอง 2D 180 ม. แอ่งท่าตะโก (พื้นที่รับน้ำ 3,741 ตร.กม.) · เริ่มจากแห้ง คันนาเก็บน้ำ 100 มม. · เทียบกับพื้นที่ท่วมจริง 30 วันขึ้นไป อย่างน้อย 3 ปี (Sentinel-1)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998B"/>
                </a:solidFill>
                <a:latin typeface="Prompt"/>
                <a:ea typeface="Prompt"/>
                <a:cs typeface="Prompt"/>
              </a:rPr>
              <a:t>แอ่งท่าตะโก · ทดสอบกับเหตุการณ์จริง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จำลองน้ำท่วมจริง 3 ปีได้ใกล้เคียงดาวเทียม (CSI 0.49–0.54)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" y="1426464"/>
            <a:ext cx="4956048" cy="4352544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map_ev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4846320" cy="42428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79729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ปี 2568: พื้นที่ท่วม 30 วันขึ้นไป — แบบจำลองเทียบภาพเรดาร์วันเดียวกัน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760720" y="1481328"/>
          <a:ext cx="5879592" cy="138988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731520"/>
                <a:gridCol w="2587752"/>
                <a:gridCol w="13716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ปี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ท่วม 30 วันขึ้นไป จำลอง / จริง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จับได้ (POD)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CSI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0B3C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2564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250 / 211 ตร.กม.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0.77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0.54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2565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202 / 210 ตร.กม.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0.64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0.49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4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2568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275 / 227 ตร.กม.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0.78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i="0">
                          <a:solidFill>
                            <a:srgbClr val="1E293B"/>
                          </a:solidFill>
                          <a:latin typeface="Prompt"/>
                          <a:ea typeface="Prompt"/>
                          <a:cs typeface="Prompt"/>
                        </a:rPr>
                        <a:t>0.54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D5DEE6"/>
                      </a:solidFill>
                    </a:lnL>
                    <a:lnR w="6350">
                      <a:solidFill>
                        <a:srgbClr val="D5DEE6"/>
                      </a:solidFill>
                    </a:lnR>
                    <a:lnT w="6350">
                      <a:solidFill>
                        <a:srgbClr val="D5DEE6"/>
                      </a:solidFill>
                    </a:lnT>
                    <a:lnB w="6350">
                      <a:solidFill>
                        <a:srgbClr val="D5DE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669280" y="3017520"/>
          <a:ext cx="603504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5760720" y="5074920"/>
            <a:ext cx="5879592" cy="1188720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61888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C5D"/>
                </a:solidFill>
                <a:latin typeface="Prompt"/>
                <a:ea typeface="Prompt"/>
                <a:cs typeface="Prompt"/>
              </a:rPr>
              <a:t>ข้อค้นพบ: น้ำเข้าทุ่งก่อนระดับน้ำถึงตลิ่ง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5532120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Prompt"/>
                <a:ea typeface="Prompt"/>
                <a:cs typeface="Prompt"/>
              </a:rPr>
              <a:t>ระดับน้ำ N.67 ชุมแสงไม่ถึงตลิ่ง (28.21 ม.) เลยทั้ง 3 ปี แต่ดาวเทียมเห็นท่วม 2–3 เดือนทุกปี → น้ำเข้าผ่านคลอง ประตูน้ำ และช่องต่ำ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Prompt"/>
                <a:ea typeface="Prompt"/>
                <a:cs typeface="Prompt"/>
              </a:rPr>
              <a:t>แบบจำลอง 2D 300 ม. ใช้ระดับน้ำจริงรายชั่วโมง Y.5 / N.67 / C.2 (ThaiWater) + ฝน ERA5 ช่วง 20 ส.ค.–15 ธ.ค. · CSI = พื้นที่ตรงกัน ÷ (ตรงกัน + ขาด + เกิน)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ข้อมูลอ้างอิง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แหล่งข้อมูลที่ใช้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1280160"/>
                <a:gridCol w="36850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ข้อมูล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แหล่ง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ความถี่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ใช้ทำอะไร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ฝนรายชั่วโมง + พยากรณ์ 72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Open-Meteo (ECMWF/GFS)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~1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ฝนต่อเนื่องทั้ง 5 จังหวัด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ฝนสถานีโทรมาตร 24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ThaiWater (สสน.)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10–60 นาที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ปรับแก้ฝนแบบจำลอง (798 สถานี)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ระดับน้ำ ปริมาณน้ำ ความจุลำน้ำ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ThaiWater / กรมชลประทาน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10–60 นาที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น้ำล้นตลิ่ง backwater hydrograph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ประวัติระดับน้ำรายชั่วโมง 30 วัน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ThaiWater waterlevel_graph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ทุกรอบ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rating curve · อัตราน้ำลด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พื้นที่น้ำท่วมจากดาวเทียม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GISTDA Disaster API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รายวัน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แสดงเทียบ (ต้องมี API key)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DEM 30 ม. / 90 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FABDEM V1-2 · Copernicus GLO-30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คงที่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ทิศการไหล HAND แอ่ง เครือข่าย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สิ่งปกคลุมดิน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ESA WorldCover 2021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คงที่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Curve Number · Manning n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ลำน้ำ คลอง คันกั้นน้ำ ประตูน้ำ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OpenStreetMap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คงที่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burn DEM · โครงสร้างระบายน้ำ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ขอบเขตจังหวัด/อำเภอ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geoBoundaries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คงที่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hex และสรุปรายอำเภอ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ภาพฝน/เรดาร์ประกอบ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Windy.com (embed)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–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แสดงผลเท่านั้น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ภาพเรดาร์ Sentinel-1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Planetary Computer (RTC)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6–12 วัน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พื้นที่ท่วมจริง · สอบเทียบ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ฝนย้อนหลัง ERA5 · ขอบเขตตำบล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Open-Meteo archive · OCHA COD-AB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รายชั่วโมง / คงที่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จำลองเหตุการณ์ 2564/65/68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FABDEM ใช้ได้เฉพาะงานไม่แสวงหากำไร (CC BY-NC-SA 4.0) — ถ้าใช้เชิงพาณิชย์ให้เปลี่ยนเป็น Copernicus DEM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ข้อจำกัดที่ต้องรู้ก่อนนำไปใช้ตัดสินใจ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เป็น screening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1 ตร.กม. บอกแนวโน้มและจัดลำดับพื้นที่ ความลึกเป็นค่าประมาณ ไม่ใช่ระดับถนน/บ้าน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805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92624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เทียบน้ำท่วมจริงแล้วบางส่วน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ท่าตะโกเทียบ Sentinel-1 แล้ว (CSI ~0.5) · น้ำมาช้ากว่าจริง 1–2 สัปดาห์ · ทั้งจังหวัดยังรอข้อมูลสะสม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11312" y="173736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1131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17190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ฝนขึ้นกับแบบจำลองอากาศ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224942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Open-Meteo สูงกว่าสถานีราว 1.8 เท่าในรอบนี้ (ปรับแก้แล้วเฉพาะ 24 ชม. ล่าสุด)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4980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แม่น้ำและเขื่อน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ไม่ได้พยากรณ์การระบายเขื่อน · recession แบบ exponential เดียว · สถานี Ct.5A ใช้ rating curve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279392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4805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992624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โครงสร้างระบายน้ำไม่ครบ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OSM ไม่มีสถานีสูบในจังหวัด · ประตูน้ำ 20 แห่ง · ต้องเพิ่มข้อมูลจริงใน CSV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010144" y="3931920"/>
            <a:ext cx="3547872" cy="2194560"/>
          </a:xfrm>
          <a:prstGeom prst="roundRect">
            <a:avLst>
              <a:gd name="adj" fmla="val 416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211312" y="4114800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21131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23376" y="4096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ระยะเวลาในที่ลาด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4626864"/>
            <a:ext cx="31455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2.8 ตร.กม. ที่ลาดยาวตะวันตกขึ้น &gt; 14 วัน น่าจะนานเกินจริง (ค่าระบายสอบเทียบจากที่ราบ)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ข้อเสนอขั้นต่อไป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087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ขยายการเทียบน้ำท่วมจริง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ใส่น้ำไหลเข้าจากเหนือ (Y.17/N.7A) + ระดับบึงบอระเพ็ด/ประตูน้ำ ชป. · สะสม Sentinel-1 ทั้งจังหวัด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4144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ข้อมูลระบายน้ำจริง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ความจุสถานีสูบ ประตูระบายน้ำ จาก ชป./อปท. ใส่ใน drainage_assets_user.csv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7413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เปิดใช้งานสาธารณะ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push ขึ้น GitHub · เปิด Pages · ตรวจว่า runner ต่างประเทศดึง ThaiWater ได้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4864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0682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ผลกระทบ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ซ้อนประชากร ถนน โรงเรียน โรงพยาบาล → รายงานรายตำบล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3951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ฝนเรดาร์/ดาวเทียม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GSMaP/IMERG หรือเรดาร์กรมอุตุฯ แทนฝนแบบจำลองช่วงย้อนหลัง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998B"/>
                </a:solidFill>
                <a:latin typeface="Prompt"/>
              </a:rPr>
              <a:t>ทั้งจังหวัด · น้ำท่วมจริงและแบบจำลอง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5D"/>
                </a:solidFill>
                <a:latin typeface="Prompt"/>
              </a:rPr>
              <a:t>ทั้งจังหวัด: ท่วมนานซ้ำซาก 502 ตร.กม. — แบบจำลอง 2D จับได้ CSI 0.38–0.41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" y="1512189"/>
            <a:ext cx="6784848" cy="428167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1_provi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7053"/>
            <a:ext cx="6675120" cy="417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5897880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Prompt"/>
              </a:rPr>
              <a:t>จำนวนปีที่ท่วมต่อเนื่อง 30 วันขึ้นไป (Sentinel-1 ปี 2560–2568)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426464"/>
            <a:ext cx="1298448" cy="141732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1" y="1517904"/>
            <a:ext cx="1024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Prompt"/>
              </a:rPr>
              <a:t>502</a:t>
            </a:r>
            <a:r>
              <a:rPr sz="1100" b="0">
                <a:solidFill>
                  <a:srgbClr val="64748B"/>
                </a:solidFill>
                <a:latin typeface="Prompt"/>
              </a:rPr>
              <a:t>  กม²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1" y="2139696"/>
            <a:ext cx="1024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Prompt"/>
              </a:rPr>
              <a:t>ท่วม ≥30 วัน 3 ใน 9 ปี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1426464"/>
            <a:ext cx="1298448" cy="141732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1517904"/>
            <a:ext cx="1024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64545"/>
                </a:solidFill>
                <a:latin typeface="Prompt"/>
              </a:rPr>
              <a:t>249</a:t>
            </a:r>
            <a:r>
              <a:rPr sz="1100" b="0">
                <a:solidFill>
                  <a:srgbClr val="64748B"/>
                </a:solidFill>
                <a:latin typeface="Prompt"/>
              </a:rPr>
              <a:t>  กม²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139696"/>
            <a:ext cx="102412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Prompt"/>
              </a:rPr>
              <a:t>ชุมแสง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1426464"/>
            <a:ext cx="1307592" cy="141732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97312" y="1517904"/>
            <a:ext cx="1033271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998B"/>
                </a:solidFill>
                <a:latin typeface="Prompt"/>
              </a:rPr>
              <a:t>0.41</a:t>
            </a:r>
            <a:r>
              <a:rPr sz="1100" b="0">
                <a:solidFill>
                  <a:srgbClr val="64748B"/>
                </a:solidFill>
                <a:latin typeface="Prompt"/>
              </a:rPr>
              <a:t>  CSI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2139696"/>
            <a:ext cx="1033271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Prompt"/>
              </a:rPr>
              <a:t>แบบจำลอง 2D ปี 2568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3017520"/>
            <a:ext cx="4142232" cy="160020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59" y="310896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Prompt"/>
              </a:rPr>
              <a:t>สิ่งที่ได้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59" y="3474720"/>
            <a:ext cx="377647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Prompt"/>
              </a:rPr>
              <a:t>ท่วมนานกระจุกตามแนวน่าน–ชุมแสง–บึงบอระเพ็ด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Prompt"/>
              </a:rPr>
              <a:t>แบบจำลองชุดเดียวใช้ได้ 4 ปี รวมปีทดสอบ 2567 (CSI 0.31)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754880"/>
            <a:ext cx="4142232" cy="150876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59" y="484632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Prompt"/>
              </a:rPr>
              <a:t>ยังต้องการข้อมูล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59" y="5212080"/>
            <a:ext cx="377647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Prompt"/>
              </a:rPr>
              <a:t>ฝั่งขวาแม่น้ำปิง (เก้าเลี้ยว–โกรกพระ) ต้องใช้ข้อมูลคลองและการเปิด–ปิดประตูน้ำจาก ชป.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rompt"/>
              </a:rPr>
              <a:t>ที่มา: Sentinel-1 RTC (Copernicus ผ่าน Microsoft Planetary Computer) วงโคจร 62 + 172 · แบบจำลอง 2D 300 ม. (event_2d.py / scenario_prov.py / run_province.py)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998B"/>
                </a:solidFill>
                <a:latin typeface="Prompt"/>
              </a:rPr>
              <a:t>ทั้งจังหวัด · สถานการณ์และพยากรณ์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"/>
            <a:ext cx="1109167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5D"/>
                </a:solidFill>
                <a:latin typeface="Prompt"/>
              </a:rPr>
              <a:t>พายุใหญ่ + แม่น้ำสูง: น้ำขังนานกว่าฝนอย่างเดียว 4 เท่า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1427" y="1426464"/>
            <a:ext cx="674954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rov_sc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1" y="1481328"/>
            <a:ext cx="6639817" cy="4526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053328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Prompt"/>
              </a:rPr>
              <a:t>สถานการณ์ E: ฝน 250 มม./5 วัน + แม่น้ำล้นตลิ่ง — เวลาที่น้ำลด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426464"/>
            <a:ext cx="1993392" cy="141732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1" y="1517904"/>
            <a:ext cx="1719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3C5D"/>
                </a:solidFill>
                <a:latin typeface="Prompt"/>
              </a:rPr>
              <a:t>148</a:t>
            </a:r>
            <a:r>
              <a:rPr sz="1100" b="0">
                <a:solidFill>
                  <a:srgbClr val="64748B"/>
                </a:solidFill>
                <a:latin typeface="Prompt"/>
              </a:rPr>
              <a:t>  ตร.กม.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1" y="2139696"/>
            <a:ext cx="1719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Prompt"/>
              </a:rPr>
              <a:t>ขัง ≥7 วัน ฝน 250 มม. แม่น้ำปกติ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1426464"/>
            <a:ext cx="1993392" cy="141732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2" y="1517904"/>
            <a:ext cx="1719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D64545"/>
                </a:solidFill>
                <a:latin typeface="Prompt"/>
              </a:rPr>
              <a:t>608</a:t>
            </a:r>
            <a:r>
              <a:rPr sz="1100" b="0">
                <a:solidFill>
                  <a:srgbClr val="64748B"/>
                </a:solidFill>
                <a:latin typeface="Prompt"/>
              </a:rPr>
              <a:t>  ตร.กม.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139696"/>
            <a:ext cx="17190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Prompt"/>
              </a:rPr>
              <a:t>ขัง ≥7 วัน เมื่อแม่น้ำล้นตลิ่ง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017520"/>
            <a:ext cx="4142232" cy="1600200"/>
          </a:xfrm>
          <a:prstGeom prst="rect">
            <a:avLst/>
          </a:prstGeom>
          <a:solidFill>
            <a:srgbClr val="EE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59" y="310896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Prompt"/>
              </a:rPr>
              <a:t>พื้นที่ต้องเตรียมมากที่สุด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59" y="3474720"/>
            <a:ext cx="377647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Prompt"/>
              </a:rPr>
              <a:t>อ.เมืองนครสวรรค์ 167 · ท่าตะโก 110 · ชุมแสง 74 ตร.กม.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Prompt"/>
              </a:rPr>
              <a:t>ต.วังมหากร บางเคียน พระนอน ท่าตะโก เกรียงไกร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754880"/>
            <a:ext cx="4142232" cy="150876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59" y="484632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Prompt"/>
              </a:rPr>
              <a:t>พยากรณ์ 72 ชม. ทั้งจังหวัด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59" y="5212080"/>
            <a:ext cx="377647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Prompt"/>
              </a:rPr>
              <a:t>รันอัตโนมัติวันละ 4 รอบ ใช้เวลาราว 9 นาทีต่อรอบ แสดงในเว็บแท็บ 2D “ทั้งจังหวัด”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rompt"/>
              </a:rPr>
              <a:t>สถานการณ์สมมติเพื่อวางแผน ไม่ใช่พยากรณ์ · scenario_prov.py ชุดพารามิเตอร์เดียวกับที่สอบเทียบกับ Sentinel-1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Nakhon Sawan Flood Watch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Nakhon Sawan Flood Watch — สรุปผลสำหรับผู้บริหารและทีมเทคนิค</dc:title>
  <dc:subject>PptxGenJS Presentation</dc:subject>
  <dc:creator>Att</dc:creator>
  <cp:lastModifiedBy>Att</cp:lastModifiedBy>
  <cp:revision>1</cp:revision>
  <dcterms:created xsi:type="dcterms:W3CDTF">2026-09-28T15:01:24Z</dcterms:created>
  <dcterms:modified xsi:type="dcterms:W3CDTF">2026-09-28T15:01:24Z</dcterms:modified>
</cp:coreProperties>
</file>