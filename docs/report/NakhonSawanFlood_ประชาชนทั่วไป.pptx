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3B5C"/>
                </a:solidFill>
                <a:latin typeface="Prompt"/>
              </a:defRPr>
            </a:pPr>
            <a:r>
              <a:rPr sz="1500" b="0" i="0" u="none" strike="noStrike">
                <a:solidFill>
                  <a:srgbClr val="0B3B5C"/>
                </a:solidFill>
                <a:latin typeface="Prompt"/>
              </a:rPr>
              <a:t>พื้นที่น้ำท่วมรายอำเภอ (ไร่) — 6 อำเภอที่ท่วมมากที่สุด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พื้นที่น้ำท่วม (ไร่)</c:v>
                </c:pt>
              </c:strCache>
            </c:strRef>
          </c:tx>
          <c:spPr>
            <a:solidFill>
              <a:srgbClr val="2E86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937"/>
                    </a:solidFill>
                    <a:latin typeface="Promp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ลาดยาว</c:v>
                  </c:pt>
                  <c:pt idx="1">
                    <c:v>บรรพตพิสัย</c:v>
                  </c:pt>
                  <c:pt idx="2">
                    <c:v>แม่วงก์</c:v>
                  </c:pt>
                  <c:pt idx="3">
                    <c:v>โกรกพระ</c:v>
                  </c:pt>
                  <c:pt idx="4">
                    <c:v>ชุมตาบง</c:v>
                  </c:pt>
                  <c:pt idx="5">
                    <c:v>ตาคลี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27125</c:v>
                </c:pt>
                <c:pt idx="1">
                  <c:v>11188</c:v>
                </c:pt>
                <c:pt idx="2">
                  <c:v>6875</c:v>
                </c:pt>
                <c:pt idx="3">
                  <c:v>1562</c:v>
                </c:pt>
                <c:pt idx="4">
                  <c:v>1125</c:v>
                </c:pt>
                <c:pt idx="5">
                  <c:v>938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937"/>
                  </a:solidFill>
                  <a:latin typeface="Promp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F2937"/>
                </a:solidFill>
                <a:latin typeface="Promp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เปิดด้วยคำถามที่ทุกบ้านอยากรู้ช่วงหน้าฝน: บ้านเราน้ำจะท่วมไหม ลึกแค่ไหน และอีกนานเท่าไรจะลด เว็บนี้ตอบให้ทุกชั่วโมง ฟรี เปิดบนมือถือได้เลย ให้ทุกคนสแกน QR ตอนนี้เลย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เน้นว่าไม่ต้องอ่านตัวเลขยาก ๆ เว็บบอกเป็นภาษาง่าย ความลึกเทียบกับข้อเท้า เข่า เอว และบอกเป็นจำนวนวัน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อธิบายสั้น ๆ ว่าไม่ได้เดา ใช้ฝนจริง ระดับน้ำจริง ภาพดาวเทียม และแผนที่ความสูงพื้นดิน คอมพิวเตอร์คำนวณว่าน้ำจะไหลไปรวมที่ที่ต่ำตรงไหน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ภาพขวาคือตัวอย่างจริง บ้านใน อ.ลาดยาว น้ำระดับเข่า น่าจะลดในราว 2 วัน สาธิตสดถ้ามีอินเทอร์เน็ต: สแกน QR กดใช้ตำแหน่ง แล้วอ่านการ์ดบ้านของฉันให้ดู ถ้าไม่อยากเปิดตำแหน่ง ให้แตะบนแผนที่แทน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ความลึกในเว็บเป็นค่าเฉลี่ยของพื้นที่ประมาณ 1 ตารางกิโลเมตร บ้านที่อยู่บนเนินอาจตื้นกว่า บ้านที่อยู่ในที่ลุ่มอาจลึกกว่า ย้ำว่าน้ำแค่ระดับเข่าถ้าไหลแรงก็พัดคนล้มได้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ภาพตัวอย่างคือพรุ่งนี้ที่ อ.ลาดยาว ใช้ปุ่มใต้แผนที่สลับดู เหมาะกับการตัดสินใจว่าจะย้ายรถ ย้ายสัตว์ หรือเก็บเกี่ยวก่อนหรือไม่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สีของจังหวัดดูภาพรวม แต่ให้ดูการ์ดบ้านของฉันด้วยเสมอ เพราะจังหวัดอาจเป็นสีเหลือง แต่บางหมู่บ้านน้ำลึกแล้ว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ตัวอย่างจากข้อมูลจริงคืนวันที่ 28 ก.ย. 2569 น้ำท่วมมากที่ลาดยาว บรรพตพิสัย แม่วงก์ จากฝนตกหนักและแม่น้ำแม่วงก์ล้นตลิ่ง ส่วนใหญ่ลดใน 1–3 วัน แต่บางส่วนของลาดยาวต้องใช้ 3–7 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ข้อมูลจากภาพเรดาร์ดาวเทียม Sentinel-1 ย้อนหลัง 9 ปี ตำบลรอบบึงบอระเพ็ดท่วมเกือบทุกปีและขังนาน ตรงกับที่ชาวบ้านบอกว่าท่วม 2–3 เดือน น้ำส่วนใหญ่มาจากแม่น้ำ ไม่ใช่ฝนที่ตกในตำบล จึงต้องดูระดับแม่น้ำน่านประกอบ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รายการเดียวกับหัวข้อ 'ควรทำอย่างไร' ในเว็บ เน้นเรื่องไฟฟ้าและการลุยน้ำ ซึ่งเป็นสาเหตุการเสียชีวิตบ่อยช่วงน้ำท่วม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ปิดด้วยเบอร์ฉุกเฉินและ QR อีกครั้ง ย้ำว่าเว็บเป็นเครื่องมือช่วยเตรียมตัว ไม่ได้แทนประกาศทางราชการ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5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C9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เว็บเฝ้าระวังน้ำท่วม จังหวัดนครสวรรค์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รู้ก่อนน้ำมา</a:t>
            </a:r>
            <a:endParaRPr lang="en-US" sz="6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เตรียมตัวทัน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6E8F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บ้านฉันน้ำท่วมไหม · ลึกแค่ไหน · อีกกี่วันจะลด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D6E8F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เปิดดูฟรีบนมือถือ ข้อมูลใหม่ทุกชั่วโมง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12064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/tmp/claude-0/-home-claude/6ff8cfaa-bd7e-58e3-947c-c00286fca215/scratchpad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5184648"/>
            <a:ext cx="1152144" cy="11521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5303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สแกนเพื่อเปิดเว็บ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57150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CC9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att-geo.github.io/nakhonsawan-flood</a:t>
            </a:r>
            <a:endParaRPr lang="en-US" sz="1600" dirty="0"/>
          </a:p>
        </p:txBody>
      </p:sp>
      <p:pic>
        <p:nvPicPr>
          <p:cNvPr id="9" name="Image 1" descr="/tmp/claude-0/-home-claude/6ff8cfaa-bd7e-58e3-947c-c00286fca215/scratchpad/img/phone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57200"/>
            <a:ext cx="2743200" cy="5934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339328" y="384048"/>
            <a:ext cx="2889504" cy="6080760"/>
          </a:xfrm>
          <a:prstGeom prst="roundRect">
            <a:avLst>
              <a:gd name="adj" fmla="val 6329"/>
            </a:avLst>
          </a:prstGeom>
          <a:ln w="38100">
            <a:solidFill>
              <a:srgbClr val="1E5A8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เว็บนี้ตอบ 3 คำถามที่ทุกบ้านอยากรู้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83080" y="1965960"/>
            <a:ext cx="1005840" cy="100584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5" name="Image 0" descr="/tmp/claude-0/-home-claude/6ff8cfaa-bd7e-58e3-947c-c00286fca215/scratchpad/img/i_hom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482" y="22073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บ้านฉันน้ำท่วมไหม?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กดใช้ตำแหน่งของฉัน หรือแตะแผนที่ตรงบ้าน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97680" y="164592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32120" y="1965960"/>
            <a:ext cx="1005840" cy="100584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0" name="Image 1" descr="/tmp/claude-0/-home-claude/6ff8cfaa-bd7e-58e3-947c-c00286fca215/scratchpad/img/i_rul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522" y="2207362"/>
            <a:ext cx="523037" cy="5230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ท่วมลึกแค่ไหน?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บอกเทียบกับร่างกาย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ข้อเท้า · เข่า · เอว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046720" y="1645920"/>
            <a:ext cx="3474720" cy="3566160"/>
          </a:xfrm>
          <a:prstGeom prst="roundRect">
            <a:avLst>
              <a:gd name="adj" fmla="val 394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281160" y="1965960"/>
            <a:ext cx="1005840" cy="100584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5" name="Image 2" descr="/tmp/claude-0/-home-claude/6ff8cfaa-bd7e-58e3-947c-c00286fca215/scratchpad/img/i_cal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562" y="2207362"/>
            <a:ext cx="523037" cy="5230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อีกกี่วันน้ำจะลด?</a:t>
            </a:r>
            <a:endParaRPr lang="en-US" sz="26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บอกเป็นวัน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พร้อมบอกว่าท่วมมาแล้วกี่วัน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486400"/>
            <a:ext cx="11064240" cy="822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9" name="Image 3" descr="/tmp/claude-0/-home-claude/6ff8cfaa-bd7e-58e3-947c-c00286fca215/scratchpad/img/i_clo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641848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5532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และดูล่วงหน้าได้ 3 วัน: พรุ่งนี้ · มะรืนนี้ · อีก 3 วัน — มีเวลาเตรียมตัวก่อนน้ำมา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ข้อมูลมาจากไหน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รวมข้อมูลจริงจากหน่วยงานรัฐ แล้วให้คอมพิวเตอร์คำนวณให้ทุกชั่วโมง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5" name="Image 0" descr="/tmp/claude-0/-home-claude/6ff8cfaa-bd7e-58e3-947c-c00286fca215/scratchpad/img/i_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0720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874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ฝน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2286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สถานีวัดฝนทั่วจังหวัด + พยากรณ์อากาศ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9" name="Image 1" descr="/tmp/claude-0/-home-claude/6ff8cfaa-bd7e-58e3-947c-c00286fca215/scratchpad/img/i_rive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3169310"/>
            <a:ext cx="427939" cy="42793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2971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ระดับน้ำในแม่น้ำ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3383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กรมชลประทาน และ สสน.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406908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3" name="Image 2" descr="/tmp/claude-0/-home-claude/6ff8cfaa-bd7e-58e3-947c-c00286fca215/scratchpad/img/i_sa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26659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069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ภาพดาวเทียม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64592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ดูว่าน้ำท่วมจริง ตรงไหนบ้าง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40080" y="516636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7" name="Image 3" descr="/tmp/claude-0/-home-claude/6ff8cfaa-bd7e-58e3-947c-c00286fca215/scratchpad/img/i_mounta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5363870"/>
            <a:ext cx="427939" cy="42793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5166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ความสูงต่ำของพื้นดิน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645920" y="5577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น้ำไหลจากที่สูง ลงไปขังที่ต่ำ</a:t>
            </a:r>
            <a:endParaRPr lang="en-US" sz="1500" dirty="0"/>
          </a:p>
        </p:txBody>
      </p:sp>
      <p:pic>
        <p:nvPicPr>
          <p:cNvPr id="20" name="Image 4" descr="/tmp/claude-0/-home-claude/6ff8cfaa-bd7e-58e3-947c-c00286fca215/scratchpad/img/i_arrow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3520440"/>
            <a:ext cx="640080" cy="64008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126480" y="2103120"/>
            <a:ext cx="2468880" cy="3474720"/>
          </a:xfrm>
          <a:prstGeom prst="roundRect">
            <a:avLst>
              <a:gd name="adj" fmla="val 5556"/>
            </a:avLst>
          </a:prstGeom>
          <a:solidFill>
            <a:srgbClr val="0B3B5C"/>
          </a:solidFill>
          <a:ln w="12700">
            <a:solidFill>
              <a:srgbClr val="0B3B5C"/>
            </a:solidFill>
            <a:prstDash val="solid"/>
          </a:ln>
        </p:spPr>
      </p:sp>
      <p:pic>
        <p:nvPicPr>
          <p:cNvPr id="22" name="Image 5" descr="/tmp/claude-0/-home-claude/6ff8cfaa-bd7e-58e3-947c-c00286fca215/scratchpad/img/i_pc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423160"/>
            <a:ext cx="914400" cy="9144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263640" y="3520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คอมพิวเตอร์คำนวณ</a:t>
            </a:r>
            <a:endParaRPr lang="en-US" sz="1900" dirty="0"/>
          </a:p>
        </p:txBody>
      </p:sp>
      <p:sp>
        <p:nvSpPr>
          <p:cNvPr id="24" name="Text 16"/>
          <p:cNvSpPr txBox="1"/>
          <p:nvPr/>
        </p:nvSpPr>
        <p:spPr>
          <a:xfrm>
            <a:off x="6309360" y="4023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8F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น้ำจะไหลไปขังที่ไหน ลึกเท่าไร นานกี่วัน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6E8F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ทุก 1 ชั่วโมง</a:t>
            </a:r>
            <a:endParaRPr lang="en-US" sz="1500" dirty="0"/>
          </a:p>
        </p:txBody>
      </p:sp>
      <p:pic>
        <p:nvPicPr>
          <p:cNvPr id="25" name="Image 6" descr="/tmp/claude-0/-home-claude/6ff8cfaa-bd7e-58e3-947c-c00286fca215/scratchpad/img/i_arrow_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0" y="3520440"/>
            <a:ext cx="640080" cy="64008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9601200" y="2103120"/>
            <a:ext cx="2011680" cy="3474720"/>
          </a:xfrm>
          <a:prstGeom prst="roundRect">
            <a:avLst>
              <a:gd name="adj" fmla="val 6818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27" name="Image 7" descr="/tmp/claude-0/-home-claude/6ff8cfaa-bd7e-58e3-947c-c00286fca215/scratchpad/img/i_phone_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0" y="2423160"/>
            <a:ext cx="914400" cy="9144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969264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ดูบนมือถือ</a:t>
            </a:r>
            <a:endParaRPr lang="en-US" sz="1900" dirty="0"/>
          </a:p>
        </p:txBody>
      </p:sp>
      <p:sp>
        <p:nvSpPr>
          <p:cNvPr id="29" name="Text 19"/>
          <p:cNvSpPr txBox="1"/>
          <p:nvPr/>
        </p:nvSpPr>
        <p:spPr>
          <a:xfrm>
            <a:off x="9692640" y="40233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เปิดลิงก์เดียว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ไม่ต้องลงแอป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ไม่เสียเงิน</a:t>
            </a:r>
            <a:endParaRPr lang="en-US" sz="1500" dirty="0"/>
          </a:p>
        </p:txBody>
      </p:sp>
      <p:sp>
        <p:nvSpPr>
          <p:cNvPr id="30" name="Text 20"/>
          <p:cNvSpPr txBox="1"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ข้อมูลเดียวกับที่หน่วยงานใช้ แต่แปลเป็นภาษาง่ายให้ประชาชนอ่าน</a:t>
            </a:r>
            <a:endParaRPr lang="en-US" sz="1400" dirty="0"/>
          </a:p>
        </p:txBody>
      </p:sp>
      <p:sp>
        <p:nvSpPr>
          <p:cNvPr id="31" name="Text 21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ดูบ้านของคุณ ใน 3 ขั้นตอน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777240" cy="77724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581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สแกน QR หรือเปิดลิงก์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103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att-geo.github.io/nakhonsawan-flood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777240" cy="77724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9992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 “ใช้ตำแหน่งของฉัน”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5204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หรือแตะบนแผนที่ตรงหมู่บ้าน แล้วกด “บันทึกเป็นบ้านของฉัน”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434840"/>
            <a:ext cx="777240" cy="77724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434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41655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อ่านผล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937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น้ำลึกระดับไหน · ท่วมมาแล้วกี่วัน · อีกกี่วันจะลด · สาเหตุ</a:t>
            </a:r>
            <a:endParaRPr lang="en-US" sz="1600" dirty="0"/>
          </a:p>
        </p:txBody>
      </p:sp>
      <p:pic>
        <p:nvPicPr>
          <p:cNvPr id="15" name="Image 0" descr="/tmp/claude-0/-home-claude/6ff8cfaa-bd7e-58e3-947c-c00286fca215/scratchpad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5760720"/>
            <a:ext cx="822960" cy="82296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2697480" y="5806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บันทึกบ้านไว้ครั้งเดียว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ครั้งหน้าเปิดมาก็เห็นทันที</a:t>
            </a:r>
            <a:endParaRPr lang="en-US" sz="1500" dirty="0"/>
          </a:p>
        </p:txBody>
      </p:sp>
      <p:pic>
        <p:nvPicPr>
          <p:cNvPr id="17" name="Image 1" descr="/tmp/claude-0/-home-claude/6ff8cfaa-bd7e-58e3-947c-c00286fca215/scratchpad/img/phone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365760"/>
            <a:ext cx="2834640" cy="613562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790688" y="292608"/>
            <a:ext cx="2980944" cy="6281928"/>
          </a:xfrm>
          <a:prstGeom prst="roundRect">
            <a:avLst>
              <a:gd name="adj" fmla="val 6135"/>
            </a:avLst>
          </a:prstGeom>
          <a:ln w="38100">
            <a:solidFill>
              <a:srgbClr val="0B3B5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อ่านความลึกน้ำอย่างไร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สีบนแผนที่: ฟ้าอ่อน = น้ำตื้น → น้ำเงินเข้ม = น้ำลึก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4526280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5" name="Image 0" descr="/tmp/claude-0/-home-claude/6ff8cfaa-bd7e-58e3-947c-c00286fca215/scratchpad/img/perso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965960"/>
            <a:ext cx="1289304" cy="1801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BFDBFE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25880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ข้อเท้า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10–25 ซม.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937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เดินได้ ระวังลื่นและไฟดูด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83280" y="1783080"/>
            <a:ext cx="2606040" cy="4526280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11" name="Image 1" descr="/tmp/claude-0/-home-claude/6ff8cfaa-bd7e-58e3-947c-c00286fca215/scratchpad/img/perso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965960"/>
            <a:ext cx="1289304" cy="18013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0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60A5FA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160520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เข่า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25–50 ซม.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4937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รถเล็กไม่ควรผ่าน ยกของขึ้นที่สูง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17920" y="1783080"/>
            <a:ext cx="2606040" cy="4526280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17" name="Image 2" descr="/tmp/claude-0/-home-claude/6ff8cfaa-bd7e-58e3-947c-c00286fca215/scratchpad/img/person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1965960"/>
            <a:ext cx="1289304" cy="18013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492240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995160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เอว</a:t>
            </a:r>
            <a:endParaRPr lang="en-US" sz="26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50 ซม.–1 ม.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937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อันตราย ย้ายเด็ก ผู้สูงอายุ คนป่วย ไปที่ปลอดภัย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052560" y="1783080"/>
            <a:ext cx="2606040" cy="4526280"/>
          </a:xfrm>
          <a:prstGeom prst="roundRect">
            <a:avLst>
              <a:gd name="adj" fmla="val 5263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23" name="Image 3" descr="/tmp/claude-0/-home-claude/6ff8cfaa-bd7e-58e3-947c-c00286fca215/scratchpad/img/person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928" y="1965960"/>
            <a:ext cx="1289304" cy="18013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9326880" y="39319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E3A8A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829800" y="38587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สูงกว่าเอว</a:t>
            </a:r>
            <a:endParaRPr lang="en-US" sz="26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4434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เกิน 1 เมตร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49377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อันตรายมาก เตรียมอพยพ ทำตามประกาศ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ดูล่วงหน้าได้ 3 วัน</a:t>
            </a:r>
            <a:endParaRPr lang="en-US" sz="3600" dirty="0"/>
          </a:p>
        </p:txBody>
      </p:sp>
      <p:pic>
        <p:nvPicPr>
          <p:cNvPr id="3" name="Image 0" descr="/tmp/claude-0/-home-claude/6ff8cfaa-bd7e-58e3-947c-c00286fca215/scratchpad/img/desk_tomo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325880"/>
            <a:ext cx="7680960" cy="45902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77640" y="1325880"/>
            <a:ext cx="7680960" cy="4590288"/>
          </a:xfrm>
          <a:prstGeom prst="rect">
            <a:avLst/>
          </a:prstGeom>
          <a:ln w="12700">
            <a:solidFill>
              <a:srgbClr val="D6E4E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EAF4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ตอนนี้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299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น้ำท่วมตรงไหนบ้าง ณ ขณะนี้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7889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พรุ่งนี้ · มะรืนนี้ · อีก 3 วัน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355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กดดูว่าน้ำจะขยายหรือลดลง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3154680" cy="502920"/>
          </a:xfrm>
          <a:prstGeom prst="roundRect">
            <a:avLst>
              <a:gd name="adj" fmla="val 49091"/>
            </a:avLst>
          </a:prstGeom>
          <a:solidFill>
            <a:srgbClr val="EAF4FB"/>
          </a:solidFill>
          <a:ln w="12700">
            <a:solidFill>
              <a:srgbClr val="2E86D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1148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ขังนานแค่ไหน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6817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ดูว่าพื้นที่ไหนน้ำจะขังเป็นสัปดาห์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6035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ปุ่มอยู่ใต้แผนที่ · แตะชื่ออำเภอทางซ้ายเพื่อซูมไปดู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สีบอกสถานการณ์ทั้งจังหวัด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แถบใหญ่ด้านบนของเว็บจะเปลี่ยนสีตามสถานการณ์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17520" cy="914400"/>
          </a:xfrm>
          <a:prstGeom prst="roundRect">
            <a:avLst>
              <a:gd name="adj" fmla="val 15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ปกติ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8745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ยังไม่มีน้ำท่วมที่น่ากังวล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63840" y="187452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8" name="Image 0" descr="/tmp/claude-0/-home-claude/6ff8cfaa-bd7e-58e3-947c-c00286fca215/scratchpad/img/i_check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075688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95360" y="1874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ติดตามข่าวตามปกติ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926080"/>
            <a:ext cx="3017520" cy="91440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เฝ้าระวัง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840480" y="2971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มีน้ำท่วมบางพื้นที่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863840" y="297180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14" name="Image 1" descr="/tmp/claude-0/-home-claude/6ff8cfaa-bd7e-58e3-947c-c00286fca215/scratchpad/img/i_check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317296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595360" y="2971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เช็กบ้านของคุณ เตรียมของ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3017520" cy="91440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8640" y="4023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เตือนภัย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384048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น้ำท่วมหลายพื้นที่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7863840" y="406908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20" name="Image 2" descr="/tmp/claude-0/-home-claude/6ff8cfaa-bd7e-58e3-947c-c00286fca215/scratchpad/img/i_check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27024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95360" y="4069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ยกของขึ้นที่สูง ย้ายรถ/สัตว์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548640" y="5120640"/>
            <a:ext cx="3017520" cy="91440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5120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อันตราย</a:t>
            </a:r>
            <a:endParaRPr lang="en-US" sz="2800" dirty="0"/>
          </a:p>
        </p:txBody>
      </p:sp>
      <p:sp>
        <p:nvSpPr>
          <p:cNvPr id="24" name="Text 19"/>
          <p:cNvSpPr txBox="1"/>
          <p:nvPr/>
        </p:nvSpPr>
        <p:spPr>
          <a:xfrm>
            <a:off x="3840480" y="51663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น้ำท่วมหนัก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863840" y="5166360"/>
            <a:ext cx="3749040" cy="822960"/>
          </a:xfrm>
          <a:prstGeom prst="roundRect">
            <a:avLst>
              <a:gd name="adj" fmla="val 16667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pic>
        <p:nvPicPr>
          <p:cNvPr id="26" name="Image 3" descr="/tmp/claude-0/-home-claude/6ff8cfaa-bd7e-58e3-947c-c00286fca215/scratchpad/img/i_check_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536752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595360" y="5166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ทำตามประกาศ พร้อมอพยพ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ตัวอย่างจริง: คืนวันที่ 28 ก.ย. 2569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สถานการณ์ระดับ “เฝ้าระวัง” — มีน้ำท่วมบางพื้นที่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86DE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5.2 หมื่นไร่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957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น้ำท่วมทั้งจังหวัด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อ.ลาดยาว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930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ท่วมมากที่สุด ~2.7 หมื่นไร่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~2 วัน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90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พื้นที่ส่วนใหญ่น่าจะลด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206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แม่วงก์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87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แม่น้ำล้นตลิ่ง 1 สาย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754880" y="1737360"/>
          <a:ext cx="68580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7548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 ตร.กม. = 625 ไร่ · ตัวเลขประมาณจากแบบจำลอง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ท่าตะโก–บึงบอระเพ็ด: ท่วมซ้ำเกือบทุกปี</a:t>
            </a:r>
            <a:endParaRPr lang="en-US" sz="3600" dirty="0"/>
          </a:p>
        </p:txBody>
      </p:sp>
      <p:pic>
        <p:nvPicPr>
          <p:cNvPr id="3" name="Image 0" descr="/tmp/claude-0/-home-claude/6ff8cfaa-bd7e-58e3-947c-c00286fca215/scratchpad/img/tk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047488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371600"/>
            <a:ext cx="5047488" cy="4846320"/>
          </a:xfrm>
          <a:prstGeom prst="rect">
            <a:avLst/>
          </a:prstGeom>
          <a:ln w="12700">
            <a:solidFill>
              <a:srgbClr val="D6E4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6263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สีน้ำเงินยิ่งเข้ม = ท่วมนานหลายปี · สีเทา = บึงบอระเพ็ด · เส้นม่วง = ขอบเขตตำบล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35040" y="1463040"/>
            <a:ext cx="731520" cy="7315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7" name="Image 1" descr="/tmp/claude-0/-home-claude/6ff8cfaa-bd7e-58e3-947c-c00286fca215/scratchpad/img/i_sa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605" y="163860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949440" y="14447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ภาพดาวเทียม 9 ปี (2560–2568)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949440" y="18928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เห็นน้ำท่วมจริงซ้ำ ๆ ที่เดิม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035040" y="2560320"/>
            <a:ext cx="731520" cy="7315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1" name="Image 2" descr="/tmp/claude-0/-home-claude/6ff8cfaa-bd7e-58e3-947c-c00286fca215/scratchpad/img/i_pin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605" y="2735885"/>
            <a:ext cx="380390" cy="38039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49440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ทับกฤช · วังมหากร · พนมเศษ · พระนอน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949440" y="2990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ตำบลรอบบึงที่ท่วมบ่อยที่สุด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35040" y="3657600"/>
            <a:ext cx="731520" cy="7315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5" name="Image 3" descr="/tmp/claude-0/-home-claude/6ff8cfaa-bd7e-58e3-947c-c00286fca215/scratchpad/img/i_clock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605" y="3833165"/>
            <a:ext cx="380390" cy="38039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949440" y="3639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ปีน้ำมาก ขังนาน 2–3 เดือน</a:t>
            </a:r>
            <a:endParaRPr lang="en-US" sz="2000" dirty="0"/>
          </a:p>
        </p:txBody>
      </p:sp>
      <p:sp>
        <p:nvSpPr>
          <p:cNvPr id="17" name="Text 11"/>
          <p:cNvSpPr txBox="1"/>
          <p:nvPr/>
        </p:nvSpPr>
        <p:spPr>
          <a:xfrm>
            <a:off x="6949440" y="4087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เช่น ปี 2564, 2565, 2568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6035040" y="4754880"/>
            <a:ext cx="731520" cy="73152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9" name="Image 4" descr="/tmp/claude-0/-home-claude/6ff8cfaa-bd7e-58e3-947c-c00286fca215/scratchpad/img/i_river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605" y="4930445"/>
            <a:ext cx="380390" cy="38039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49440" y="4736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น้ำส่วนใหญ่มาจากแม่น้ำ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6949440" y="51846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น่าน–เจ้าพระยาไหลย้อนเข้าบึง ไม่ใช่ฝนในพื้นที่อย่างเดียว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6035040" y="5806440"/>
            <a:ext cx="5577840" cy="731520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6217920" y="5833872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คนท่าตะโก: ให้ดูหัวข้อ “แม่น้ำสายหลัก” ในเว็บด้วย — แม่น้ำน่านขึ้นเมื่อไร ทุ่งรอบบึงมักท่วมตามมา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เห็นว่าน้ำจะมา ควรทำอะไร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5" name="Image 0" descr="/tmp/claude-0/-home-claude/6ff8cfaa-bd7e-58e3-947c-c00286fca215/scratchpad/img/i_doc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0720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ยกเอกสาร ยา ของมีค่า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และปลั๊กไฟ ขึ้นที่สูง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97680" y="16002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0" name="Image 1" descr="/tmp/claude-0/-home-claude/6ff8cfaa-bd7e-58e3-947c-c00286fca215/scratchpad/img/i_car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510" y="20720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ย้ายรถ สัตว์เลี้ยง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3227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และเครื่องมือเกษตรไปที่สูง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046720" y="16002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15" name="Image 2" descr="/tmp/claude-0/-home-claude/6ff8cfaa-bd7e-58e3-947c-c00286fca215/scratchpad/img/i_box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550" y="20720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เตรียมของใช้ 3 วัน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32278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น้ำดื่ม อาหารแห้ง ไฟฉาย แบตสำรอง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41148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38912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0" name="Image 3" descr="/tmp/claude-0/-home-claude/6ff8cfaa-bd7e-58e3-947c-c00286fca215/scratchpad/img/i_plug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" y="458663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น้ำเข้าบ้าน ปิดสะพานไฟ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742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อย่าแตะปลั๊กหรือสายไฟที่เปียก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297680" y="41148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4389120"/>
            <a:ext cx="822960" cy="8229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5" name="Image 4" descr="/tmp/claude-0/-home-claude/6ff8cfaa-bd7e-58e3-947c-c00286fca215/scratchpad/img/i_wal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9510" y="4586630"/>
            <a:ext cx="427939" cy="42793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อย่าลุยน้ำไหลแรง</a:t>
            </a:r>
            <a:endParaRPr lang="en-US" sz="19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5742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น้ำแค่ระดับเข่าก็พัดคนล้มได้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8046720" y="411480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21040" y="4389120"/>
            <a:ext cx="822960" cy="822960"/>
          </a:xfrm>
          <a:prstGeom prst="ellipse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</p:sp>
      <p:pic>
        <p:nvPicPr>
          <p:cNvPr id="30" name="Image 5" descr="/tmp/claude-0/-home-claude/6ff8cfaa-bd7e-58e3-947c-c00286fca215/scratchpad/img/i_user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550" y="4586630"/>
            <a:ext cx="427939" cy="42793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21040" y="5303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3B5C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ดูแลคนในบ้าน</a:t>
            </a:r>
            <a:endParaRPr lang="en-US" sz="19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57424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เด็ก ผู้สูงอายุ คนป่วย ระวังงู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B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เบอร์โทรฉุกเฉิน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24D75"/>
          </a:solidFill>
          <a:ln w="12700">
            <a:solidFill>
              <a:srgbClr val="124D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1784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CC9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ปภ. สายด่วนนิรภัย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297680" y="155448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24D75"/>
          </a:solidFill>
          <a:ln w="12700">
            <a:solidFill>
              <a:srgbClr val="124D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1669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CC9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เจ็บป่วยฉุกเฉิน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24D75"/>
          </a:solidFill>
          <a:ln w="12700">
            <a:solidFill>
              <a:srgbClr val="124D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191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CC9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เหตุด่วนเหตุร้าย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297680" y="3291840"/>
            <a:ext cx="3291840" cy="1463040"/>
          </a:xfrm>
          <a:prstGeom prst="roundRect">
            <a:avLst>
              <a:gd name="adj" fmla="val 9375"/>
            </a:avLst>
          </a:prstGeom>
          <a:solidFill>
            <a:srgbClr val="124D75"/>
          </a:solidFill>
          <a:ln w="12700">
            <a:solidFill>
              <a:srgbClr val="124D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3429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1460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CC9F0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กรมชลประทาน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595360" y="155448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/tmp/claude-0/-home-claude/6ff8cfaa-bd7e-58e3-947c-c00286fca215/scratchpad/img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737360"/>
            <a:ext cx="2560320" cy="2560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412480" y="4617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สแกนเปิดเว็บ แล้วบันทึกบ้านของคุณ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52578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8F7"/>
                </a:solidFill>
                <a:latin typeface="Prompt" pitchFamily="34" charset="0"/>
                <a:ea typeface="Prompt" pitchFamily="34" charset="-122"/>
                <a:cs typeface="Prompt" pitchFamily="34" charset="-120"/>
              </a:rPr>
              <a:t>ตัวเลขในเว็บเป็นการประมาณจากคอมพิวเตอร์ ใช้ดูแนวโน้มเพื่อเตรียมตัว — ควรฟังประกาศจากอำเภอ ผู้ใหญ่บ้าน และ ปภ. ประกอบเสมอ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เฝ้าระวังน้ำท่วม นครสวรรค์ — ฉบับประชาชน</dc:title>
  <dc:subject>PptxGenJS Presentation</dc:subject>
  <dc:creator>PptxGenJS</dc:creator>
  <cp:lastModifiedBy>PptxGenJS</cp:lastModifiedBy>
  <cp:revision>1</cp:revision>
  <dcterms:created xsi:type="dcterms:W3CDTF">2026-09-30T04:35:37Z</dcterms:created>
  <dcterms:modified xsi:type="dcterms:W3CDTF">2026-09-30T04:35:37Z</dcterms:modified>
</cp:coreProperties>
</file>