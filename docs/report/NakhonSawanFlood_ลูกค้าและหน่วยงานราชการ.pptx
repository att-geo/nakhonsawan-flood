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9" r:id="rId20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7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พื้นที่ท่วมขังรายอำเภอ (ตร.กม.)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สูงสุดใน 72 ชม.</c:v>
                </c:pt>
              </c:strCache>
            </c:strRef>
          </c:tx>
          <c:spPr>
            <a:solidFill>
              <a:srgbClr val="8FD3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เมืองนครสวรรค์</c:v>
                  </c:pt>
                  <c:pt idx="1">
                    <c:v>ชุมแสง</c:v>
                  </c:pt>
                  <c:pt idx="2">
                    <c:v>ชุมตาบง</c:v>
                  </c:pt>
                  <c:pt idx="3">
                    <c:v>บรรพตพิสัย</c:v>
                  </c:pt>
                  <c:pt idx="4">
                    <c:v>แม่วงก์</c:v>
                  </c:pt>
                  <c:pt idx="5">
                    <c:v>ลาดยาว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</c:v>
                </c:pt>
                <c:pt idx="2">
                  <c:v>1</c:v>
                </c:pt>
                <c:pt idx="3">
                  <c:v>3.9</c:v>
                </c:pt>
                <c:pt idx="4">
                  <c:v>11.4</c:v>
                </c:pt>
                <c:pt idx="5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ตอนนี้ (ลึก 25 ซม. ขึ้นไป)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เมืองนครสวรรค์</c:v>
                  </c:pt>
                  <c:pt idx="1">
                    <c:v>ชุมแสง</c:v>
                  </c:pt>
                  <c:pt idx="2">
                    <c:v>ชุมตาบง</c:v>
                  </c:pt>
                  <c:pt idx="3">
                    <c:v>บรรพตพิสัย</c:v>
                  </c:pt>
                  <c:pt idx="4">
                    <c:v>แม่วงก์</c:v>
                  </c:pt>
                  <c:pt idx="5">
                    <c:v>ลาดยาว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</c:v>
                </c:pt>
                <c:pt idx="1">
                  <c:v>0.2</c:v>
                </c:pt>
                <c:pt idx="2">
                  <c:v>1</c:v>
                </c:pt>
                <c:pt idx="3">
                  <c:v>4.1</c:v>
                </c:pt>
                <c:pt idx="4">
                  <c:v>10.8</c:v>
                </c:pt>
                <c:pt idx="5">
                  <c:v>40.4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พื้นที่ลึก 10 ซม. ขึ้นไป แยกตามเวลาที่คาดว่าน้ำจะลด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&lt; 1 วัน</c:v>
                </c:pt>
              </c:strCache>
            </c:strRef>
          </c:tx>
          <c:spPr>
            <a:solidFill>
              <a:srgbClr val="86EF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</c:v>
                </c:pt>
                <c:pt idx="1">
                  <c:v>0.4</c:v>
                </c:pt>
                <c:pt idx="2">
                  <c:v>2</c:v>
                </c:pt>
                <c:pt idx="3">
                  <c:v>0.6</c:v>
                </c:pt>
                <c:pt idx="4">
                  <c:v>0.3</c:v>
                </c:pt>
                <c:pt idx="5">
                  <c:v>0.8</c:v>
                </c:pt>
                <c:pt idx="6">
                  <c:v>0.5</c:v>
                </c:pt>
                <c:pt idx="7">
                  <c:v>0.6</c:v>
                </c:pt>
                <c:pt idx="8">
                  <c:v>9.9</c:v>
                </c:pt>
                <c:pt idx="9">
                  <c:v>2.7</c:v>
                </c:pt>
                <c:pt idx="10">
                  <c:v>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1–3 วัน</c:v>
                </c:pt>
              </c:strCache>
            </c:strRef>
          </c:tx>
          <c:spPr>
            <a:solidFill>
              <a:srgbClr val="FDE0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0.5</c:v>
                </c:pt>
                <c:pt idx="4">
                  <c:v>0.2</c:v>
                </c:pt>
                <c:pt idx="5">
                  <c:v>0.4</c:v>
                </c:pt>
                <c:pt idx="6">
                  <c:v>0</c:v>
                </c:pt>
                <c:pt idx="7">
                  <c:v>1.2</c:v>
                </c:pt>
                <c:pt idx="8">
                  <c:v>7.8</c:v>
                </c:pt>
                <c:pt idx="9">
                  <c:v>8.3</c:v>
                </c:pt>
                <c:pt idx="10">
                  <c:v>17.6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3–7 วัน</c:v>
                </c:pt>
              </c:strCache>
            </c:strRef>
          </c:tx>
          <c:spPr>
            <a:solidFill>
              <a:srgbClr val="FB92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</c:v>
                </c:pt>
                <c:pt idx="8">
                  <c:v>0.2</c:v>
                </c:pt>
                <c:pt idx="9">
                  <c:v>0</c:v>
                </c:pt>
                <c:pt idx="10">
                  <c:v>21.6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7–14 วัน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&gt; 14 วัน</c:v>
                </c:pt>
              </c:strCache>
            </c:strRef>
          </c:tx>
          <c:spPr>
            <a:solidFill>
              <a:srgbClr val="7F1D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ปริมาตรน้ำท่าที่ไหลเข้านครสวรรค์ (ล้าน ลบ.ม.)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 วันที่ผ่านมา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121.7</c:v>
                </c:pt>
                <c:pt idx="1">
                  <c:v>146.9</c:v>
                </c:pt>
                <c:pt idx="2">
                  <c:v>84.8</c:v>
                </c:pt>
                <c:pt idx="3">
                  <c:v>25.2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72 ชม. ข้างหน้า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91.4</c:v>
                </c:pt>
                <c:pt idx="1">
                  <c:v>18.2</c:v>
                </c:pt>
                <c:pt idx="2">
                  <c:v>17.4</c:v>
                </c:pt>
                <c:pt idx="3">
                  <c:v>5.1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เปิดด้วยคำถามที่ผู้บริหารจังหวัดถามทุกฤดูฝน: น้ำจะขังที่ไหน ลึกแค่ไหน และนานกี่วัน ระบบนี้ตอบทั้ง 3 ข้อทุกชั่วโมง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3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FLOOD WATCH สำหรับจังหวัด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รู้ก่อนว่าน้ำจะขังที่ไหน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ลึกเท่าไร และนานกี่วัน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ระบบเฝ้าระวังน้ำท่วมขังแบบ Near-realtime ที่ใช้ข้อมูลหน่วยงานรัฐและ ArcGIS Pro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ตัวอย่างใช้งานจริง: จังหวัดนครสวรรค์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6096" y="630936"/>
            <a:ext cx="2807208" cy="5596128"/>
          </a:xfrm>
          <a:prstGeom prst="roundRect">
            <a:avLst>
              <a:gd name="adj" fmla="val 2606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home/claude/rpt/img/app_mob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685800"/>
            <a:ext cx="269748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โจทย์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ความท้าทายของการบริหารสถานการณ์น้ำท่วมขังในระดับจังหวัด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8308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4980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6479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ข้อมูลกระจายหลายหน่วยงาน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9514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 ระดับน้ำ ปริมาณน้ำ ดาวเทียม อยู่คนละระบบ ต้องรวมเองทุกครั้ง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53912" y="1600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55080" y="178308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355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67144" y="176479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เห็นแค่ ณ จุดสถานี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9514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สถานีบอกระดับน้ำในแม่น้ำ แต่ไม่บอกว่าน้ำจะขังที่ทุ่งหรือชุมชนไหน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9808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4980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40965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ไม่รู้ว่าจะท่วมอีกนานเท่าไร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62686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การวางแผนสูบน้ำ ถุงยังชีพ และการเยียวยา ต้องการระยะเวลาท่วม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6153912" y="393192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55080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35508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67144" y="40965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น้ำมาจากนอกจังหวัด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62686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น้ำจากจังหวัดต้นน้ำมาถึงหลังฝนหยุดแล้วหลายวัน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แนวทาง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โซลูชันในภาพเดียว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ดึงข้อมูลอัตโนมัติ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ฝนสถานีและพยากรณ์ ระดับน้ำ ปริมาณน้ำ จากหน่วยงานรัฐและแหล่งเปิด ทุกชั่วโมง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25648" y="29443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409112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E3F1EE"/>
          </a:solidFill>
          <a:ln w="12700">
            <a:solidFill>
              <a:srgbClr val="E3F1E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73704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573704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วิเคราะห์ภูมิประเทศ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คำนวณทางน้ำ ที่ลุ่มต่ำ แอ่ง คลอง คันกั้นน้ำ ทั้งจังหวัด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86120" y="29443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269584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EFEDFB"/>
          </a:solidFill>
          <a:ln w="12700">
            <a:solidFill>
              <a:srgbClr val="EFEDF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34176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434176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จำลองน้ำ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น้ำไหลจากที่สูงลงที่ต่ำ ขังในแอ่ง ระบายออก และน้ำล้นตลิ่ง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846591" y="29443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30055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FDF3E5"/>
          </a:solidFill>
          <a:ln w="12700">
            <a:solidFill>
              <a:srgbClr val="FDF3E5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94647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294647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แสดงผลออนไลน์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 ตารางรายอำเภอ และกราฟ เปิดได้ทั้งคอมพิวเตอร์และมือถือ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49808" y="491947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อัปเดตทุก 1 ชั่วโมง · ย้อนหลัง 7 วันถึงพยากรณ์ 72 ชม. · ไม่ต้องมีเซิร์ฟเวอร์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9824"/>
            <a:ext cx="10692079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ผู้ใช้เปิดลิงก์เดียวก็เห็นสถานการณ์ล่าสุด ไม่ต้องติดตั้งโปรแกรม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ผลิตภัณฑ์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สิ่งที่ผู้ใช้เห็นบนหน้าจอ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7333488" cy="4626864"/>
          </a:xfrm>
          <a:prstGeom prst="roundRect">
            <a:avLst>
              <a:gd name="adj" fmla="val 1581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home/claude/rpt/img/app_m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7223760" cy="45171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83880" y="16002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1838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157276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สถานการณ์ตอนนี้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พื้นที่ท่วมขังและความลึกทั้งจังหวัด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183880" y="2496312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8183880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2468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ระยะเวลาท่วม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และคาดว่าจะลดเมื่อไร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183880" y="3392424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818388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33649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รายอำเภอ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จัดลำดับพื้นที่ที่ต้องช่วยก่อน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83880" y="4288536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18388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26110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น้ำจากต้นน้ำ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แม่น้ำสายไหนใกล้ล้นตลิ่ง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183880" y="5184648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818388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732520" y="515721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จุดวิกฤตละเอียด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ภาพความลึก 120 ม. ในพื้นที่เสี่ยง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ตัวอย่างผลจริง: นครสวรรค์ 28 ก.ย. 2569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59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ท่วมขังลึกตั้งแต่ 25 ซม.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93592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66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สูงสุดที่คาดใน 72 ชม.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9944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37 ชม.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คาดว่าน้ำลด (มัธยฐาน)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26296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70%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ของพื้นที่ลดภายใน 3 วัน</a:t>
            </a:r>
            <a:endParaRPr lang="en-US" sz="12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246120"/>
          <a:ext cx="66751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452360" y="3291840"/>
            <a:ext cx="4187952" cy="2880360"/>
          </a:xfrm>
          <a:prstGeom prst="roundRect">
            <a:avLst>
              <a:gd name="adj" fmla="val 317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7653528" y="3456432"/>
            <a:ext cx="3803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สิ่งที่ผู้บริหารได้ทันที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653528" y="3986784"/>
            <a:ext cx="378561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 แม่วงก์ บรรพตพิสัย = 87% ของพื้นที่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แม่น้ำแม่วงก์ล้นตลิ่ง คาดต่ำกว่าความจุในราว 33 ชม.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ลาดยาวบางส่วนต้องใช้ 3–7 วันกว่าน้ำจะลด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ตอบคำถาม "อีกนานแค่ไหน" และ "น้ำมาจากไหน"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76072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46520" y="1417320"/>
          <a:ext cx="5193792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พิสูจน์กับน้ำท่วมจริง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ตัวอย่างแอ่งท่าตะโก: แบบจำลองตรงกับภาพดาวเทียมย้อนหลัง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4956048" cy="4352544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ev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846320" cy="424281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79729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ปี 2568: พื้นที่ท่วมนาน 30 วันขึ้นไป — น้ำเงิน = แบบจำลองกับดาวเทียมตรงกัน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720" y="1481328"/>
            <a:ext cx="1874519" cy="146304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961888" y="1609344"/>
            <a:ext cx="1508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9</a:t>
            </a:r>
            <a:r>
              <a:rPr sz="13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  ปี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296972"/>
            <a:ext cx="1508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ภาพเรดาร์ย้อนหลัง 148 ภาพ มองทะลุเมฆ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63256" y="1481328"/>
            <a:ext cx="1874519" cy="146304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64424" y="1609344"/>
            <a:ext cx="1508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D64545"/>
                </a:solidFill>
                <a:latin typeface="Prompt"/>
                <a:ea typeface="Prompt"/>
                <a:cs typeface="Prompt"/>
              </a:rPr>
              <a:t>2–3</a:t>
            </a:r>
            <a:r>
              <a:rPr sz="13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  เดือน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4424" y="2296972"/>
            <a:ext cx="1508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น้ำขังรอบบึงบอระเพ็ด ตรงกับที่ชาวบ้านเล่า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65792" y="1481328"/>
            <a:ext cx="1874519" cy="146304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966960" y="1609344"/>
            <a:ext cx="1508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~0.5</a:t>
            </a:r>
            <a:r>
              <a:rPr sz="13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  CSI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296972"/>
            <a:ext cx="1508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ความแม่นยำเชิงพื้นที่ 3 เหตุการณ์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108960"/>
            <a:ext cx="5879592" cy="160020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961888" y="321868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สิ่งที่ได้จากการวิเคราะห์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61888" y="3611880"/>
            <a:ext cx="5486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พื้นที่ที่ท่วมซ้ำทุกปีน้ำมาก: ทับกฤช วังมหากร พนมเศษ พระนอน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จำลองพื้นที่ท่วมนานได้ใกล้ของจริง (ต่างไม่เกิน ~20%)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60720" y="4846320"/>
            <a:ext cx="5879592" cy="141732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961888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นัยต่อการบริหารน้ำ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532180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ท่วมนานเพราะน้ำจากแม่น้ำเข้าบึงผ่านคลองและประตูน้ำ ก่อนระดับน้ำถึงตลิ่ง → จัดการที่ประตูน้ำ/คลองตรงจุดได้ผลกว่าเฝ้าดูแค่ระดับตลิ่ง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Sentinel-1 (Copernicus) ผ่าน Microsoft Planetary Computer · ระดับน้ำจริง ThaiWater (สสน.) · ฝน ERA5 · CSI = พื้นที่ตรงกัน ÷ (ตรงกัน + ขาด + เกิน)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ความน่าเชื่อถือ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ใช้ข้อมูลจากหน่วยงานรัฐและแหล่งข้อมูลเปิด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49808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ThaiWater (สสน.)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95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ฝนสถานีโทรมาตรกว่า 800 สถานี ระดับน้ำ ปริมาณน้ำ และประวัติรายชั่วโมง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79392" y="1600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80560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กรมชลประทาน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95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ปริมาณน้ำและความจุลำน้ำที่สถานีหลัก (ผ่าน ThaiWater)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10144" y="1600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11312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GISTDA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2295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พื้นที่น้ำท่วมจากดาวเทียม ใช้เทียบและสอบเทียบ (ต้องมี API key)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49808" y="4050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Open-Meteo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581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ฝนรายชั่วโมงต่อเนื่องและพยากรณ์ 72 ชม.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3886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480560" y="4050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Copernicus / FABDEM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581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แบบจำลองความสูงภูมิประเทศ 30 ม.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3886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11312" y="4050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ESA WorldCover · OpenStreetMap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4581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สิ่งปกคลุมดิน คลอง คันกั้นน้ำ ประตูน้ำ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เทคโนโลยี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เทคโนโลยีที่ใช้: ArcGIS Pro + แบบจำลองอุทกวิทยา</a:t>
            </a:r>
            <a:endParaRPr lang="en-US" sz="2800" dirty="0"/>
          </a:p>
        </p:txBody>
      </p:sp>
      <p:pic>
        <p:nvPicPr>
          <p:cNvPr id="4" name="Image 0" descr="/home/claude/rpt/fig/d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10515600" cy="38313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44068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49808" y="551383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วิเคราะห์ทางน้ำ ที่ลุ่มต่ำ แอ่ง และเครือข่ายการไหล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4279392" y="544068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480560" y="551383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 2 ระดับ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ทั้งจังหวัด 1 ตร.กม. + จุดวิกฤต 120 ม.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010144" y="544068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8211312" y="551383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สอบเทียบอัตโนมัติ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ปรับพารามิเตอร์ทุกสัปดาห์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การนำไปใช้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ทางเลือกการติดตั้งใช้งาน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47872" cy="356616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49808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 · เว็บสาธารณะต้นทุนต่ำ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95144"/>
            <a:ext cx="314553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Pages + GitHub Actions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ไม่มีค่าเซิร์ฟเวอร์ ไม่ต้องใช้ ArcGIS Online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เหมาะกับการเผยแพร่ข้อมูลให้ประชาชน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ต้องตรวจว่าดึงข้อมูล ThaiWater จากต่างประเทศได้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279392" y="1600200"/>
            <a:ext cx="3547872" cy="356616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80560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 · ArcGIS Online / Enterprise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95144"/>
            <a:ext cx="314553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publish ผลเป็น hosted feature layer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Dashboards / Experience Builder สำหรับศูนย์บัญชาการ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จัดสิทธิ์ผู้ใช้ภายในหน่วยงาน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 pipeline เดิม เพิ่มขั้นส่งข้อมูล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010144" y="1600200"/>
            <a:ext cx="3547872" cy="356616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11312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 · ติดตั้งในหน่วยงาน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2295144"/>
            <a:ext cx="314553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รันบนเครื่องที่มี ArcGIS Pro (toolbox พร้อมใช้)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self-hosted runner ในเครือข่ายหน่วยงาน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เชื่อมข้อมูลภายใน เช่น สถานีสูบ ประตูน้ำ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เหมาะกับข้อมูลที่ไม่เปิดเผย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49808" y="5577840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ทุกทางเลือกใช้ชุดเครื่องมือ ArcGIS Pro และแบบจำลองเดียวกัน ต่างกันที่ที่เก็บผลลัพธ์และผู้ที่เข้าถึงได้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ความโปร่งใส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ข้อจำกัดที่ควรทราบ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190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เป็นระบบเตือนภัยล่วงหน้า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49424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ความละเอียด 1 ตร.กม. ใช้จัดลำดับพื้นที่ ไม่ใช่ความลึกรายหลังคาเรือน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53912" y="1554480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55080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355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67144" y="17190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ยืนยันกับข้อมูลจริงต่อเนื่อง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49424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แอ่งท่าตะโกเทียบดาวเทียมแล้ว (CSI ~0.5) · พื้นที่อื่นสะสมภาพต่อ และควรมีรายงานภาคสนาม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9808" y="33101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49808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29184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ขึ้นกับคุณภาพข้อมูลต้นทาง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822192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ฝนพยากรณ์และข้อมูลสถานีที่ขาดหาย ทำให้ผลคลาดเคลื่อนได้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53912" y="3127248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55080" y="33101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3550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67144" y="329184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ยังไม่รวมการบริหารเขื่อน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822192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การระบายน้ำเขื่อนและกฎการเปิด-ปิดประตูน้ำจริงยังไม่อยู่ในแบบจำลอง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4700016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9808" y="488289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49808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486460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ต้องการข้อมูลระบายน้ำจากพื้นที่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5394960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สถานีสูบและประตูน้ำใน OSM ยังไม่ครบ ต้องเพิ่มจากหน่วยงานในพื้นที่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153912" y="4700016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355080" y="488289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355080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67144" y="486460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ใบอนุญาตข้อมูล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5394960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ใช้เชิงพาณิชย์ไม่ได้ · ถ้าเป็นโครงการเชิงพาณิชย์ใช้ Copernicus DEM แทน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ขั้นตอนต่อไป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แผนดำเนินงานที่แนะนำ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ยืนยันความแม่นยำ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ขยายการเทียบดาวเทียมทั้งจังหวัด + ข้อมูลประตูน้ำ/บึงจาก ชป.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3125648" y="28986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409112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73704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573704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เติมข้อมูลพื้นที่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สถานีสูบ ประตูน้ำ คันกั้นน้ำ จากหน่วยงานในจังหวัด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986120" y="28986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269584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34176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434176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ประเมินผลกระทบ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ประชากร ถนน โรงเรียน โรงพยาบาล รายตำบล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8846591" y="28986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30055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94647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294647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ขยายและแจ้งเตือน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ขยายไปจังหวัดข้างเคียง · แจ้งเตือนเมื่อพื้นที่ท่วมหรือระยะเวลาเกินเกณฑ์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548640" y="4937760"/>
            <a:ext cx="11094415" cy="1188720"/>
          </a:xfrm>
          <a:prstGeom prst="roundRect">
            <a:avLst>
              <a:gd name="adj" fmla="val 7692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49808" y="510235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เริ่มได้ทันที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632704"/>
            <a:ext cx="106920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ระบบนครสวรรค์พร้อมใช้งาน สามารถสาธิตกับข้อมูลจริงและปรับให้เข้ากับจังหวัดอื่นโดยรันเครื่องมือ ArcGIS Pro ชุดเดิม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ขอบคุณครับ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พร้อมสาธิตระบบกับข้อมูลจริง และหารือขอบเขตการใช้งานในจังหวัดของท่าน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3D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 ณ 28 ก.ย. 2569 เวลา 20:57 น. · ผลแอ่งท่าตะโก 30 ก.ย. 2569 · ตัวเลขทั้งหมดเป็นผลแบบจำลอง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443216" y="1042416"/>
            <a:ext cx="4270248" cy="4681728"/>
          </a:xfrm>
          <a:prstGeom prst="roundRect">
            <a:avLst>
              <a:gd name="adj" fmla="val 1713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home/claude/rpt/img/crop_dur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0" y="1097280"/>
            <a:ext cx="41605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Prompt"/>
              </a:rPr>
              <a:t>ขยายผลทั้งจังหวัด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B3C5D"/>
                </a:solidFill>
                <a:latin typeface="Prompt"/>
              </a:rPr>
              <a:t>ทั้งจังหวัด: ประวัติน้ำท่วม 9 ปี + สถานการณ์พายุใหญ่ + พยากรณ์อัตโนมัติ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1829966"/>
            <a:ext cx="5230368" cy="360040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rov_sc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4830"/>
            <a:ext cx="5120640" cy="349067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8521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Prompt"/>
              </a:rPr>
              <a:t>สถานการณ์พายุใหญ่ (ฝน 250 มม./5 วัน + แม่น้ำล้นตลิ่ง): เวลาที่น้ำลด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1481328"/>
            <a:ext cx="1783080" cy="146304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08192" y="1572768"/>
            <a:ext cx="1508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3C5D"/>
                </a:solidFill>
                <a:latin typeface="Prompt"/>
              </a:rPr>
              <a:t>502</a:t>
            </a:r>
            <a:r>
              <a:rPr sz="1100" b="0">
                <a:solidFill>
                  <a:srgbClr val="64748B"/>
                </a:solidFill>
                <a:latin typeface="Prompt"/>
              </a:rPr>
              <a:t>  ตร.กม.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08192" y="2194560"/>
            <a:ext cx="1508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Prompt"/>
              </a:rPr>
              <a:t>ท่วมนานซ้ำซาก (ดาวเทียม 9 ปี)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1481328"/>
            <a:ext cx="1783080" cy="146304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28431" y="1572768"/>
            <a:ext cx="1508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D64545"/>
                </a:solidFill>
                <a:latin typeface="Prompt"/>
              </a:rPr>
              <a:t>608</a:t>
            </a:r>
            <a:r>
              <a:rPr sz="1100" b="0">
                <a:solidFill>
                  <a:srgbClr val="64748B"/>
                </a:solidFill>
                <a:latin typeface="Prompt"/>
              </a:rPr>
              <a:t>  ตร.กม.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194560"/>
            <a:ext cx="1508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Prompt"/>
              </a:rPr>
              <a:t>ขังเกิน 1 สัปดาห์ เมื่อพายุใหญ่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80" y="1481328"/>
            <a:ext cx="1856231" cy="146304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48672" y="1572768"/>
            <a:ext cx="158191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B998B"/>
                </a:solidFill>
                <a:latin typeface="Prompt"/>
              </a:rPr>
              <a:t>4</a:t>
            </a:r>
            <a:r>
              <a:rPr sz="1100" b="0">
                <a:solidFill>
                  <a:srgbClr val="64748B"/>
                </a:solidFill>
                <a:latin typeface="Prompt"/>
              </a:rPr>
              <a:t>  รอบ/วัน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48672" y="2194560"/>
            <a:ext cx="1581911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Prompt"/>
              </a:rPr>
              <a:t>พยากรณ์ 72 ชม. ทั้งจังหวัด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3108960"/>
            <a:ext cx="5696712" cy="155448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3200400"/>
            <a:ext cx="53309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3C5D"/>
                </a:solidFill>
                <a:latin typeface="Prompt"/>
              </a:rPr>
              <a:t>ใช้ทำอะไรได้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566160"/>
            <a:ext cx="53309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93B"/>
                </a:solidFill>
                <a:latin typeface="Prompt"/>
              </a:rPr>
              <a:t>จัดลำดับตำบลที่ต้องเตรียมเครื่องสูบ เรือ จุดอพยพ ก่อนฤดูน้ำหลาก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93B"/>
                </a:solidFill>
                <a:latin typeface="Prompt"/>
              </a:rPr>
              <a:t>ติดตามรายวันว่าพื้นที่ใดจะท่วมเพิ่มใน 3 วัน ทั้ง 15 อำเภอ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4800600"/>
            <a:ext cx="5696712" cy="1463040"/>
          </a:xfrm>
          <a:prstGeom prst="rect">
            <a:avLst/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0" y="4892040"/>
            <a:ext cx="53309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3C5D"/>
                </a:solidFill>
                <a:latin typeface="Prompt"/>
              </a:rPr>
              <a:t>ความน่าเชื่อถือ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5257800"/>
            <a:ext cx="533095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Prompt"/>
              </a:rPr>
              <a:t>ตรวจกับภาพดาวเทียม 4 ปี CSI 0.31–0.41 (ดีที่สุดในลุ่มน่าน–บึงบอระเพ็ด) ; ฝั่งขวาแม่น้ำปิงต้องการข้อมูลประตูน้ำจาก ชป.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Prompt"/>
              </a:rPr>
              <a:t>ที่มา: Sentinel-1 RTC (Copernicus ผ่าน Microsoft Planetary Computer) วงโคจร 62 + 172 · แบบจำลอง 2D 300 ม. (event_2d.py / scenario_prov.py / run_province.py)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omp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omp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Nakhon Sawan Flood Watch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ระบบเฝ้าระวังน้ำท่วมขังระดับจังหวัด — ข้อเสนอสำหรับหน่วยงาน</dc:title>
  <dc:subject>PptxGenJS Presentation</dc:subject>
  <dc:creator>Att</dc:creator>
  <cp:lastModifiedBy>Att</cp:lastModifiedBy>
  <cp:revision>1</cp:revision>
  <dcterms:created xsi:type="dcterms:W3CDTF">2026-09-28T15:01:25Z</dcterms:created>
  <dcterms:modified xsi:type="dcterms:W3CDTF">2026-09-28T15:01:25Z</dcterms:modified>
</cp:coreProperties>
</file>