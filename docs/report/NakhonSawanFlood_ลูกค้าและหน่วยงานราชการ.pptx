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B3C5D"/>
                </a:solidFill>
                <a:latin typeface="Prompt"/>
              </a:defRPr>
            </a:pPr>
            <a:r>
              <a:rPr sz="1300" b="0" i="0" u="none" strike="noStrike">
                <a:solidFill>
                  <a:srgbClr val="0B3C5D"/>
                </a:solidFill>
                <a:latin typeface="Prompt"/>
              </a:rPr>
              <a:t>พื้นที่ท่วมขังรายอำเภอ (ตร.กม.)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สูงสุดใน 72 ชม.</c:v>
                </c:pt>
              </c:strCache>
            </c:strRef>
          </c:tx>
          <c:spPr>
            <a:solidFill>
              <a:srgbClr val="8FD3E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Promp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เมืองนครสวรรค์</c:v>
                  </c:pt>
                  <c:pt idx="1">
                    <c:v>ชุมแสง</c:v>
                  </c:pt>
                  <c:pt idx="2">
                    <c:v>ชุมตาบง</c:v>
                  </c:pt>
                  <c:pt idx="3">
                    <c:v>บรรพตพิสัย</c:v>
                  </c:pt>
                  <c:pt idx="4">
                    <c:v>แม่วงก์</c:v>
                  </c:pt>
                  <c:pt idx="5">
                    <c:v>ลาดยาว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</c:v>
                </c:pt>
                <c:pt idx="1">
                  <c:v>0.2</c:v>
                </c:pt>
                <c:pt idx="2">
                  <c:v>1</c:v>
                </c:pt>
                <c:pt idx="3">
                  <c:v>3.9</c:v>
                </c:pt>
                <c:pt idx="4">
                  <c:v>11.4</c:v>
                </c:pt>
                <c:pt idx="5">
                  <c:v>54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ตอนนี้ (ลึก 25 ซม. ขึ้นไป)</c:v>
                </c:pt>
              </c:strCache>
            </c:strRef>
          </c:tx>
          <c:spPr>
            <a:solidFill>
              <a:srgbClr val="0B3C5D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Promp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เมืองนครสวรรค์</c:v>
                  </c:pt>
                  <c:pt idx="1">
                    <c:v>ชุมแสง</c:v>
                  </c:pt>
                  <c:pt idx="2">
                    <c:v>ชุมตาบง</c:v>
                  </c:pt>
                  <c:pt idx="3">
                    <c:v>บรรพตพิสัย</c:v>
                  </c:pt>
                  <c:pt idx="4">
                    <c:v>แม่วงก์</c:v>
                  </c:pt>
                  <c:pt idx="5">
                    <c:v>ลาดยาว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0.5</c:v>
                </c:pt>
                <c:pt idx="1">
                  <c:v>0.2</c:v>
                </c:pt>
                <c:pt idx="2">
                  <c:v>1</c:v>
                </c:pt>
                <c:pt idx="3">
                  <c:v>4.1</c:v>
                </c:pt>
                <c:pt idx="4">
                  <c:v>10.8</c:v>
                </c:pt>
                <c:pt idx="5">
                  <c:v>40.4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Promp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75569"/>
                </a:solidFill>
                <a:latin typeface="Promp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Promp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Prompt"/>
              <a:cs typeface="Promp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B3C5D"/>
                </a:solidFill>
                <a:latin typeface="Prompt"/>
              </a:defRPr>
            </a:pPr>
            <a:r>
              <a:rPr sz="1300" b="0" i="0" u="none" strike="noStrike">
                <a:solidFill>
                  <a:srgbClr val="0B3C5D"/>
                </a:solidFill>
                <a:latin typeface="Prompt"/>
              </a:rPr>
              <a:t>พื้นที่ลึก 10 ซม. ขึ้นไป แยกตามเวลาที่คาดว่าน้ำจะลด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&lt; 1 วัน</c:v>
                </c:pt>
              </c:strCache>
            </c:strRef>
          </c:tx>
          <c:spPr>
            <a:solidFill>
              <a:srgbClr val="86EFA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Promp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ตาคลี</c:v>
                  </c:pt>
                  <c:pt idx="1">
                    <c:v>ท่าตะโก</c:v>
                  </c:pt>
                  <c:pt idx="2">
                    <c:v>โกรกพระ</c:v>
                  </c:pt>
                  <c:pt idx="3">
                    <c:v>พยุหะคีรี</c:v>
                  </c:pt>
                  <c:pt idx="4">
                    <c:v>แม่เปิน</c:v>
                  </c:pt>
                  <c:pt idx="5">
                    <c:v>เมืองนครสวรรค์</c:v>
                  </c:pt>
                  <c:pt idx="6">
                    <c:v>ชุมแสง</c:v>
                  </c:pt>
                  <c:pt idx="7">
                    <c:v>ชุมตาบง</c:v>
                  </c:pt>
                  <c:pt idx="8">
                    <c:v>บรรพตพิสัย</c:v>
                  </c:pt>
                  <c:pt idx="9">
                    <c:v>แม่วงก์</c:v>
                  </c:pt>
                  <c:pt idx="10">
                    <c:v>ลาดยาว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1.3</c:v>
                </c:pt>
                <c:pt idx="1">
                  <c:v>0.4</c:v>
                </c:pt>
                <c:pt idx="2">
                  <c:v>2</c:v>
                </c:pt>
                <c:pt idx="3">
                  <c:v>0.6</c:v>
                </c:pt>
                <c:pt idx="4">
                  <c:v>0.3</c:v>
                </c:pt>
                <c:pt idx="5">
                  <c:v>0.8</c:v>
                </c:pt>
                <c:pt idx="6">
                  <c:v>0.5</c:v>
                </c:pt>
                <c:pt idx="7">
                  <c:v>0.6</c:v>
                </c:pt>
                <c:pt idx="8">
                  <c:v>9.9</c:v>
                </c:pt>
                <c:pt idx="9">
                  <c:v>2.7</c:v>
                </c:pt>
                <c:pt idx="10">
                  <c:v>1.4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1–3 วัน</c:v>
                </c:pt>
              </c:strCache>
            </c:strRef>
          </c:tx>
          <c:spPr>
            <a:solidFill>
              <a:srgbClr val="FDE04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Promp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ตาคลี</c:v>
                  </c:pt>
                  <c:pt idx="1">
                    <c:v>ท่าตะโก</c:v>
                  </c:pt>
                  <c:pt idx="2">
                    <c:v>โกรกพระ</c:v>
                  </c:pt>
                  <c:pt idx="3">
                    <c:v>พยุหะคีรี</c:v>
                  </c:pt>
                  <c:pt idx="4">
                    <c:v>แม่เปิน</c:v>
                  </c:pt>
                  <c:pt idx="5">
                    <c:v>เมืองนครสวรรค์</c:v>
                  </c:pt>
                  <c:pt idx="6">
                    <c:v>ชุมแสง</c:v>
                  </c:pt>
                  <c:pt idx="7">
                    <c:v>ชุมตาบง</c:v>
                  </c:pt>
                  <c:pt idx="8">
                    <c:v>บรรพตพิสัย</c:v>
                  </c:pt>
                  <c:pt idx="9">
                    <c:v>แม่วงก์</c:v>
                  </c:pt>
                  <c:pt idx="10">
                    <c:v>ลาดยาว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0.2</c:v>
                </c:pt>
                <c:pt idx="1">
                  <c:v>0.4</c:v>
                </c:pt>
                <c:pt idx="2">
                  <c:v>0.5</c:v>
                </c:pt>
                <c:pt idx="3">
                  <c:v>0.5</c:v>
                </c:pt>
                <c:pt idx="4">
                  <c:v>0.2</c:v>
                </c:pt>
                <c:pt idx="5">
                  <c:v>0.4</c:v>
                </c:pt>
                <c:pt idx="6">
                  <c:v>0</c:v>
                </c:pt>
                <c:pt idx="7">
                  <c:v>1.2</c:v>
                </c:pt>
                <c:pt idx="8">
                  <c:v>7.8</c:v>
                </c:pt>
                <c:pt idx="9">
                  <c:v>8.3</c:v>
                </c:pt>
                <c:pt idx="10">
                  <c:v>17.6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3–7 วัน</c:v>
                </c:pt>
              </c:strCache>
            </c:strRef>
          </c:tx>
          <c:spPr>
            <a:solidFill>
              <a:srgbClr val="FB923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Promp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ตาคลี</c:v>
                  </c:pt>
                  <c:pt idx="1">
                    <c:v>ท่าตะโก</c:v>
                  </c:pt>
                  <c:pt idx="2">
                    <c:v>โกรกพระ</c:v>
                  </c:pt>
                  <c:pt idx="3">
                    <c:v>พยุหะคีรี</c:v>
                  </c:pt>
                  <c:pt idx="4">
                    <c:v>แม่เปิน</c:v>
                  </c:pt>
                  <c:pt idx="5">
                    <c:v>เมืองนครสวรรค์</c:v>
                  </c:pt>
                  <c:pt idx="6">
                    <c:v>ชุมแสง</c:v>
                  </c:pt>
                  <c:pt idx="7">
                    <c:v>ชุมตาบง</c:v>
                  </c:pt>
                  <c:pt idx="8">
                    <c:v>บรรพตพิสัย</c:v>
                  </c:pt>
                  <c:pt idx="9">
                    <c:v>แม่วงก์</c:v>
                  </c:pt>
                  <c:pt idx="10">
                    <c:v>ลาดยาว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0.2</c:v>
                </c:pt>
                <c:pt idx="4">
                  <c:v>0</c:v>
                </c:pt>
                <c:pt idx="5">
                  <c:v>0.1</c:v>
                </c:pt>
                <c:pt idx="6">
                  <c:v>0</c:v>
                </c:pt>
                <c:pt idx="7">
                  <c:v>0</c:v>
                </c:pt>
                <c:pt idx="8">
                  <c:v>0.2</c:v>
                </c:pt>
                <c:pt idx="9">
                  <c:v>0</c:v>
                </c:pt>
                <c:pt idx="10">
                  <c:v>21.6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7–14 วัน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Promp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ตาคลี</c:v>
                  </c:pt>
                  <c:pt idx="1">
                    <c:v>ท่าตะโก</c:v>
                  </c:pt>
                  <c:pt idx="2">
                    <c:v>โกรกพระ</c:v>
                  </c:pt>
                  <c:pt idx="3">
                    <c:v>พยุหะคีรี</c:v>
                  </c:pt>
                  <c:pt idx="4">
                    <c:v>แม่เปิน</c:v>
                  </c:pt>
                  <c:pt idx="5">
                    <c:v>เมืองนครสวรรค์</c:v>
                  </c:pt>
                  <c:pt idx="6">
                    <c:v>ชุมแสง</c:v>
                  </c:pt>
                  <c:pt idx="7">
                    <c:v>ชุมตาบง</c:v>
                  </c:pt>
                  <c:pt idx="8">
                    <c:v>บรรพตพิสัย</c:v>
                  </c:pt>
                  <c:pt idx="9">
                    <c:v>แม่วงก์</c:v>
                  </c:pt>
                  <c:pt idx="10">
                    <c:v>ลาดยาว</c:v>
                  </c:pt>
                </c:lvl>
              </c:multiLvlStrCache>
            </c:multiLvlStrRef>
          </c:cat>
          <c:val>
            <c:numRef>
              <c:f>Sheet1!$E$2:$E$12</c:f>
              <c:numCache>
                <c:formatCode>General</c:formatCode>
                <c:ptCount val="11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&gt; 14 วัน</c:v>
                </c:pt>
              </c:strCache>
            </c:strRef>
          </c:tx>
          <c:spPr>
            <a:solidFill>
              <a:srgbClr val="7F1D1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Promp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ตาคลี</c:v>
                  </c:pt>
                  <c:pt idx="1">
                    <c:v>ท่าตะโก</c:v>
                  </c:pt>
                  <c:pt idx="2">
                    <c:v>โกรกพระ</c:v>
                  </c:pt>
                  <c:pt idx="3">
                    <c:v>พยุหะคีรี</c:v>
                  </c:pt>
                  <c:pt idx="4">
                    <c:v>แม่เปิน</c:v>
                  </c:pt>
                  <c:pt idx="5">
                    <c:v>เมืองนครสวรรค์</c:v>
                  </c:pt>
                  <c:pt idx="6">
                    <c:v>ชุมแสง</c:v>
                  </c:pt>
                  <c:pt idx="7">
                    <c:v>ชุมตาบง</c:v>
                  </c:pt>
                  <c:pt idx="8">
                    <c:v>บรรพตพิสัย</c:v>
                  </c:pt>
                  <c:pt idx="9">
                    <c:v>แม่วงก์</c:v>
                  </c:pt>
                  <c:pt idx="10">
                    <c:v>ลาดยาว</c:v>
                  </c:pt>
                </c:lvl>
              </c:multiLvlStrCache>
            </c:multiLvlStrRef>
          </c:cat>
          <c:val>
            <c:numRef>
              <c:f>Sheet1!$F$2:$F$12</c:f>
              <c:numCache>
                <c:formatCode>General</c:formatCode>
                <c:ptCount val="11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2.8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Promp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75569"/>
                </a:solidFill>
                <a:latin typeface="Promp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4748B"/>
                    </a:solidFill>
                    <a:latin typeface="Prompt"/>
                  </a:defRPr>
                </a:pPr>
                <a:r>
                  <a:rPr sz="1000" b="0" i="0" u="none" strike="noStrike">
                    <a:solidFill>
                      <a:srgbClr val="64748B"/>
                    </a:solidFill>
                    <a:latin typeface="Prompt"/>
                  </a:rPr>
                  <a:t>ตร.กม.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Promp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Prompt"/>
              <a:cs typeface="Promp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B3C5D"/>
                </a:solidFill>
                <a:latin typeface="Prompt"/>
              </a:defRPr>
            </a:pPr>
            <a:r>
              <a:rPr sz="1300" b="0" i="0" u="none" strike="noStrike">
                <a:solidFill>
                  <a:srgbClr val="0B3C5D"/>
                </a:solidFill>
                <a:latin typeface="Prompt"/>
              </a:rPr>
              <a:t>ปริมาตรน้ำท่าที่ไหลเข้านครสวรรค์ (ล้าน ลบ.ม.)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7 วันที่ผ่านมา</c:v>
                </c:pt>
              </c:strCache>
            </c:strRef>
          </c:tx>
          <c:spPr>
            <a:solidFill>
              <a:srgbClr val="A3B3C2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34155"/>
                    </a:solidFill>
                    <a:latin typeface="Promp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กำแพงเพชร</c:v>
                  </c:pt>
                  <c:pt idx="1">
                    <c:v>พิษณุโลก</c:v>
                  </c:pt>
                  <c:pt idx="2">
                    <c:v>พิจิตร</c:v>
                  </c:pt>
                  <c:pt idx="3">
                    <c:v>เพชรบูรณ์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121.7</c:v>
                </c:pt>
                <c:pt idx="1">
                  <c:v>146.9</c:v>
                </c:pt>
                <c:pt idx="2">
                  <c:v>84.8</c:v>
                </c:pt>
                <c:pt idx="3">
                  <c:v>25.2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72 ชม. ข้างหน้า</c:v>
                </c:pt>
              </c:strCache>
            </c:strRef>
          </c:tx>
          <c:spPr>
            <a:solidFill>
              <a:srgbClr val="1B998B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34155"/>
                    </a:solidFill>
                    <a:latin typeface="Promp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กำแพงเพชร</c:v>
                  </c:pt>
                  <c:pt idx="1">
                    <c:v>พิษณุโลก</c:v>
                  </c:pt>
                  <c:pt idx="2">
                    <c:v>พิจิตร</c:v>
                  </c:pt>
                  <c:pt idx="3">
                    <c:v>เพชรบูรณ์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91.4</c:v>
                </c:pt>
                <c:pt idx="1">
                  <c:v>18.2</c:v>
                </c:pt>
                <c:pt idx="2">
                  <c:v>17.4</c:v>
                </c:pt>
                <c:pt idx="3">
                  <c:v>5.1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000" u="none">
                  <a:solidFill>
                    <a:srgbClr val="334155"/>
                  </a:solidFill>
                  <a:latin typeface="Promp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75569"/>
                </a:solidFill>
                <a:latin typeface="Promp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Promp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Prompt"/>
              <a:cs typeface="Promp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เปิดด้วยคำถามที่ผู้บริหารจังหวัดถามทุกฤดูฝน: น้ำจะขังที่ไหน ลึกแค่ไหน และนานกี่วัน ระบบนี้ตอบทั้ง 3 ข้อทุกชั่วโมง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2A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FD3E8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FLOOD WATCH สำหรับจังหวัด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6309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รู้ก่อนว่าน้ำจะขังที่ไหน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ลึกเท่าไร และนานกี่วัน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65760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E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ระบบเฝ้าระวังน้ำท่วมขังแบบ Near-realtime ที่ใช้ข้อมูลหน่วยงานรัฐและ ArcGIS Pro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FE3EE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ตัวอย่างใช้งานจริง: จังหวัดนครสวรรค์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626096" y="630936"/>
            <a:ext cx="2807208" cy="5596128"/>
          </a:xfrm>
          <a:prstGeom prst="roundRect">
            <a:avLst>
              <a:gd name="adj" fmla="val 2606"/>
            </a:avLst>
          </a:prstGeom>
          <a:solidFill>
            <a:srgbClr val="FFFFFF"/>
          </a:solidFill>
          <a:ln w="9525">
            <a:solidFill>
              <a:srgbClr val="D5DE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/home/claude/rpt/img/app_mobil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680960" y="685800"/>
            <a:ext cx="269748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โจทย์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ความท้าทายของการบริหารสถานการณ์น้ำท่วมขังในระดับจังหวัด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22392" cy="2148840"/>
          </a:xfrm>
          <a:prstGeom prst="roundRect">
            <a:avLst>
              <a:gd name="adj" fmla="val 4255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" y="1783080"/>
            <a:ext cx="384048" cy="384048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9808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61872" y="1764792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ข้อมูลกระจายหลายหน่วยงาน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2295144"/>
            <a:ext cx="502005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7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ฝน ระดับน้ำ ปริมาณน้ำ ดาวเทียม อยู่คนละระบบ ต้องรวมเองทุกครั้ง</a:t>
            </a:r>
            <a:endParaRPr lang="en-US" sz="1750" dirty="0"/>
          </a:p>
        </p:txBody>
      </p:sp>
      <p:sp>
        <p:nvSpPr>
          <p:cNvPr id="9" name="Shape 7"/>
          <p:cNvSpPr/>
          <p:nvPr/>
        </p:nvSpPr>
        <p:spPr>
          <a:xfrm>
            <a:off x="6153912" y="1600200"/>
            <a:ext cx="5422392" cy="2148840"/>
          </a:xfrm>
          <a:prstGeom prst="roundRect">
            <a:avLst>
              <a:gd name="adj" fmla="val 4255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55080" y="1783080"/>
            <a:ext cx="384048" cy="384048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5508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867144" y="1764792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เห็นแค่ ณ จุดสถานี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6355080" y="2295144"/>
            <a:ext cx="502005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7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สถานีบอกระดับน้ำในแม่น้ำ แต่ไม่บอกว่าน้ำจะขังที่ทุ่งหรือชุมชนไหน</a:t>
            </a:r>
            <a:endParaRPr lang="en-US" sz="1750" dirty="0"/>
          </a:p>
        </p:txBody>
      </p:sp>
      <p:sp>
        <p:nvSpPr>
          <p:cNvPr id="14" name="Shape 12"/>
          <p:cNvSpPr/>
          <p:nvPr/>
        </p:nvSpPr>
        <p:spPr>
          <a:xfrm>
            <a:off x="548640" y="3931920"/>
            <a:ext cx="5422392" cy="2148840"/>
          </a:xfrm>
          <a:prstGeom prst="roundRect">
            <a:avLst>
              <a:gd name="adj" fmla="val 4255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49808" y="4114800"/>
            <a:ext cx="384048" cy="384048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49808" y="4114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61872" y="4096512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ไม่รู้ว่าจะท่วมอีกนานเท่าไร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749808" y="4626864"/>
            <a:ext cx="502005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7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การวางแผนสูบน้ำ ถุงยังชีพ และการเยียวยา ต้องการระยะเวลาท่วม</a:t>
            </a:r>
            <a:endParaRPr lang="en-US" sz="1750" dirty="0"/>
          </a:p>
        </p:txBody>
      </p:sp>
      <p:sp>
        <p:nvSpPr>
          <p:cNvPr id="19" name="Shape 17"/>
          <p:cNvSpPr/>
          <p:nvPr/>
        </p:nvSpPr>
        <p:spPr>
          <a:xfrm>
            <a:off x="6153912" y="3931920"/>
            <a:ext cx="5422392" cy="2148840"/>
          </a:xfrm>
          <a:prstGeom prst="roundRect">
            <a:avLst>
              <a:gd name="adj" fmla="val 4255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55080" y="4114800"/>
            <a:ext cx="384048" cy="384048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55080" y="4114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867144" y="4096512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น้ำมาจากนอกจังหวัด</a:t>
            </a:r>
            <a:endParaRPr lang="en-US" sz="1900" dirty="0"/>
          </a:p>
        </p:txBody>
      </p:sp>
      <p:sp>
        <p:nvSpPr>
          <p:cNvPr id="23" name="Text 21"/>
          <p:cNvSpPr txBox="1"/>
          <p:nvPr/>
        </p:nvSpPr>
        <p:spPr>
          <a:xfrm>
            <a:off x="6355080" y="4626864"/>
            <a:ext cx="502005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7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น้ำจากจังหวัดต้นน้ำมาถึงหลังฝนหยุดแล้วหลายวัน</a:t>
            </a:r>
            <a:endParaRPr lang="en-US" sz="1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แนวทาง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โซลูชันในภาพเดียว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513000" cy="2834640"/>
          </a:xfrm>
          <a:prstGeom prst="roundRect">
            <a:avLst>
              <a:gd name="adj" fmla="val 3639"/>
            </a:avLst>
          </a:prstGeom>
          <a:solidFill>
            <a:srgbClr val="EEF5F9"/>
          </a:solidFill>
          <a:ln w="12700">
            <a:solidFill>
              <a:srgbClr val="EEF5F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810512"/>
            <a:ext cx="347472" cy="347472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8105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152144" y="1792224"/>
            <a:ext cx="178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ดึงข้อมูลอัตโนมัติ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304288"/>
            <a:ext cx="2183816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ฝนสถานีและพยากรณ์ ระดับน้ำ ปริมาณน้ำ จากหน่วยงานรัฐและแหล่งเปิด ทุกชั่วโมง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125648" y="2944368"/>
            <a:ext cx="219456" cy="237744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09112" y="1645920"/>
            <a:ext cx="2513000" cy="2834640"/>
          </a:xfrm>
          <a:prstGeom prst="roundRect">
            <a:avLst>
              <a:gd name="adj" fmla="val 3639"/>
            </a:avLst>
          </a:prstGeom>
          <a:solidFill>
            <a:srgbClr val="E3F1EE"/>
          </a:solidFill>
          <a:ln w="12700">
            <a:solidFill>
              <a:srgbClr val="E3F1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73704" y="1810512"/>
            <a:ext cx="347472" cy="347472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573704" y="18105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012616" y="1792224"/>
            <a:ext cx="178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วิเคราะห์ภูมิประเทศ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591992" y="2304288"/>
            <a:ext cx="2183816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ArcGIS Pro คำนวณทางน้ำ ที่ลุ่มต่ำ แอ่ง คลอง คันกั้นน้ำ ทั้งจังหวัด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986120" y="2944368"/>
            <a:ext cx="219456" cy="237744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69584" y="1645920"/>
            <a:ext cx="2513000" cy="2834640"/>
          </a:xfrm>
          <a:prstGeom prst="roundRect">
            <a:avLst>
              <a:gd name="adj" fmla="val 3639"/>
            </a:avLst>
          </a:prstGeom>
          <a:solidFill>
            <a:srgbClr val="EFEDFB"/>
          </a:solidFill>
          <a:ln w="12700">
            <a:solidFill>
              <a:srgbClr val="EFEDF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34176" y="1810512"/>
            <a:ext cx="347472" cy="347472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34176" y="18105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873088" y="1792224"/>
            <a:ext cx="178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จำลองน้ำ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452464" y="2304288"/>
            <a:ext cx="2183816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น้ำไหลจากที่สูงลงที่ต่ำ ขังในแอ่ง ระบายออก และน้ำล้นตลิ่ง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8846591" y="2944368"/>
            <a:ext cx="219456" cy="237744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30055" y="1645920"/>
            <a:ext cx="2513000" cy="2834640"/>
          </a:xfrm>
          <a:prstGeom prst="roundRect">
            <a:avLst>
              <a:gd name="adj" fmla="val 3639"/>
            </a:avLst>
          </a:prstGeom>
          <a:solidFill>
            <a:srgbClr val="FDF3E5"/>
          </a:solidFill>
          <a:ln w="12700">
            <a:solidFill>
              <a:srgbClr val="FDF3E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294647" y="1810512"/>
            <a:ext cx="347472" cy="347472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294647" y="18105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733559" y="1792224"/>
            <a:ext cx="178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แสดงผลออนไลน์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9312935" y="2304288"/>
            <a:ext cx="2183816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แผนที่ ตารางรายอำเภอ และกราฟ เปิดได้ทั้งคอมพิวเตอร์และมือถือ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548640" y="4754880"/>
            <a:ext cx="11094415" cy="1371600"/>
          </a:xfrm>
          <a:prstGeom prst="roundRect">
            <a:avLst>
              <a:gd name="adj" fmla="val 6667"/>
            </a:avLst>
          </a:prstGeom>
          <a:solidFill>
            <a:srgbClr val="E3F1EE"/>
          </a:solidFill>
          <a:ln w="9525">
            <a:solidFill>
              <a:srgbClr val="E3F1EE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49808" y="4919472"/>
            <a:ext cx="1071036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อัปเดตทุก 1 ชั่วโมง · ย้อนหลัง 7 วันถึงพยากรณ์ 72 ชม. · ไม่ต้องมีเซิร์ฟเวอร์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749808" y="5449824"/>
            <a:ext cx="10692079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4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ผู้ใช้เปิดลิงก์เดียวก็เห็นสถานการณ์ล่าสุด ไม่ต้องติดตั้งโปรแกรม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ผลิตภัณฑ์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สิ่งที่ผู้ใช้เห็นบนหน้าจอ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93776" y="1453896"/>
            <a:ext cx="7333488" cy="4626864"/>
          </a:xfrm>
          <a:prstGeom prst="roundRect">
            <a:avLst>
              <a:gd name="adj" fmla="val 1581"/>
            </a:avLst>
          </a:prstGeom>
          <a:solidFill>
            <a:srgbClr val="FFFFFF"/>
          </a:solidFill>
          <a:ln w="9525">
            <a:solidFill>
              <a:srgbClr val="D5DE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home/claude/rpt/img/app_mai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508760"/>
            <a:ext cx="7223760" cy="451713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183880" y="1600200"/>
            <a:ext cx="384048" cy="384048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183880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732520" y="1572768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สถานการณ์ตอนนี้</a:t>
            </a:r>
            <a:endParaRPr lang="en-US" sz="1600" dirty="0"/>
          </a:p>
          <a:p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พื้นที่ท่วมขังและความลึกทั้งจังหวัด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8183880" y="2496312"/>
            <a:ext cx="384048" cy="384048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183880" y="2496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8732520" y="24688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ระยะเวลาท่วม</a:t>
            </a:r>
            <a:endParaRPr lang="en-US" sz="1600" dirty="0"/>
          </a:p>
          <a:p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ท่วมมาแล้ว และคาดว่าจะลดเมื่อไร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8183880" y="3392424"/>
            <a:ext cx="384048" cy="384048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183880" y="3392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8732520" y="3364992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รายอำเภอ</a:t>
            </a:r>
            <a:endParaRPr lang="en-US" sz="1600" dirty="0"/>
          </a:p>
          <a:p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จัดลำดับพื้นที่ที่ต้องช่วยก่อน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8183880" y="4288536"/>
            <a:ext cx="384048" cy="384048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183880" y="4288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8732520" y="4261104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น้ำจากต้นน้ำ</a:t>
            </a:r>
            <a:endParaRPr lang="en-US" sz="1600" dirty="0"/>
          </a:p>
          <a:p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แม่น้ำสายไหนใกล้ล้นตลิ่ง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8183880" y="5184648"/>
            <a:ext cx="384048" cy="384048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183880" y="5184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8732520" y="5157216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จุดวิกฤตละเอียด</a:t>
            </a:r>
            <a:endParaRPr lang="en-US" sz="1600" dirty="0"/>
          </a:p>
          <a:p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ภาพความลึก 120 ม. ในพื้นที่เสี่ยง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ผลลัพธ์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ตัวอย่างผลจริง: นครสวรรค์ 28 ก.ย. 2569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633472" cy="1463040"/>
          </a:xfrm>
          <a:prstGeom prst="roundRect">
            <a:avLst>
              <a:gd name="adj" fmla="val 6250"/>
            </a:avLst>
          </a:prstGeom>
          <a:solidFill>
            <a:srgbClr val="EEF5F9"/>
          </a:solidFill>
          <a:ln w="12700">
            <a:solidFill>
              <a:srgbClr val="EEF5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19072"/>
            <a:ext cx="22677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D64545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59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  ตร.กม.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373782"/>
            <a:ext cx="226771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ท่วมขังลึกตั้งแต่ 25 ซม.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364992" y="1554480"/>
            <a:ext cx="2633472" cy="1463040"/>
          </a:xfrm>
          <a:prstGeom prst="roundRect">
            <a:avLst>
              <a:gd name="adj" fmla="val 6250"/>
            </a:avLst>
          </a:prstGeom>
          <a:solidFill>
            <a:srgbClr val="EEF5F9"/>
          </a:solidFill>
          <a:ln w="12700">
            <a:solidFill>
              <a:srgbClr val="EEF5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93592" y="1719072"/>
            <a:ext cx="22677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66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  ตร.กม.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3593592" y="2373782"/>
            <a:ext cx="226771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สูงสุดที่คาดใน 72 ชม.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81344" y="1554480"/>
            <a:ext cx="2633472" cy="1463040"/>
          </a:xfrm>
          <a:prstGeom prst="roundRect">
            <a:avLst>
              <a:gd name="adj" fmla="val 6250"/>
            </a:avLst>
          </a:prstGeom>
          <a:solidFill>
            <a:srgbClr val="EEF5F9"/>
          </a:solidFill>
          <a:ln w="12700">
            <a:solidFill>
              <a:srgbClr val="EEF5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9944" y="1719072"/>
            <a:ext cx="22677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37 ชม.</a:t>
            </a:r>
            <a:pPr indent="0" marL="0">
              <a:buNone/>
            </a:pP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6409944" y="2373782"/>
            <a:ext cx="226771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คาดว่าน้ำลด (มัธยฐาน)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997696" y="1554480"/>
            <a:ext cx="2633472" cy="1463040"/>
          </a:xfrm>
          <a:prstGeom prst="roundRect">
            <a:avLst>
              <a:gd name="adj" fmla="val 6250"/>
            </a:avLst>
          </a:prstGeom>
          <a:solidFill>
            <a:srgbClr val="EEF5F9"/>
          </a:solidFill>
          <a:ln w="12700">
            <a:solidFill>
              <a:srgbClr val="EEF5F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26296" y="1719072"/>
            <a:ext cx="22677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70%</a:t>
            </a:r>
            <a:pPr indent="0" marL="0">
              <a:buNone/>
            </a:pP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9226296" y="2373782"/>
            <a:ext cx="226771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ของพื้นที่ลดภายใน 3 วัน</a:t>
            </a:r>
            <a:endParaRPr lang="en-US" sz="125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548640" y="3246120"/>
          <a:ext cx="667512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7" name="Shape 14"/>
          <p:cNvSpPr/>
          <p:nvPr/>
        </p:nvSpPr>
        <p:spPr>
          <a:xfrm>
            <a:off x="7452360" y="3291840"/>
            <a:ext cx="4187952" cy="2880360"/>
          </a:xfrm>
          <a:prstGeom prst="roundRect">
            <a:avLst>
              <a:gd name="adj" fmla="val 3175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653528" y="3456432"/>
            <a:ext cx="38039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สิ่งที่ผู้บริหารได้ทันที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7653528" y="3986784"/>
            <a:ext cx="3785616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5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ลาดยาว แม่วงก์ บรรพตพิสัย = 87% ของพื้นที่</a:t>
            </a:r>
            <a:endParaRPr lang="en-US" sz="155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5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แม่น้ำแม่วงก์ล้นตลิ่ง คาดต่ำกว่าความจุในราว 33 ชม.</a:t>
            </a:r>
            <a:endParaRPr lang="en-US" sz="155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5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ลาดยาวบางส่วนต้องใช้ 3–7 วันกว่าน้ำจะลด</a:t>
            </a:r>
            <a:endParaRPr lang="en-US" sz="1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ผลลัพธ์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ตอบคำถาม "อีกนานแค่ไหน" และ "น้ำมาจากไหน"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17320"/>
          <a:ext cx="5760720" cy="4800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6446520" y="1417320"/>
          <a:ext cx="5193792" cy="4800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ความน่าเชื่อถือ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ใช้ข้อมูลจากหน่วยงานรัฐและแหล่งข้อมูลเปิด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47872" cy="2103120"/>
          </a:xfrm>
          <a:prstGeom prst="roundRect">
            <a:avLst>
              <a:gd name="adj" fmla="val 4348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9808" y="1764792"/>
            <a:ext cx="3163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ThaiWater (สสน.)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295144"/>
            <a:ext cx="3145536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6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ฝนสถานีโทรมาตรกว่า 800 สถานี ระดับน้ำ ปริมาณน้ำ และประวัติรายชั่วโมง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279392" y="1600200"/>
            <a:ext cx="3547872" cy="2103120"/>
          </a:xfrm>
          <a:prstGeom prst="roundRect">
            <a:avLst>
              <a:gd name="adj" fmla="val 4348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80560" y="1764792"/>
            <a:ext cx="3163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กรมชลประทาน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480560" y="2295144"/>
            <a:ext cx="3145536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6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ปริมาณน้ำและความจุลำน้ำที่สถานีหลัก (ผ่าน ThaiWater)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010144" y="1600200"/>
            <a:ext cx="3547872" cy="2103120"/>
          </a:xfrm>
          <a:prstGeom prst="roundRect">
            <a:avLst>
              <a:gd name="adj" fmla="val 4348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11312" y="1764792"/>
            <a:ext cx="3163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GISTDA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211312" y="2295144"/>
            <a:ext cx="3145536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6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พื้นที่น้ำท่วมจากดาวเทียม ใช้เทียบและสอบเทียบ (ต้องมี API key)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3886200"/>
            <a:ext cx="3547872" cy="2103120"/>
          </a:xfrm>
          <a:prstGeom prst="roundRect">
            <a:avLst>
              <a:gd name="adj" fmla="val 4348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49808" y="4050792"/>
            <a:ext cx="3163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Open-Meteo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749808" y="4581144"/>
            <a:ext cx="3145536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6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ฝนรายชั่วโมงต่อเนื่องและพยากรณ์ 72 ชม.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279392" y="3886200"/>
            <a:ext cx="3547872" cy="2103120"/>
          </a:xfrm>
          <a:prstGeom prst="roundRect">
            <a:avLst>
              <a:gd name="adj" fmla="val 4348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480560" y="4050792"/>
            <a:ext cx="3163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Copernicus / FABDEM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4480560" y="4581144"/>
            <a:ext cx="3145536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6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แบบจำลองความสูงภูมิประเทศ 30 ม.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010144" y="3886200"/>
            <a:ext cx="3547872" cy="2103120"/>
          </a:xfrm>
          <a:prstGeom prst="roundRect">
            <a:avLst>
              <a:gd name="adj" fmla="val 4348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11312" y="4050792"/>
            <a:ext cx="3163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ESA WorldCover · OpenStreetMap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8211312" y="4581144"/>
            <a:ext cx="3145536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6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สิ่งปกคลุมดิน คลอง คันกั้นน้ำ ประตูน้ำ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เทคโนโลยี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เทคโนโลยีที่ใช้: ArcGIS Pro + แบบจำลองอุทกวิทยา</a:t>
            </a:r>
            <a:endParaRPr lang="en-US" sz="2800" dirty="0"/>
          </a:p>
        </p:txBody>
      </p:sp>
      <p:pic>
        <p:nvPicPr>
          <p:cNvPr id="4" name="Image 0" descr="/home/claude/rpt/fig/d_arch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463040"/>
            <a:ext cx="10515600" cy="383133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5440680"/>
            <a:ext cx="3547872" cy="868680"/>
          </a:xfrm>
          <a:prstGeom prst="roundRect">
            <a:avLst>
              <a:gd name="adj" fmla="val 10526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49808" y="5513832"/>
            <a:ext cx="3200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ArcGIS Pro</a:t>
            </a:r>
            <a:endParaRPr lang="en-US" sz="1450" dirty="0"/>
          </a:p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วิเคราะห์ทางน้ำ ที่ลุ่มต่ำ แอ่ง และเครือข่ายการไหล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4279392" y="5440680"/>
            <a:ext cx="3547872" cy="868680"/>
          </a:xfrm>
          <a:prstGeom prst="roundRect">
            <a:avLst>
              <a:gd name="adj" fmla="val 10526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480560" y="5513832"/>
            <a:ext cx="3200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แบบจำลอง 2 ระดับ</a:t>
            </a:r>
            <a:endParaRPr lang="en-US" sz="1450" dirty="0"/>
          </a:p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ทั้งจังหวัด 1 ตร.กม. + จุดวิกฤต 120 ม.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8010144" y="5440680"/>
            <a:ext cx="3547872" cy="868680"/>
          </a:xfrm>
          <a:prstGeom prst="roundRect">
            <a:avLst>
              <a:gd name="adj" fmla="val 10526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11312" y="5513832"/>
            <a:ext cx="3200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สอบเทียบอัตโนมัติ</a:t>
            </a:r>
            <a:endParaRPr lang="en-US" sz="1450" dirty="0"/>
          </a:p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ปรับพารามิเตอร์ทุกสัปดาห์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การนำไปใช้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ทางเลือกการติดตั้งใช้งาน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47872" cy="3566160"/>
          </a:xfrm>
          <a:prstGeom prst="roundRect">
            <a:avLst>
              <a:gd name="adj" fmla="val 2577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9808" y="1764792"/>
            <a:ext cx="3163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A · เว็บสาธารณะต้นทุนต่ำ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295144"/>
            <a:ext cx="3145536" cy="2734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5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GitHub Pages + GitHub Actions</a:t>
            </a:r>
            <a:endParaRPr lang="en-US" sz="155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5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ไม่มีค่าเซิร์ฟเวอร์ ไม่ต้องใช้ ArcGIS Online</a:t>
            </a:r>
            <a:endParaRPr lang="en-US" sz="155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5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เหมาะกับการเผยแพร่ข้อมูลให้ประชาชน</a:t>
            </a:r>
            <a:endParaRPr lang="en-US" sz="155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5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ต้องตรวจว่าดึงข้อมูล ThaiWater จากต่างประเทศได้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4279392" y="1600200"/>
            <a:ext cx="3547872" cy="3566160"/>
          </a:xfrm>
          <a:prstGeom prst="roundRect">
            <a:avLst>
              <a:gd name="adj" fmla="val 2577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80560" y="1764792"/>
            <a:ext cx="3163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B · ArcGIS Online / Enterprise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480560" y="2295144"/>
            <a:ext cx="3145536" cy="2734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5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publish ผลเป็น hosted feature layer</a:t>
            </a:r>
            <a:endParaRPr lang="en-US" sz="155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5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Dashboards / Experience Builder สำหรับศูนย์บัญชาการ</a:t>
            </a:r>
            <a:endParaRPr lang="en-US" sz="155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5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จัดสิทธิ์ผู้ใช้ภายในหน่วยงาน</a:t>
            </a:r>
            <a:endParaRPr lang="en-US" sz="155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5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ใช้ pipeline เดิม เพิ่มขั้นส่งข้อมูล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8010144" y="1600200"/>
            <a:ext cx="3547872" cy="3566160"/>
          </a:xfrm>
          <a:prstGeom prst="roundRect">
            <a:avLst>
              <a:gd name="adj" fmla="val 2577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11312" y="1764792"/>
            <a:ext cx="3163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A541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C · ติดตั้งในหน่วยงาน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211312" y="2295144"/>
            <a:ext cx="3145536" cy="2734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5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รันบนเครื่องที่มี ArcGIS Pro (toolbox พร้อมใช้)</a:t>
            </a:r>
            <a:endParaRPr lang="en-US" sz="155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5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self-hosted runner ในเครือข่ายหน่วยงาน</a:t>
            </a:r>
            <a:endParaRPr lang="en-US" sz="155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5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เชื่อมข้อมูลภายใน เช่น สถานีสูบ ประตูน้ำ</a:t>
            </a:r>
            <a:endParaRPr lang="en-US" sz="155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5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เหมาะกับข้อมูลที่ไม่เปิดเผย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548640" y="5394960"/>
            <a:ext cx="11094415" cy="777240"/>
          </a:xfrm>
          <a:prstGeom prst="roundRect">
            <a:avLst>
              <a:gd name="adj" fmla="val 11765"/>
            </a:avLst>
          </a:prstGeom>
          <a:solidFill>
            <a:srgbClr val="E3F1EE"/>
          </a:solidFill>
          <a:ln w="9525">
            <a:solidFill>
              <a:srgbClr val="E3F1E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49808" y="5577840"/>
            <a:ext cx="106920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5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ทุกทางเลือกใช้ชุดเครื่องมือ ArcGIS Pro และแบบจำลองเดียวกัน ต่างกันที่ที่เก็บผลลัพธ์และผู้ที่เข้าถึงได้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ความโปร่งใส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ข้อจำกัดที่ควรทราบ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422392" cy="1417320"/>
          </a:xfrm>
          <a:prstGeom prst="roundRect">
            <a:avLst>
              <a:gd name="adj" fmla="val 6452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" y="1737360"/>
            <a:ext cx="384048" cy="384048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9808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!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61872" y="1719072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เป็นระบบเตือนภัยล่วงหน้า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2249424"/>
            <a:ext cx="502005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4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ความละเอียด 1 ตร.กม. ใช้จัดลำดับพื้นที่ ไม่ใช่ความลึกรายหลังคาเรือน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153912" y="1554480"/>
            <a:ext cx="5422392" cy="1417320"/>
          </a:xfrm>
          <a:prstGeom prst="roundRect">
            <a:avLst>
              <a:gd name="adj" fmla="val 6452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55080" y="1737360"/>
            <a:ext cx="384048" cy="384048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5508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!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867144" y="1719072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ต้องยืนยันกับข้อมูลจริง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355080" y="2249424"/>
            <a:ext cx="502005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4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ยังไม่ได้เทียบกับภาพดาวเทียม GISTDA และรายงานภาคสนาม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548640" y="3127248"/>
            <a:ext cx="5422392" cy="1417320"/>
          </a:xfrm>
          <a:prstGeom prst="roundRect">
            <a:avLst>
              <a:gd name="adj" fmla="val 6452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49808" y="3310128"/>
            <a:ext cx="384048" cy="384048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49808" y="3310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!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61872" y="3291840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ขึ้นกับคุณภาพข้อมูลต้นทาง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49808" y="3822192"/>
            <a:ext cx="502005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4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ฝนพยากรณ์และข้อมูลสถานีที่ขาดหาย ทำให้ผลคลาดเคลื่อนได้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6153912" y="3127248"/>
            <a:ext cx="5422392" cy="1417320"/>
          </a:xfrm>
          <a:prstGeom prst="roundRect">
            <a:avLst>
              <a:gd name="adj" fmla="val 6452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55080" y="3310128"/>
            <a:ext cx="384048" cy="384048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55080" y="3310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!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867144" y="3291840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ยังไม่รวมการบริหารเขื่อน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355080" y="3822192"/>
            <a:ext cx="502005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4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การระบายน้ำเขื่อนและกฎการเปิด-ปิดประตูน้ำจริงยังไม่อยู่ในแบบจำลอง</a:t>
            </a:r>
            <a:endParaRPr lang="en-US" sz="1450" dirty="0"/>
          </a:p>
        </p:txBody>
      </p:sp>
      <p:sp>
        <p:nvSpPr>
          <p:cNvPr id="24" name="Shape 22"/>
          <p:cNvSpPr/>
          <p:nvPr/>
        </p:nvSpPr>
        <p:spPr>
          <a:xfrm>
            <a:off x="548640" y="4700016"/>
            <a:ext cx="5422392" cy="1417320"/>
          </a:xfrm>
          <a:prstGeom prst="roundRect">
            <a:avLst>
              <a:gd name="adj" fmla="val 6452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9808" y="4882896"/>
            <a:ext cx="384048" cy="384048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49808" y="4882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!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261872" y="4864608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ต้องการข้อมูลระบายน้ำจากพื้นที่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749808" y="5394960"/>
            <a:ext cx="502005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4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สถานีสูบและประตูน้ำใน OSM ยังไม่ครบ ต้องเพิ่มจากหน่วยงานในพื้นที่</a:t>
            </a:r>
            <a:endParaRPr lang="en-US" sz="1450" dirty="0"/>
          </a:p>
        </p:txBody>
      </p:sp>
      <p:sp>
        <p:nvSpPr>
          <p:cNvPr id="29" name="Shape 27"/>
          <p:cNvSpPr/>
          <p:nvPr/>
        </p:nvSpPr>
        <p:spPr>
          <a:xfrm>
            <a:off x="6153912" y="4700016"/>
            <a:ext cx="5422392" cy="1417320"/>
          </a:xfrm>
          <a:prstGeom prst="roundRect">
            <a:avLst>
              <a:gd name="adj" fmla="val 6452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355080" y="4882896"/>
            <a:ext cx="384048" cy="384048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55080" y="4882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!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867144" y="4864608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ใบอนุญาตข้อมูล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6355080" y="5394960"/>
            <a:ext cx="502005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4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FABDEM ใช้เชิงพาณิชย์ไม่ได้ · ถ้าเป็นโครงการเชิงพาณิชย์ใช้ Copernicus DEM แทน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ขั้นตอนต่อไป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แผนดำเนินงานที่แนะนำ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513000" cy="2743200"/>
          </a:xfrm>
          <a:prstGeom prst="roundRect">
            <a:avLst>
              <a:gd name="adj" fmla="val 3639"/>
            </a:avLst>
          </a:prstGeom>
          <a:solidFill>
            <a:srgbClr val="EEF5F9"/>
          </a:solidFill>
          <a:ln w="12700">
            <a:solidFill>
              <a:srgbClr val="EEF5F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810512"/>
            <a:ext cx="347472" cy="347472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8105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152144" y="1792224"/>
            <a:ext cx="178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ยืนยันความแม่นยำ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304288"/>
            <a:ext cx="218381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เทียบผลกับภาพดาวเทียม GISTDA และเหตุการณ์น้ำท่วมในอดีต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3125648" y="2898648"/>
            <a:ext cx="219456" cy="237744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09112" y="1645920"/>
            <a:ext cx="2513000" cy="2743200"/>
          </a:xfrm>
          <a:prstGeom prst="roundRect">
            <a:avLst>
              <a:gd name="adj" fmla="val 3639"/>
            </a:avLst>
          </a:prstGeom>
          <a:solidFill>
            <a:srgbClr val="EEF5F9"/>
          </a:solidFill>
          <a:ln w="12700">
            <a:solidFill>
              <a:srgbClr val="EEF5F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73704" y="1810512"/>
            <a:ext cx="347472" cy="347472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573704" y="18105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012616" y="1792224"/>
            <a:ext cx="178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เติมข้อมูลพื้นที่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591992" y="2304288"/>
            <a:ext cx="218381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สถานีสูบ ประตูน้ำ คันกั้นน้ำ จากหน่วยงานในจังหวัด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5986120" y="2898648"/>
            <a:ext cx="219456" cy="237744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69584" y="1645920"/>
            <a:ext cx="2513000" cy="2743200"/>
          </a:xfrm>
          <a:prstGeom prst="roundRect">
            <a:avLst>
              <a:gd name="adj" fmla="val 3639"/>
            </a:avLst>
          </a:prstGeom>
          <a:solidFill>
            <a:srgbClr val="EEF5F9"/>
          </a:solidFill>
          <a:ln w="12700">
            <a:solidFill>
              <a:srgbClr val="EEF5F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34176" y="1810512"/>
            <a:ext cx="347472" cy="347472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34176" y="18105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873088" y="1792224"/>
            <a:ext cx="178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ประเมินผลกระทบ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452464" y="2304288"/>
            <a:ext cx="218381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ประชากร ถนน โรงเรียน โรงพยาบาล รายตำบล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8846591" y="2898648"/>
            <a:ext cx="219456" cy="237744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30055" y="1645920"/>
            <a:ext cx="2513000" cy="2743200"/>
          </a:xfrm>
          <a:prstGeom prst="roundRect">
            <a:avLst>
              <a:gd name="adj" fmla="val 3639"/>
            </a:avLst>
          </a:prstGeom>
          <a:solidFill>
            <a:srgbClr val="EEF5F9"/>
          </a:solidFill>
          <a:ln w="12700">
            <a:solidFill>
              <a:srgbClr val="EEF5F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294647" y="1810512"/>
            <a:ext cx="347472" cy="347472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294647" y="18105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733559" y="1792224"/>
            <a:ext cx="178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ขยายและแจ้งเตือน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9312935" y="2304288"/>
            <a:ext cx="218381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ขยายไปจังหวัดข้างเคียง · แจ้งเตือนเมื่อพื้นที่ท่วมหรือระยะเวลาเกินเกณฑ์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548640" y="4937760"/>
            <a:ext cx="11094415" cy="1188720"/>
          </a:xfrm>
          <a:prstGeom prst="roundRect">
            <a:avLst>
              <a:gd name="adj" fmla="val 7692"/>
            </a:avLst>
          </a:prstGeom>
          <a:solidFill>
            <a:srgbClr val="E3F1EE"/>
          </a:solidFill>
          <a:ln w="9525">
            <a:solidFill>
              <a:srgbClr val="E3F1EE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49808" y="5102352"/>
            <a:ext cx="1071036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เริ่มได้ทันที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749808" y="5632704"/>
            <a:ext cx="1069207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4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ระบบนครสวรรค์พร้อมใช้งาน สามารถสาธิตกับข้อมูลจริงและปรับให้เข้ากับจังหวัดอื่นโดยรันเครื่องมือ ArcGIS Pro ชุดเดิม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82A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ขอบคุณครับ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926080"/>
            <a:ext cx="6492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3EE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พร้อมสาธิตระบบกับข้อมูลจริง และหารือขอบเขตการใช้งานในจังหวัดของท่าน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85216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CC3D5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ข้อมูล ณ 28 ก.ย. 2569 เวลา 20:57 น. · ตัวเลขทั้งหมดเป็นผลแบบจำลอง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443216" y="1042416"/>
            <a:ext cx="4270248" cy="4681728"/>
          </a:xfrm>
          <a:prstGeom prst="roundRect">
            <a:avLst>
              <a:gd name="adj" fmla="val 1713"/>
            </a:avLst>
          </a:prstGeom>
          <a:solidFill>
            <a:srgbClr val="FFFFFF"/>
          </a:solidFill>
          <a:ln w="9525">
            <a:solidFill>
              <a:srgbClr val="D5DE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/home/claude/rpt/img/crop_durma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498080" y="1097280"/>
            <a:ext cx="4160520" cy="4572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romp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omp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Nakhon Sawan Flood Watch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ระบบเฝ้าระวังน้ำท่วมขังระดับจังหวัด — ข้อเสนอสำหรับหน่วยงาน</dc:title>
  <dc:subject>PptxGenJS Presentation</dc:subject>
  <dc:creator>Att</dc:creator>
  <cp:lastModifiedBy>Att</cp:lastModifiedBy>
  <cp:revision>1</cp:revision>
  <dcterms:created xsi:type="dcterms:W3CDTF">2026-09-28T15:01:25Z</dcterms:created>
  <dcterms:modified xsi:type="dcterms:W3CDTF">2026-09-28T15:01:25Z</dcterms:modified>
</cp:coreProperties>
</file>